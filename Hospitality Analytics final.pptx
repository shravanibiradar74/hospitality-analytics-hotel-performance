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73" r:id="rId4"/>
    <p:sldId id="259" r:id="rId5"/>
    <p:sldId id="260" r:id="rId6"/>
    <p:sldId id="272" r:id="rId7"/>
    <p:sldId id="262" r:id="rId8"/>
    <p:sldId id="263" r:id="rId9"/>
    <p:sldId id="264" r:id="rId10"/>
    <p:sldId id="265" r:id="rId11"/>
    <p:sldId id="266" r:id="rId12"/>
    <p:sldId id="267" r:id="rId13"/>
    <p:sldId id="268" r:id="rId14"/>
    <p:sldId id="269" r:id="rId15"/>
    <p:sldId id="275" r:id="rId16"/>
    <p:sldId id="278" r:id="rId17"/>
    <p:sldId id="277"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6ED"/>
    <a:srgbClr val="44546A"/>
    <a:srgbClr val="1F2937"/>
    <a:srgbClr val="0E7C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72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726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2B59-0B6F-D2ED-F53A-B7B6D7112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4CF7D-79D7-D398-F4DD-E74DE11B4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231A8-12EB-783F-F976-2BFB293484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5AEE2A-E2E8-39BD-1ED6-19C16B1710C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165284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E2F33-892C-CB4F-FDEC-C943C93C4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9D5D9-706E-9225-54A7-EFFD76DF2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AB624-75E2-20B1-2B0A-1178291AAA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1CCEFA-248C-49C9-12BB-D4BD88F15FB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124260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9966960" y="-1005840"/>
            <a:ext cx="3840480" cy="3840480"/>
          </a:xfrm>
          <a:prstGeom prst="ellipse">
            <a:avLst/>
          </a:prstGeom>
          <a:solidFill>
            <a:srgbClr val="0E7C86">
              <a:alpha val="22000"/>
            </a:srgbClr>
          </a:solidFill>
          <a:ln/>
        </p:spPr>
        <p:txBody>
          <a:bodyPr/>
          <a:lstStyle/>
          <a:p>
            <a:endParaRPr lang="en-IN"/>
          </a:p>
        </p:txBody>
      </p:sp>
      <p:sp>
        <p:nvSpPr>
          <p:cNvPr id="3" name="Shape 1"/>
          <p:cNvSpPr/>
          <p:nvPr/>
        </p:nvSpPr>
        <p:spPr>
          <a:xfrm>
            <a:off x="10972800" y="4206240"/>
            <a:ext cx="2743200" cy="2743200"/>
          </a:xfrm>
          <a:prstGeom prst="ellipse">
            <a:avLst/>
          </a:prstGeom>
          <a:solidFill>
            <a:srgbClr val="E8871E">
              <a:alpha val="20000"/>
            </a:srgbClr>
          </a:solidFill>
          <a:ln/>
        </p:spPr>
        <p:txBody>
          <a:bodyPr/>
          <a:lstStyle/>
          <a:p>
            <a:endParaRPr lang="en-IN"/>
          </a:p>
        </p:txBody>
      </p:sp>
      <p:sp>
        <p:nvSpPr>
          <p:cNvPr id="4" name="Shape 2"/>
          <p:cNvSpPr/>
          <p:nvPr/>
        </p:nvSpPr>
        <p:spPr>
          <a:xfrm>
            <a:off x="-1097280" y="5120640"/>
            <a:ext cx="3108960" cy="3108960"/>
          </a:xfrm>
          <a:prstGeom prst="ellipse">
            <a:avLst/>
          </a:prstGeom>
          <a:solidFill>
            <a:srgbClr val="0E7C86">
              <a:alpha val="18000"/>
            </a:srgbClr>
          </a:solidFill>
          <a:ln/>
        </p:spPr>
        <p:txBody>
          <a:bodyPr/>
          <a:lstStyle/>
          <a:p>
            <a:endParaRPr lang="en-IN"/>
          </a:p>
        </p:txBody>
      </p:sp>
      <p:sp>
        <p:nvSpPr>
          <p:cNvPr id="5" name="Text 3"/>
          <p:cNvSpPr/>
          <p:nvPr/>
        </p:nvSpPr>
        <p:spPr>
          <a:xfrm>
            <a:off x="822960" y="1051560"/>
            <a:ext cx="7315200" cy="365760"/>
          </a:xfrm>
          <a:prstGeom prst="rect">
            <a:avLst/>
          </a:prstGeom>
          <a:noFill/>
          <a:ln/>
        </p:spPr>
        <p:txBody>
          <a:bodyPr wrap="square" rtlCol="0" anchor="ctr"/>
          <a:lstStyle/>
          <a:p>
            <a:pPr marL="0" indent="0">
              <a:buNone/>
            </a:pPr>
            <a:r>
              <a:rPr lang="en-US" sz="1400" b="1" kern="0" spc="300" dirty="0">
                <a:solidFill>
                  <a:srgbClr val="E8871E"/>
                </a:solidFill>
                <a:latin typeface="Calibri" pitchFamily="34" charset="0"/>
                <a:ea typeface="Calibri" pitchFamily="34" charset="-122"/>
                <a:cs typeface="Calibri" pitchFamily="34" charset="-120"/>
              </a:rPr>
              <a:t>DATA ANALYTICS PROJECT</a:t>
            </a:r>
            <a:endParaRPr lang="en-US" sz="1400" dirty="0"/>
          </a:p>
        </p:txBody>
      </p:sp>
      <p:sp>
        <p:nvSpPr>
          <p:cNvPr id="6" name="Text 4"/>
          <p:cNvSpPr/>
          <p:nvPr/>
        </p:nvSpPr>
        <p:spPr>
          <a:xfrm>
            <a:off x="777240" y="1417320"/>
            <a:ext cx="9601200" cy="1188720"/>
          </a:xfrm>
          <a:prstGeom prst="rect">
            <a:avLst/>
          </a:prstGeom>
          <a:noFill/>
          <a:ln/>
        </p:spPr>
        <p:txBody>
          <a:bodyPr wrap="square" rtlCol="0" anchor="ctr"/>
          <a:lstStyle/>
          <a:p>
            <a:pPr marL="0" indent="0">
              <a:buNone/>
            </a:pPr>
            <a:r>
              <a:rPr lang="en-US" sz="5600" b="1" dirty="0">
                <a:solidFill>
                  <a:srgbClr val="FFFFFF"/>
                </a:solidFill>
                <a:latin typeface="Cambria" pitchFamily="34" charset="0"/>
                <a:ea typeface="Cambria" pitchFamily="34" charset="-122"/>
              </a:rPr>
              <a:t>Hospitality Analytics</a:t>
            </a:r>
            <a:endParaRPr lang="en-US" sz="5600" dirty="0"/>
          </a:p>
        </p:txBody>
      </p:sp>
      <p:sp>
        <p:nvSpPr>
          <p:cNvPr id="7" name="Text 5"/>
          <p:cNvSpPr/>
          <p:nvPr/>
        </p:nvSpPr>
        <p:spPr>
          <a:xfrm>
            <a:off x="822960" y="2395728"/>
            <a:ext cx="8686800" cy="548640"/>
          </a:xfrm>
          <a:prstGeom prst="rect">
            <a:avLst/>
          </a:prstGeom>
          <a:noFill/>
          <a:ln/>
        </p:spPr>
        <p:txBody>
          <a:bodyPr wrap="square" rtlCol="0" anchor="ctr"/>
          <a:lstStyle/>
          <a:p>
            <a:pPr marL="0" indent="0">
              <a:buNone/>
            </a:pPr>
            <a:r>
              <a:rPr lang="en-US" sz="2200" i="1" dirty="0">
                <a:solidFill>
                  <a:srgbClr val="DCEEF0"/>
                </a:solidFill>
                <a:latin typeface="Calibri" pitchFamily="34" charset="0"/>
                <a:ea typeface="Calibri" pitchFamily="34" charset="-122"/>
                <a:cs typeface="Calibri" pitchFamily="34" charset="-120"/>
              </a:rPr>
              <a:t>Hotel Performance Analysis</a:t>
            </a:r>
            <a:endParaRPr lang="en-US" sz="2200" dirty="0"/>
          </a:p>
        </p:txBody>
      </p:sp>
      <p:sp>
        <p:nvSpPr>
          <p:cNvPr id="8" name="Shape 6"/>
          <p:cNvSpPr/>
          <p:nvPr/>
        </p:nvSpPr>
        <p:spPr>
          <a:xfrm>
            <a:off x="822960" y="3063240"/>
            <a:ext cx="781812" cy="365760"/>
          </a:xfrm>
          <a:prstGeom prst="roundRect">
            <a:avLst>
              <a:gd name="adj" fmla="val 20000"/>
            </a:avLst>
          </a:prstGeom>
          <a:solidFill>
            <a:srgbClr val="1B3358"/>
          </a:solidFill>
          <a:ln w="12700">
            <a:solidFill>
              <a:srgbClr val="0E7C86"/>
            </a:solidFill>
            <a:prstDash val="solid"/>
          </a:ln>
        </p:spPr>
        <p:txBody>
          <a:bodyPr/>
          <a:lstStyle/>
          <a:p>
            <a:endParaRPr lang="en-IN"/>
          </a:p>
        </p:txBody>
      </p:sp>
      <p:sp>
        <p:nvSpPr>
          <p:cNvPr id="9" name="Text 7"/>
          <p:cNvSpPr/>
          <p:nvPr/>
        </p:nvSpPr>
        <p:spPr>
          <a:xfrm>
            <a:off x="822960" y="3063240"/>
            <a:ext cx="781812"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EXCEL</a:t>
            </a:r>
            <a:endParaRPr lang="en-US" sz="1100" dirty="0"/>
          </a:p>
        </p:txBody>
      </p:sp>
      <p:sp>
        <p:nvSpPr>
          <p:cNvPr id="10" name="Shape 8"/>
          <p:cNvSpPr/>
          <p:nvPr/>
        </p:nvSpPr>
        <p:spPr>
          <a:xfrm>
            <a:off x="1769364" y="3063240"/>
            <a:ext cx="781812" cy="365760"/>
          </a:xfrm>
          <a:prstGeom prst="roundRect">
            <a:avLst>
              <a:gd name="adj" fmla="val 20000"/>
            </a:avLst>
          </a:prstGeom>
          <a:solidFill>
            <a:srgbClr val="1B3358"/>
          </a:solidFill>
          <a:ln w="12700">
            <a:solidFill>
              <a:srgbClr val="0E7C86"/>
            </a:solidFill>
            <a:prstDash val="solid"/>
          </a:ln>
        </p:spPr>
        <p:txBody>
          <a:bodyPr/>
          <a:lstStyle/>
          <a:p>
            <a:endParaRPr lang="en-IN"/>
          </a:p>
        </p:txBody>
      </p:sp>
      <p:sp>
        <p:nvSpPr>
          <p:cNvPr id="11" name="Text 9"/>
          <p:cNvSpPr/>
          <p:nvPr/>
        </p:nvSpPr>
        <p:spPr>
          <a:xfrm>
            <a:off x="1769364" y="3063240"/>
            <a:ext cx="781812"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p:txBody>
      </p:sp>
      <p:sp>
        <p:nvSpPr>
          <p:cNvPr id="12" name="Shape 10"/>
          <p:cNvSpPr/>
          <p:nvPr/>
        </p:nvSpPr>
        <p:spPr>
          <a:xfrm>
            <a:off x="2715768" y="3063240"/>
            <a:ext cx="992124" cy="365760"/>
          </a:xfrm>
          <a:prstGeom prst="roundRect">
            <a:avLst>
              <a:gd name="adj" fmla="val 20000"/>
            </a:avLst>
          </a:prstGeom>
          <a:solidFill>
            <a:srgbClr val="1B3358"/>
          </a:solidFill>
          <a:ln w="12700">
            <a:solidFill>
              <a:srgbClr val="0E7C86"/>
            </a:solidFill>
            <a:prstDash val="solid"/>
          </a:ln>
        </p:spPr>
        <p:txBody>
          <a:bodyPr/>
          <a:lstStyle/>
          <a:p>
            <a:endParaRPr lang="en-IN"/>
          </a:p>
        </p:txBody>
      </p:sp>
      <p:sp>
        <p:nvSpPr>
          <p:cNvPr id="13" name="Text 11"/>
          <p:cNvSpPr/>
          <p:nvPr/>
        </p:nvSpPr>
        <p:spPr>
          <a:xfrm>
            <a:off x="2715768" y="3063240"/>
            <a:ext cx="992124"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TABLEAU</a:t>
            </a:r>
            <a:endParaRPr lang="en-US" sz="1100" dirty="0"/>
          </a:p>
        </p:txBody>
      </p:sp>
      <p:sp>
        <p:nvSpPr>
          <p:cNvPr id="14" name="Shape 12"/>
          <p:cNvSpPr/>
          <p:nvPr/>
        </p:nvSpPr>
        <p:spPr>
          <a:xfrm>
            <a:off x="3872484" y="3063240"/>
            <a:ext cx="1097280" cy="365760"/>
          </a:xfrm>
          <a:prstGeom prst="roundRect">
            <a:avLst>
              <a:gd name="adj" fmla="val 20000"/>
            </a:avLst>
          </a:prstGeom>
          <a:solidFill>
            <a:srgbClr val="1B3358"/>
          </a:solidFill>
          <a:ln w="12700">
            <a:solidFill>
              <a:srgbClr val="0E7C86"/>
            </a:solidFill>
            <a:prstDash val="solid"/>
          </a:ln>
        </p:spPr>
        <p:txBody>
          <a:bodyPr/>
          <a:lstStyle/>
          <a:p>
            <a:endParaRPr lang="en-IN"/>
          </a:p>
        </p:txBody>
      </p:sp>
      <p:sp>
        <p:nvSpPr>
          <p:cNvPr id="15" name="Text 13"/>
          <p:cNvSpPr/>
          <p:nvPr/>
        </p:nvSpPr>
        <p:spPr>
          <a:xfrm>
            <a:off x="3872484" y="3063240"/>
            <a:ext cx="109728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16" name="Shape 14"/>
          <p:cNvSpPr/>
          <p:nvPr/>
        </p:nvSpPr>
        <p:spPr>
          <a:xfrm>
            <a:off x="5134356" y="3063240"/>
            <a:ext cx="1412748" cy="365760"/>
          </a:xfrm>
          <a:prstGeom prst="roundRect">
            <a:avLst>
              <a:gd name="adj" fmla="val 20000"/>
            </a:avLst>
          </a:prstGeom>
          <a:solidFill>
            <a:srgbClr val="1B3358"/>
          </a:solidFill>
          <a:ln w="12700">
            <a:solidFill>
              <a:srgbClr val="0E7C86"/>
            </a:solidFill>
            <a:prstDash val="solid"/>
          </a:ln>
        </p:spPr>
        <p:txBody>
          <a:bodyPr/>
          <a:lstStyle/>
          <a:p>
            <a:endParaRPr lang="en-IN"/>
          </a:p>
        </p:txBody>
      </p:sp>
      <p:sp>
        <p:nvSpPr>
          <p:cNvPr id="17" name="Text 15"/>
          <p:cNvSpPr/>
          <p:nvPr/>
        </p:nvSpPr>
        <p:spPr>
          <a:xfrm>
            <a:off x="5134356" y="3063240"/>
            <a:ext cx="1412748"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POWER QUERY</a:t>
            </a:r>
            <a:endParaRPr lang="en-US" sz="1100" dirty="0"/>
          </a:p>
        </p:txBody>
      </p:sp>
      <p:sp>
        <p:nvSpPr>
          <p:cNvPr id="18" name="Shape 16"/>
          <p:cNvSpPr/>
          <p:nvPr/>
        </p:nvSpPr>
        <p:spPr>
          <a:xfrm>
            <a:off x="777240" y="3611880"/>
            <a:ext cx="10607040" cy="2697480"/>
          </a:xfrm>
          <a:prstGeom prst="roundRect">
            <a:avLst>
              <a:gd name="adj" fmla="val 2712"/>
            </a:avLst>
          </a:prstGeom>
          <a:solidFill>
            <a:srgbClr val="FFFFFF"/>
          </a:solidFill>
          <a:ln/>
          <a:effectLst>
            <a:outerShdw blurRad="152400" dist="38100" dir="5400000" algn="bl" rotWithShape="0">
              <a:srgbClr val="000000">
                <a:alpha val="25000"/>
              </a:srgbClr>
            </a:outerShdw>
          </a:effectLst>
        </p:spPr>
        <p:txBody>
          <a:bodyPr/>
          <a:lstStyle/>
          <a:p>
            <a:endParaRPr lang="en-IN"/>
          </a:p>
        </p:txBody>
      </p:sp>
      <p:sp>
        <p:nvSpPr>
          <p:cNvPr id="19" name="Text 17"/>
          <p:cNvSpPr/>
          <p:nvPr/>
        </p:nvSpPr>
        <p:spPr>
          <a:xfrm>
            <a:off x="1051560" y="3785616"/>
            <a:ext cx="3657600" cy="292608"/>
          </a:xfrm>
          <a:prstGeom prst="rect">
            <a:avLst/>
          </a:prstGeom>
          <a:noFill/>
          <a:ln/>
        </p:spPr>
        <p:txBody>
          <a:bodyPr wrap="square" rtlCol="0" anchor="ctr"/>
          <a:lstStyle/>
          <a:p>
            <a:pPr marL="0" indent="0">
              <a:buNone/>
            </a:pPr>
            <a:r>
              <a:rPr lang="en-US" sz="1300" b="1" kern="0" spc="200" dirty="0">
                <a:solidFill>
                  <a:srgbClr val="E8871E"/>
                </a:solidFill>
                <a:latin typeface="Calibri" pitchFamily="34" charset="0"/>
                <a:ea typeface="Calibri" pitchFamily="34" charset="-122"/>
                <a:cs typeface="Calibri" pitchFamily="34" charset="-120"/>
              </a:rPr>
              <a:t>GROUP 2</a:t>
            </a:r>
            <a:endParaRPr lang="en-US" sz="1300" dirty="0"/>
          </a:p>
        </p:txBody>
      </p:sp>
      <p:sp>
        <p:nvSpPr>
          <p:cNvPr id="20" name="Text 18"/>
          <p:cNvSpPr/>
          <p:nvPr/>
        </p:nvSpPr>
        <p:spPr>
          <a:xfrm>
            <a:off x="1051560" y="4041648"/>
            <a:ext cx="7315200" cy="365760"/>
          </a:xfrm>
          <a:prstGeom prst="rect">
            <a:avLst/>
          </a:prstGeom>
          <a:noFill/>
          <a:ln/>
        </p:spPr>
        <p:txBody>
          <a:bodyPr wrap="square" rtlCol="0" anchor="ctr"/>
          <a:lstStyle/>
          <a:p>
            <a:pPr marL="0" indent="0">
              <a:buNone/>
            </a:pPr>
            <a:r>
              <a:rPr lang="en-US" sz="1800" b="1" dirty="0">
                <a:solidFill>
                  <a:srgbClr val="142850"/>
                </a:solidFill>
                <a:latin typeface="Cambria" pitchFamily="34" charset="0"/>
                <a:ea typeface="Cambria" pitchFamily="34" charset="-122"/>
                <a:cs typeface="Cambria" pitchFamily="34" charset="-120"/>
              </a:rPr>
              <a:t>Project Team — 4 Members &amp; Roles</a:t>
            </a:r>
            <a:endParaRPr lang="en-US" sz="1800" dirty="0"/>
          </a:p>
        </p:txBody>
      </p:sp>
      <p:sp>
        <p:nvSpPr>
          <p:cNvPr id="21" name="Shape 19"/>
          <p:cNvSpPr/>
          <p:nvPr/>
        </p:nvSpPr>
        <p:spPr>
          <a:xfrm>
            <a:off x="1051560" y="4626864"/>
            <a:ext cx="109728" cy="109728"/>
          </a:xfrm>
          <a:prstGeom prst="ellipse">
            <a:avLst/>
          </a:prstGeom>
          <a:solidFill>
            <a:srgbClr val="E8871E"/>
          </a:solidFill>
          <a:ln/>
        </p:spPr>
        <p:txBody>
          <a:bodyPr/>
          <a:lstStyle/>
          <a:p>
            <a:endParaRPr lang="en-IN"/>
          </a:p>
        </p:txBody>
      </p:sp>
      <p:sp>
        <p:nvSpPr>
          <p:cNvPr id="22" name="Text 20"/>
          <p:cNvSpPr/>
          <p:nvPr/>
        </p:nvSpPr>
        <p:spPr>
          <a:xfrm>
            <a:off x="1280160" y="449580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Chetan Kare  —  Business Analyst</a:t>
            </a:r>
            <a:endParaRPr lang="en-US" sz="1300" dirty="0"/>
          </a:p>
        </p:txBody>
      </p:sp>
      <p:sp>
        <p:nvSpPr>
          <p:cNvPr id="23" name="Shape 21"/>
          <p:cNvSpPr/>
          <p:nvPr/>
        </p:nvSpPr>
        <p:spPr>
          <a:xfrm>
            <a:off x="1051560" y="4992624"/>
            <a:ext cx="109728" cy="109728"/>
          </a:xfrm>
          <a:prstGeom prst="ellipse">
            <a:avLst/>
          </a:prstGeom>
          <a:solidFill>
            <a:srgbClr val="E8871E"/>
          </a:solidFill>
          <a:ln/>
        </p:spPr>
        <p:txBody>
          <a:bodyPr/>
          <a:lstStyle/>
          <a:p>
            <a:endParaRPr lang="en-IN"/>
          </a:p>
        </p:txBody>
      </p:sp>
      <p:sp>
        <p:nvSpPr>
          <p:cNvPr id="24" name="Text 22"/>
          <p:cNvSpPr/>
          <p:nvPr/>
        </p:nvSpPr>
        <p:spPr>
          <a:xfrm>
            <a:off x="1280160" y="486156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Rohit Chauhan  —  Data Analyst</a:t>
            </a:r>
            <a:endParaRPr lang="en-US" sz="1300" dirty="0"/>
          </a:p>
        </p:txBody>
      </p:sp>
      <p:sp>
        <p:nvSpPr>
          <p:cNvPr id="25" name="Shape 23"/>
          <p:cNvSpPr/>
          <p:nvPr/>
        </p:nvSpPr>
        <p:spPr>
          <a:xfrm>
            <a:off x="1051560" y="5358384"/>
            <a:ext cx="109728" cy="109728"/>
          </a:xfrm>
          <a:prstGeom prst="ellipse">
            <a:avLst/>
          </a:prstGeom>
          <a:solidFill>
            <a:srgbClr val="E8871E"/>
          </a:solidFill>
          <a:ln/>
        </p:spPr>
        <p:txBody>
          <a:bodyPr/>
          <a:lstStyle/>
          <a:p>
            <a:endParaRPr lang="en-IN"/>
          </a:p>
        </p:txBody>
      </p:sp>
      <p:sp>
        <p:nvSpPr>
          <p:cNvPr id="26" name="Text 24"/>
          <p:cNvSpPr/>
          <p:nvPr/>
        </p:nvSpPr>
        <p:spPr>
          <a:xfrm>
            <a:off x="1280160" y="522732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Shravani Biradar —  Data Analyst</a:t>
            </a:r>
            <a:endParaRPr lang="en-US" sz="1300" dirty="0"/>
          </a:p>
        </p:txBody>
      </p:sp>
      <p:sp>
        <p:nvSpPr>
          <p:cNvPr id="27" name="Shape 25"/>
          <p:cNvSpPr/>
          <p:nvPr/>
        </p:nvSpPr>
        <p:spPr>
          <a:xfrm>
            <a:off x="1051560" y="5724144"/>
            <a:ext cx="109728" cy="109728"/>
          </a:xfrm>
          <a:prstGeom prst="ellipse">
            <a:avLst/>
          </a:prstGeom>
          <a:solidFill>
            <a:srgbClr val="E8871E"/>
          </a:solidFill>
          <a:ln/>
        </p:spPr>
        <p:txBody>
          <a:bodyPr/>
          <a:lstStyle/>
          <a:p>
            <a:endParaRPr lang="en-IN"/>
          </a:p>
        </p:txBody>
      </p:sp>
      <p:sp>
        <p:nvSpPr>
          <p:cNvPr id="28" name="Text 26"/>
          <p:cNvSpPr/>
          <p:nvPr/>
        </p:nvSpPr>
        <p:spPr>
          <a:xfrm>
            <a:off x="1280160" y="5593080"/>
            <a:ext cx="3063240" cy="320040"/>
          </a:xfrm>
          <a:prstGeom prst="rect">
            <a:avLst/>
          </a:prstGeom>
          <a:noFill/>
          <a:ln/>
        </p:spPr>
        <p:txBody>
          <a:bodyPr wrap="square" rtlCol="0" anchor="ctr"/>
          <a:lstStyle/>
          <a:p>
            <a:pPr marL="0" indent="0">
              <a:buNone/>
            </a:pPr>
            <a:r>
              <a:rPr lang="en-US" sz="1000" dirty="0">
                <a:solidFill>
                  <a:srgbClr val="1F2937"/>
                </a:solidFill>
                <a:latin typeface="Calibri" pitchFamily="34" charset="0"/>
                <a:ea typeface="Calibri" pitchFamily="34" charset="-122"/>
                <a:cs typeface="Calibri" pitchFamily="34" charset="-120"/>
              </a:rPr>
              <a:t>Shaikh Momin  —  Data Analyst</a:t>
            </a:r>
            <a:endParaRPr lang="en-US" sz="1300" dirty="0"/>
          </a:p>
        </p:txBody>
      </p:sp>
      <p:sp>
        <p:nvSpPr>
          <p:cNvPr id="30" name="Text 28"/>
          <p:cNvSpPr/>
          <p:nvPr/>
        </p:nvSpPr>
        <p:spPr>
          <a:xfrm>
            <a:off x="4663440" y="4495800"/>
            <a:ext cx="3063240" cy="320040"/>
          </a:xfrm>
          <a:prstGeom prst="rect">
            <a:avLst/>
          </a:prstGeom>
          <a:noFill/>
          <a:ln/>
        </p:spPr>
        <p:txBody>
          <a:bodyPr wrap="square" rtlCol="0" anchor="ctr"/>
          <a:lstStyle/>
          <a:p>
            <a:pPr marL="0" indent="0">
              <a:buNone/>
            </a:pPr>
            <a:endParaRPr lang="en-US" sz="1300" dirty="0"/>
          </a:p>
        </p:txBody>
      </p:sp>
      <p:sp>
        <p:nvSpPr>
          <p:cNvPr id="32" name="Text 30"/>
          <p:cNvSpPr/>
          <p:nvPr/>
        </p:nvSpPr>
        <p:spPr>
          <a:xfrm>
            <a:off x="4663440" y="4861560"/>
            <a:ext cx="3063240" cy="320040"/>
          </a:xfrm>
          <a:prstGeom prst="rect">
            <a:avLst/>
          </a:prstGeom>
          <a:noFill/>
          <a:ln/>
        </p:spPr>
        <p:txBody>
          <a:bodyPr wrap="square" rtlCol="0" anchor="ctr"/>
          <a:lstStyle/>
          <a:p>
            <a:pPr marL="0" indent="0">
              <a:buNone/>
            </a:pPr>
            <a:endParaRPr lang="en-US" sz="1300" dirty="0"/>
          </a:p>
        </p:txBody>
      </p:sp>
      <p:sp>
        <p:nvSpPr>
          <p:cNvPr id="34" name="Text 32"/>
          <p:cNvSpPr/>
          <p:nvPr/>
        </p:nvSpPr>
        <p:spPr>
          <a:xfrm>
            <a:off x="4663440" y="5227320"/>
            <a:ext cx="3063240" cy="320040"/>
          </a:xfrm>
          <a:prstGeom prst="rect">
            <a:avLst/>
          </a:prstGeom>
          <a:noFill/>
          <a:ln/>
        </p:spPr>
        <p:txBody>
          <a:bodyPr wrap="square" rtlCol="0" anchor="ctr"/>
          <a:lstStyle/>
          <a:p>
            <a:pPr marL="0" indent="0">
              <a:buNone/>
            </a:pPr>
            <a:endParaRPr lang="en-US" sz="1300" dirty="0"/>
          </a:p>
        </p:txBody>
      </p:sp>
      <p:sp>
        <p:nvSpPr>
          <p:cNvPr id="35" name="Text 33"/>
          <p:cNvSpPr/>
          <p:nvPr/>
        </p:nvSpPr>
        <p:spPr>
          <a:xfrm>
            <a:off x="777240" y="6492240"/>
            <a:ext cx="10607040" cy="274320"/>
          </a:xfrm>
          <a:prstGeom prst="rect">
            <a:avLst/>
          </a:prstGeom>
          <a:noFill/>
          <a:ln/>
        </p:spPr>
        <p:txBody>
          <a:bodyPr wrap="square" rtlCol="0" anchor="ctr"/>
          <a:lstStyle/>
          <a:p>
            <a:pPr algn="ctr"/>
            <a:r>
              <a:rPr lang="en-IN" sz="1000" dirty="0">
                <a:solidFill>
                  <a:schemeClr val="bg1"/>
                </a:solidFill>
              </a:rPr>
              <a:t>Hospitality Analytics | Hotel Performance &amp; Revenue Analysis | May–July</a:t>
            </a:r>
            <a:endParaRPr lang="en-US" sz="10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75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75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down)">
                                      <p:cBhvr>
                                        <p:cTn id="13" dur="750"/>
                                        <p:tgtEl>
                                          <p:spTgt spid="3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down)">
                                      <p:cBhvr>
                                        <p:cTn id="16" dur="750"/>
                                        <p:tgtEl>
                                          <p:spTgt spid="3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down)">
                                      <p:cBhvr>
                                        <p:cTn id="19" dur="750"/>
                                        <p:tgtEl>
                                          <p:spTgt spid="2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down)">
                                      <p:cBhvr>
                                        <p:cTn id="22" dur="750"/>
                                        <p:tgtEl>
                                          <p:spTgt spid="3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down)">
                                      <p:cBhvr>
                                        <p:cTn id="25" dur="7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6" grpId="0" animBg="1"/>
      <p:bldP spid="28" grpId="0" animBg="1"/>
      <p:bldP spid="30" grpId="0" animBg="1"/>
      <p:bldP spid="32" grpId="0" animBg="1"/>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7D124DD-E2A1-2DC3-B9EE-92E1EAB7D846}"/>
              </a:ext>
            </a:extLst>
          </p:cNvPr>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rPr>
              <a:t>OBJECTIVE</a:t>
            </a:r>
            <a:endParaRPr lang="en-US" sz="3000" dirty="0"/>
          </a:p>
        </p:txBody>
      </p:sp>
      <p:sp>
        <p:nvSpPr>
          <p:cNvPr id="5" name="Text 1">
            <a:extLst>
              <a:ext uri="{FF2B5EF4-FFF2-40B4-BE49-F238E27FC236}">
                <a16:creationId xmlns:a16="http://schemas.microsoft.com/office/drawing/2014/main" id="{3C8DA78D-C265-213B-C44C-271804C763C8}"/>
              </a:ext>
            </a:extLst>
          </p:cNvPr>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  Hospitality Analytics</a:t>
            </a:r>
            <a:endParaRPr lang="en-US" sz="1300" dirty="0"/>
          </a:p>
        </p:txBody>
      </p:sp>
      <p:sp>
        <p:nvSpPr>
          <p:cNvPr id="7" name="Shape 2">
            <a:extLst>
              <a:ext uri="{FF2B5EF4-FFF2-40B4-BE49-F238E27FC236}">
                <a16:creationId xmlns:a16="http://schemas.microsoft.com/office/drawing/2014/main" id="{CC64C523-0384-DA6E-881A-3AB5A53A35B7}"/>
              </a:ext>
            </a:extLst>
          </p:cNvPr>
          <p:cNvSpPr/>
          <p:nvPr/>
        </p:nvSpPr>
        <p:spPr>
          <a:xfrm>
            <a:off x="548639" y="1417320"/>
            <a:ext cx="10433491" cy="1438773"/>
          </a:xfrm>
          <a:prstGeom prst="roundRect">
            <a:avLst>
              <a:gd name="adj" fmla="val 1237"/>
            </a:avLst>
          </a:prstGeom>
          <a:solidFill>
            <a:srgbClr val="F5F7FA"/>
          </a:solidFill>
          <a:ln/>
        </p:spPr>
        <p:txBody>
          <a:bodyPr/>
          <a:lstStyle/>
          <a:p>
            <a:endParaRPr lang="en-IN"/>
          </a:p>
        </p:txBody>
      </p:sp>
      <p:sp>
        <p:nvSpPr>
          <p:cNvPr id="8" name="TextBox 7">
            <a:extLst>
              <a:ext uri="{FF2B5EF4-FFF2-40B4-BE49-F238E27FC236}">
                <a16:creationId xmlns:a16="http://schemas.microsoft.com/office/drawing/2014/main" id="{74EF5CFA-8435-C941-DB67-A1E323DF8E06}"/>
              </a:ext>
            </a:extLst>
          </p:cNvPr>
          <p:cNvSpPr txBox="1"/>
          <p:nvPr/>
        </p:nvSpPr>
        <p:spPr>
          <a:xfrm>
            <a:off x="942391" y="1763486"/>
            <a:ext cx="10433491" cy="3108543"/>
          </a:xfrm>
          <a:prstGeom prst="rect">
            <a:avLst/>
          </a:prstGeom>
          <a:noFill/>
        </p:spPr>
        <p:txBody>
          <a:bodyPr wrap="square" rtlCol="0">
            <a:spAutoFit/>
          </a:bodyPr>
          <a:lstStyle/>
          <a:p>
            <a:r>
              <a:rPr lang="en-IN" sz="2800" dirty="0">
                <a:solidFill>
                  <a:schemeClr val="tx2"/>
                </a:solidFill>
              </a:rPr>
              <a:t>The main objective of this project is to </a:t>
            </a:r>
            <a:r>
              <a:rPr lang="en-IN" sz="2800" dirty="0" err="1">
                <a:solidFill>
                  <a:schemeClr val="tx2"/>
                </a:solidFill>
              </a:rPr>
              <a:t>analyze</a:t>
            </a:r>
            <a:r>
              <a:rPr lang="en-IN" sz="2800" dirty="0">
                <a:solidFill>
                  <a:schemeClr val="tx2"/>
                </a:solidFill>
              </a:rPr>
              <a:t> hotel booking data and understand the overall performance of the hotels. We focused on important areas such as revenue, bookings, occupancy, cancellations and room performance. We also used Excel, SQL, Power BI and Tableau to </a:t>
            </a:r>
            <a:r>
              <a:rPr lang="en-IN" sz="2800" dirty="0" err="1">
                <a:solidFill>
                  <a:schemeClr val="tx2"/>
                </a:solidFill>
              </a:rPr>
              <a:t>analyze</a:t>
            </a:r>
            <a:r>
              <a:rPr lang="en-IN" sz="2800" dirty="0">
                <a:solidFill>
                  <a:schemeClr val="tx2"/>
                </a:solidFill>
              </a:rPr>
              <a:t> the data, create dashboards and identify useful insights that can help in better decision-making.</a:t>
            </a:r>
          </a:p>
          <a:p>
            <a:endParaRPr lang="en-IN" sz="2800" dirty="0">
              <a:solidFill>
                <a:schemeClr val="tx2"/>
              </a:solidFill>
            </a:endParaRPr>
          </a:p>
        </p:txBody>
      </p:sp>
      <p:sp>
        <p:nvSpPr>
          <p:cNvPr id="11" name="Shape 0">
            <a:extLst>
              <a:ext uri="{FF2B5EF4-FFF2-40B4-BE49-F238E27FC236}">
                <a16:creationId xmlns:a16="http://schemas.microsoft.com/office/drawing/2014/main" id="{E4A242CF-142E-E711-32F6-267742AD1989}"/>
              </a:ext>
            </a:extLst>
          </p:cNvPr>
          <p:cNvSpPr/>
          <p:nvPr/>
        </p:nvSpPr>
        <p:spPr>
          <a:xfrm>
            <a:off x="9349273" y="-449646"/>
            <a:ext cx="2842727" cy="2578794"/>
          </a:xfrm>
          <a:prstGeom prst="ellipse">
            <a:avLst/>
          </a:prstGeom>
          <a:solidFill>
            <a:srgbClr val="0E7C86">
              <a:alpha val="22000"/>
            </a:srgbClr>
          </a:solidFill>
          <a:ln/>
        </p:spPr>
        <p:txBody>
          <a:bodyPr/>
          <a:lstStyle/>
          <a:p>
            <a:endParaRPr lang="en-IN" dirty="0"/>
          </a:p>
        </p:txBody>
      </p:sp>
      <p:sp>
        <p:nvSpPr>
          <p:cNvPr id="13" name="Shape 1">
            <a:extLst>
              <a:ext uri="{FF2B5EF4-FFF2-40B4-BE49-F238E27FC236}">
                <a16:creationId xmlns:a16="http://schemas.microsoft.com/office/drawing/2014/main" id="{BFAA8B0E-C36A-4262-C67F-E1A5C6816511}"/>
              </a:ext>
            </a:extLst>
          </p:cNvPr>
          <p:cNvSpPr/>
          <p:nvPr/>
        </p:nvSpPr>
        <p:spPr>
          <a:xfrm>
            <a:off x="10982130" y="3907661"/>
            <a:ext cx="2743200" cy="2743200"/>
          </a:xfrm>
          <a:prstGeom prst="ellipse">
            <a:avLst/>
          </a:prstGeom>
          <a:solidFill>
            <a:srgbClr val="E8871E">
              <a:alpha val="20000"/>
            </a:srgbClr>
          </a:solidFill>
          <a:ln/>
        </p:spPr>
        <p:txBody>
          <a:bodyPr/>
          <a:lstStyle/>
          <a:p>
            <a:endParaRPr lang="en-IN"/>
          </a:p>
        </p:txBody>
      </p:sp>
      <p:sp>
        <p:nvSpPr>
          <p:cNvPr id="15" name="Text 32">
            <a:extLst>
              <a:ext uri="{FF2B5EF4-FFF2-40B4-BE49-F238E27FC236}">
                <a16:creationId xmlns:a16="http://schemas.microsoft.com/office/drawing/2014/main" id="{B4DC9FC0-9C0B-9569-3A34-FEE15422DE0F}"/>
              </a:ext>
            </a:extLst>
          </p:cNvPr>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Tree>
    <p:extLst>
      <p:ext uri="{BB962C8B-B14F-4D97-AF65-F5344CB8AC3E}">
        <p14:creationId xmlns:p14="http://schemas.microsoft.com/office/powerpoint/2010/main" val="819069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D20135D-562A-37EF-E0CE-D06DA6B04C8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1924CE-FAB8-ADE8-1CBD-B3660FBFC1BB}"/>
              </a:ext>
            </a:extLst>
          </p:cNvPr>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OVERVIEW</a:t>
            </a:r>
            <a:endParaRPr lang="en-US" sz="3000" dirty="0"/>
          </a:p>
        </p:txBody>
      </p:sp>
      <p:sp>
        <p:nvSpPr>
          <p:cNvPr id="3" name="Text 1">
            <a:extLst>
              <a:ext uri="{FF2B5EF4-FFF2-40B4-BE49-F238E27FC236}">
                <a16:creationId xmlns:a16="http://schemas.microsoft.com/office/drawing/2014/main" id="{94E7CC54-929C-0C08-6C3A-3E70A020EC39}"/>
              </a:ext>
            </a:extLst>
          </p:cNvPr>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About Hospitality Analytics</a:t>
            </a:r>
            <a:endParaRPr lang="en-US" sz="1300" dirty="0"/>
          </a:p>
        </p:txBody>
      </p:sp>
      <p:sp>
        <p:nvSpPr>
          <p:cNvPr id="5" name="Text 3">
            <a:extLst>
              <a:ext uri="{FF2B5EF4-FFF2-40B4-BE49-F238E27FC236}">
                <a16:creationId xmlns:a16="http://schemas.microsoft.com/office/drawing/2014/main" id="{BCC911AE-9647-50AF-F80E-B4D3333DF784}"/>
              </a:ext>
            </a:extLst>
          </p:cNvPr>
          <p:cNvSpPr/>
          <p:nvPr/>
        </p:nvSpPr>
        <p:spPr>
          <a:xfrm>
            <a:off x="822960" y="1691640"/>
            <a:ext cx="9725634" cy="3886200"/>
          </a:xfrm>
          <a:prstGeom prst="rect">
            <a:avLst/>
          </a:prstGeom>
          <a:noFill/>
          <a:ln/>
        </p:spPr>
        <p:txBody>
          <a:bodyPr wrap="square" rtlCol="0" anchor="t"/>
          <a:lstStyle/>
          <a:p>
            <a:r>
              <a:rPr lang="en-IN" sz="1600" dirty="0">
                <a:solidFill>
                  <a:schemeClr val="tx2">
                    <a:lumMod val="60000"/>
                    <a:lumOff val="40000"/>
                  </a:schemeClr>
                </a:solidFill>
              </a:rPr>
              <a:t>Our project is about Hospitality Analytics. In this project, we studied hotel booking data to understand the overall hotel performance.</a:t>
            </a:r>
          </a:p>
          <a:p>
            <a:endParaRPr lang="en-IN" sz="1600" dirty="0">
              <a:solidFill>
                <a:schemeClr val="tx2">
                  <a:lumMod val="60000"/>
                  <a:lumOff val="40000"/>
                </a:schemeClr>
              </a:solidFill>
            </a:endParaRPr>
          </a:p>
          <a:p>
            <a:r>
              <a:rPr lang="en-IN" sz="1600" dirty="0">
                <a:solidFill>
                  <a:schemeClr val="tx2">
                    <a:lumMod val="60000"/>
                    <a:lumOff val="40000"/>
                  </a:schemeClr>
                </a:solidFill>
              </a:rPr>
              <a:t>We looked at revenue, bookings, occupancy, cancellations, room capacity, and booking status.</a:t>
            </a:r>
          </a:p>
          <a:p>
            <a:endParaRPr lang="en-IN" sz="1600" dirty="0">
              <a:solidFill>
                <a:schemeClr val="tx2">
                  <a:lumMod val="60000"/>
                  <a:lumOff val="40000"/>
                </a:schemeClr>
              </a:solidFill>
            </a:endParaRPr>
          </a:p>
          <a:p>
            <a:r>
              <a:rPr lang="en-IN" sz="1600" dirty="0">
                <a:solidFill>
                  <a:schemeClr val="tx2">
                    <a:lumMod val="60000"/>
                    <a:lumOff val="40000"/>
                  </a:schemeClr>
                </a:solidFill>
              </a:rPr>
              <a:t>We used Excel and MySQL to prepare and </a:t>
            </a:r>
            <a:r>
              <a:rPr lang="en-IN" sz="1600" dirty="0" err="1">
                <a:solidFill>
                  <a:schemeClr val="tx2">
                    <a:lumMod val="60000"/>
                    <a:lumOff val="40000"/>
                  </a:schemeClr>
                </a:solidFill>
              </a:rPr>
              <a:t>analyze</a:t>
            </a:r>
            <a:r>
              <a:rPr lang="en-IN" sz="1600" dirty="0">
                <a:solidFill>
                  <a:schemeClr val="tx2">
                    <a:lumMod val="60000"/>
                    <a:lumOff val="40000"/>
                  </a:schemeClr>
                </a:solidFill>
              </a:rPr>
              <a:t> the data. We used SQL queries to calculate important KPIs like Total Revenue, Total Bookings, Occupancy, Cancellation Rate, ADR, and RevPAR.</a:t>
            </a:r>
          </a:p>
          <a:p>
            <a:endParaRPr lang="en-IN" sz="1600" dirty="0">
              <a:solidFill>
                <a:schemeClr val="tx2">
                  <a:lumMod val="60000"/>
                  <a:lumOff val="40000"/>
                </a:schemeClr>
              </a:solidFill>
            </a:endParaRPr>
          </a:p>
          <a:p>
            <a:r>
              <a:rPr lang="en-IN" sz="1600" dirty="0">
                <a:solidFill>
                  <a:schemeClr val="tx2">
                    <a:lumMod val="60000"/>
                    <a:lumOff val="40000"/>
                  </a:schemeClr>
                </a:solidFill>
              </a:rPr>
              <a:t>After </a:t>
            </a:r>
            <a:r>
              <a:rPr lang="en-IN" sz="1600" dirty="0" err="1">
                <a:solidFill>
                  <a:schemeClr val="tx2">
                    <a:lumMod val="60000"/>
                    <a:lumOff val="40000"/>
                  </a:schemeClr>
                </a:solidFill>
              </a:rPr>
              <a:t>analyzing</a:t>
            </a:r>
            <a:r>
              <a:rPr lang="en-IN" sz="1600" dirty="0">
                <a:solidFill>
                  <a:schemeClr val="tx2">
                    <a:lumMod val="60000"/>
                    <a:lumOff val="40000"/>
                  </a:schemeClr>
                </a:solidFill>
              </a:rPr>
              <a:t> the data, we created dashboards using Power BI and Tableau. We used different charts and KPI cards to show the results clearly.</a:t>
            </a:r>
          </a:p>
          <a:p>
            <a:endParaRPr lang="en-IN" sz="1600" dirty="0">
              <a:solidFill>
                <a:schemeClr val="tx2">
                  <a:lumMod val="60000"/>
                  <a:lumOff val="40000"/>
                </a:schemeClr>
              </a:solidFill>
            </a:endParaRPr>
          </a:p>
          <a:p>
            <a:r>
              <a:rPr lang="en-IN" sz="1600" dirty="0">
                <a:solidFill>
                  <a:schemeClr val="tx2">
                    <a:lumMod val="60000"/>
                    <a:lumOff val="40000"/>
                  </a:schemeClr>
                </a:solidFill>
              </a:rPr>
              <a:t>This dashboard helps us understand hotel performance, booking trends, and revenue, and makes it easier to take better business decisions.</a:t>
            </a:r>
          </a:p>
        </p:txBody>
      </p:sp>
      <p:sp>
        <p:nvSpPr>
          <p:cNvPr id="7" name="Shape 5">
            <a:extLst>
              <a:ext uri="{FF2B5EF4-FFF2-40B4-BE49-F238E27FC236}">
                <a16:creationId xmlns:a16="http://schemas.microsoft.com/office/drawing/2014/main" id="{91356C4E-9621-1569-C9CD-9FE680FF9FB6}"/>
              </a:ext>
            </a:extLst>
          </p:cNvPr>
          <p:cNvSpPr/>
          <p:nvPr/>
        </p:nvSpPr>
        <p:spPr>
          <a:xfrm>
            <a:off x="10874121" y="1165098"/>
            <a:ext cx="512064" cy="512064"/>
          </a:xfrm>
          <a:prstGeom prst="ellipse">
            <a:avLst/>
          </a:prstGeom>
          <a:solidFill>
            <a:srgbClr val="E8871E">
              <a:alpha val="75000"/>
            </a:srgbClr>
          </a:solidFill>
          <a:ln/>
        </p:spPr>
        <p:txBody>
          <a:bodyPr/>
          <a:lstStyle/>
          <a:p>
            <a:endParaRPr lang="en-IN"/>
          </a:p>
        </p:txBody>
      </p:sp>
      <p:sp>
        <p:nvSpPr>
          <p:cNvPr id="11" name="Shape 9">
            <a:extLst>
              <a:ext uri="{FF2B5EF4-FFF2-40B4-BE49-F238E27FC236}">
                <a16:creationId xmlns:a16="http://schemas.microsoft.com/office/drawing/2014/main" id="{CD5689E0-1B9F-6723-B634-0422263ABC2B}"/>
              </a:ext>
            </a:extLst>
          </p:cNvPr>
          <p:cNvSpPr/>
          <p:nvPr/>
        </p:nvSpPr>
        <p:spPr>
          <a:xfrm>
            <a:off x="10903458" y="2176272"/>
            <a:ext cx="512064" cy="512064"/>
          </a:xfrm>
          <a:prstGeom prst="ellipse">
            <a:avLst/>
          </a:prstGeom>
          <a:solidFill>
            <a:srgbClr val="0E7C86">
              <a:alpha val="75000"/>
            </a:srgbClr>
          </a:solidFill>
          <a:ln/>
        </p:spPr>
        <p:txBody>
          <a:bodyPr/>
          <a:lstStyle/>
          <a:p>
            <a:endParaRPr lang="en-IN"/>
          </a:p>
        </p:txBody>
      </p:sp>
      <p:sp>
        <p:nvSpPr>
          <p:cNvPr id="15" name="Shape 13">
            <a:extLst>
              <a:ext uri="{FF2B5EF4-FFF2-40B4-BE49-F238E27FC236}">
                <a16:creationId xmlns:a16="http://schemas.microsoft.com/office/drawing/2014/main" id="{247A5EDA-C356-A0A7-CE2A-1CBDD754C4AE}"/>
              </a:ext>
            </a:extLst>
          </p:cNvPr>
          <p:cNvSpPr/>
          <p:nvPr/>
        </p:nvSpPr>
        <p:spPr>
          <a:xfrm>
            <a:off x="10874121" y="3250692"/>
            <a:ext cx="512064" cy="512064"/>
          </a:xfrm>
          <a:prstGeom prst="ellipse">
            <a:avLst/>
          </a:prstGeom>
          <a:solidFill>
            <a:srgbClr val="E8871E">
              <a:alpha val="75000"/>
            </a:srgbClr>
          </a:solidFill>
          <a:ln/>
        </p:spPr>
        <p:txBody>
          <a:bodyPr/>
          <a:lstStyle/>
          <a:p>
            <a:endParaRPr lang="en-IN"/>
          </a:p>
        </p:txBody>
      </p:sp>
      <p:sp>
        <p:nvSpPr>
          <p:cNvPr id="16" name="Text 14">
            <a:extLst>
              <a:ext uri="{FF2B5EF4-FFF2-40B4-BE49-F238E27FC236}">
                <a16:creationId xmlns:a16="http://schemas.microsoft.com/office/drawing/2014/main" id="{F3027C0D-55CA-EAE0-09F4-A9621E8A3425}"/>
              </a:ext>
            </a:extLst>
          </p:cNvPr>
          <p:cNvSpPr/>
          <p:nvPr/>
        </p:nvSpPr>
        <p:spPr>
          <a:xfrm>
            <a:off x="7772400" y="3319272"/>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rPr>
              <a:t>25%</a:t>
            </a:r>
            <a:endParaRPr lang="en-US" sz="2600" dirty="0"/>
          </a:p>
        </p:txBody>
      </p:sp>
      <p:sp>
        <p:nvSpPr>
          <p:cNvPr id="19" name="Shape 17">
            <a:extLst>
              <a:ext uri="{FF2B5EF4-FFF2-40B4-BE49-F238E27FC236}">
                <a16:creationId xmlns:a16="http://schemas.microsoft.com/office/drawing/2014/main" id="{CE234245-97D9-BEF9-7E60-6C2554802A47}"/>
              </a:ext>
            </a:extLst>
          </p:cNvPr>
          <p:cNvSpPr/>
          <p:nvPr/>
        </p:nvSpPr>
        <p:spPr>
          <a:xfrm>
            <a:off x="10888980" y="4593336"/>
            <a:ext cx="512064" cy="512064"/>
          </a:xfrm>
          <a:prstGeom prst="ellipse">
            <a:avLst/>
          </a:prstGeom>
          <a:solidFill>
            <a:srgbClr val="0E7C86">
              <a:alpha val="75000"/>
            </a:srgbClr>
          </a:solidFill>
          <a:ln/>
        </p:spPr>
        <p:txBody>
          <a:bodyPr/>
          <a:lstStyle/>
          <a:p>
            <a:endParaRPr lang="en-IN"/>
          </a:p>
        </p:txBody>
      </p:sp>
      <p:sp>
        <p:nvSpPr>
          <p:cNvPr id="20" name="Text 18">
            <a:extLst>
              <a:ext uri="{FF2B5EF4-FFF2-40B4-BE49-F238E27FC236}">
                <a16:creationId xmlns:a16="http://schemas.microsoft.com/office/drawing/2014/main" id="{1878A158-8F93-A543-C1DD-DF5B1D9F8F43}"/>
              </a:ext>
            </a:extLst>
          </p:cNvPr>
          <p:cNvSpPr/>
          <p:nvPr/>
        </p:nvSpPr>
        <p:spPr>
          <a:xfrm>
            <a:off x="7772400" y="4146804"/>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rPr>
              <a:t>135K</a:t>
            </a:r>
            <a:endParaRPr lang="en-US" sz="2600" dirty="0"/>
          </a:p>
        </p:txBody>
      </p:sp>
      <p:sp>
        <p:nvSpPr>
          <p:cNvPr id="22" name="Text 20">
            <a:extLst>
              <a:ext uri="{FF2B5EF4-FFF2-40B4-BE49-F238E27FC236}">
                <a16:creationId xmlns:a16="http://schemas.microsoft.com/office/drawing/2014/main" id="{AEAD6A71-9C67-AA1E-E607-C19A613AFBA7}"/>
              </a:ext>
            </a:extLst>
          </p:cNvPr>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23" name="Text 21">
            <a:extLst>
              <a:ext uri="{FF2B5EF4-FFF2-40B4-BE49-F238E27FC236}">
                <a16:creationId xmlns:a16="http://schemas.microsoft.com/office/drawing/2014/main" id="{DD1F1A24-2111-B2A3-3227-89E81983E5C4}"/>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
        <p:nvSpPr>
          <p:cNvPr id="29" name="Text 18">
            <a:extLst>
              <a:ext uri="{FF2B5EF4-FFF2-40B4-BE49-F238E27FC236}">
                <a16:creationId xmlns:a16="http://schemas.microsoft.com/office/drawing/2014/main" id="{672AD9C4-9083-7255-21EE-A01FB6A2F754}"/>
              </a:ext>
            </a:extLst>
          </p:cNvPr>
          <p:cNvSpPr/>
          <p:nvPr/>
        </p:nvSpPr>
        <p:spPr>
          <a:xfrm>
            <a:off x="7711440" y="5125212"/>
            <a:ext cx="365760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rPr>
              <a:t>1026</a:t>
            </a:r>
            <a:endParaRPr lang="en-US" sz="2600" dirty="0"/>
          </a:p>
        </p:txBody>
      </p:sp>
    </p:spTree>
    <p:extLst>
      <p:ext uri="{BB962C8B-B14F-4D97-AF65-F5344CB8AC3E}">
        <p14:creationId xmlns:p14="http://schemas.microsoft.com/office/powerpoint/2010/main" val="2019158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ROADMAP</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Four phases, one end-to-end analytics workflow</a:t>
            </a:r>
            <a:endParaRPr lang="en-US" sz="1300" dirty="0"/>
          </a:p>
        </p:txBody>
      </p:sp>
      <p:sp>
        <p:nvSpPr>
          <p:cNvPr id="4" name="Shape 2"/>
          <p:cNvSpPr/>
          <p:nvPr/>
        </p:nvSpPr>
        <p:spPr>
          <a:xfrm>
            <a:off x="548640"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txBody>
          <a:bodyPr/>
          <a:lstStyle/>
          <a:p>
            <a:endParaRPr lang="en-IN"/>
          </a:p>
        </p:txBody>
      </p:sp>
      <p:sp>
        <p:nvSpPr>
          <p:cNvPr id="5" name="Shape 3"/>
          <p:cNvSpPr/>
          <p:nvPr/>
        </p:nvSpPr>
        <p:spPr>
          <a:xfrm>
            <a:off x="1508760" y="1874520"/>
            <a:ext cx="731520" cy="731520"/>
          </a:xfrm>
          <a:prstGeom prst="ellipse">
            <a:avLst/>
          </a:prstGeom>
          <a:solidFill>
            <a:srgbClr val="0E7C86"/>
          </a:solidFill>
          <a:ln/>
        </p:spPr>
        <p:txBody>
          <a:bodyPr/>
          <a:lstStyle/>
          <a:p>
            <a:endParaRPr lang="en-IN"/>
          </a:p>
        </p:txBody>
      </p:sp>
      <p:sp>
        <p:nvSpPr>
          <p:cNvPr id="6" name="Text 4"/>
          <p:cNvSpPr/>
          <p:nvPr/>
        </p:nvSpPr>
        <p:spPr>
          <a:xfrm>
            <a:off x="1508760"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731520" y="2788920"/>
            <a:ext cx="2286000" cy="457200"/>
          </a:xfrm>
          <a:prstGeom prst="rect">
            <a:avLst/>
          </a:prstGeom>
          <a:noFill/>
          <a:ln/>
        </p:spPr>
        <p:txBody>
          <a:bodyPr wrap="square" rtlCol="0" anchor="ctr"/>
          <a:lstStyle/>
          <a:p>
            <a:pPr marL="0" indent="0" algn="ctr">
              <a:buNone/>
            </a:pPr>
            <a:r>
              <a:rPr lang="en-US" sz="1600" b="1" dirty="0">
                <a:solidFill>
                  <a:schemeClr val="accent1">
                    <a:lumMod val="50000"/>
                  </a:schemeClr>
                </a:solidFill>
                <a:latin typeface="Cambria" pitchFamily="34" charset="0"/>
                <a:ea typeface="Cambria" pitchFamily="34" charset="-122"/>
                <a:cs typeface="Cambria" pitchFamily="34" charset="-120"/>
              </a:rPr>
              <a:t>Excel</a:t>
            </a:r>
            <a:endParaRPr lang="en-US" sz="1600" dirty="0">
              <a:solidFill>
                <a:schemeClr val="accent1">
                  <a:lumMod val="50000"/>
                </a:schemeClr>
              </a:solidFill>
            </a:endParaRPr>
          </a:p>
        </p:txBody>
      </p:sp>
      <p:sp>
        <p:nvSpPr>
          <p:cNvPr id="8" name="Text 6"/>
          <p:cNvSpPr/>
          <p:nvPr/>
        </p:nvSpPr>
        <p:spPr>
          <a:xfrm>
            <a:off x="713232" y="3152814"/>
            <a:ext cx="2194560" cy="2103120"/>
          </a:xfrm>
          <a:prstGeom prst="rect">
            <a:avLst/>
          </a:prstGeom>
          <a:noFill/>
          <a:ln/>
        </p:spPr>
        <p:txBody>
          <a:bodyPr wrap="square" rtlCol="0" anchor="ctr"/>
          <a:lstStyle/>
          <a:p>
            <a:pPr algn="ctr"/>
            <a:r>
              <a:rPr lang="en-IN" sz="1200" dirty="0">
                <a:solidFill>
                  <a:schemeClr val="tx2"/>
                </a:solidFill>
              </a:rPr>
              <a:t>Data cleaning, data formatting, duplicate checking and basic data preparation for analysis</a:t>
            </a:r>
            <a:r>
              <a:rPr lang="en-US" sz="1150" dirty="0">
                <a:solidFill>
                  <a:schemeClr val="tx2"/>
                </a:solidFill>
                <a:latin typeface="Calibri" pitchFamily="34" charset="0"/>
                <a:ea typeface="Calibri" pitchFamily="34" charset="-122"/>
                <a:cs typeface="Calibri" pitchFamily="34" charset="-120"/>
              </a:rPr>
              <a:t>.</a:t>
            </a:r>
            <a:endParaRPr lang="en-US" sz="1150" dirty="0">
              <a:solidFill>
                <a:schemeClr val="tx2"/>
              </a:solidFill>
            </a:endParaRPr>
          </a:p>
        </p:txBody>
      </p:sp>
      <p:sp>
        <p:nvSpPr>
          <p:cNvPr id="9" name="Shape 7"/>
          <p:cNvSpPr/>
          <p:nvPr/>
        </p:nvSpPr>
        <p:spPr>
          <a:xfrm rot="5400000">
            <a:off x="3227832" y="3483864"/>
            <a:ext cx="146304" cy="164592"/>
          </a:xfrm>
          <a:prstGeom prst="triangle">
            <a:avLst/>
          </a:prstGeom>
          <a:solidFill>
            <a:srgbClr val="C7D2DD"/>
          </a:solidFill>
          <a:ln/>
        </p:spPr>
        <p:txBody>
          <a:bodyPr/>
          <a:lstStyle/>
          <a:p>
            <a:endParaRPr lang="en-IN"/>
          </a:p>
        </p:txBody>
      </p:sp>
      <p:sp>
        <p:nvSpPr>
          <p:cNvPr id="10" name="Shape 8"/>
          <p:cNvSpPr/>
          <p:nvPr/>
        </p:nvSpPr>
        <p:spPr>
          <a:xfrm>
            <a:off x="3401568"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txBody>
          <a:bodyPr/>
          <a:lstStyle/>
          <a:p>
            <a:endParaRPr lang="en-IN"/>
          </a:p>
        </p:txBody>
      </p:sp>
      <p:sp>
        <p:nvSpPr>
          <p:cNvPr id="11" name="Shape 9"/>
          <p:cNvSpPr/>
          <p:nvPr/>
        </p:nvSpPr>
        <p:spPr>
          <a:xfrm>
            <a:off x="4361688" y="1874520"/>
            <a:ext cx="731520" cy="731520"/>
          </a:xfrm>
          <a:prstGeom prst="ellipse">
            <a:avLst/>
          </a:prstGeom>
          <a:solidFill>
            <a:srgbClr val="142850"/>
          </a:solidFill>
          <a:ln/>
        </p:spPr>
        <p:txBody>
          <a:bodyPr/>
          <a:lstStyle/>
          <a:p>
            <a:endParaRPr lang="en-IN"/>
          </a:p>
        </p:txBody>
      </p:sp>
      <p:sp>
        <p:nvSpPr>
          <p:cNvPr id="12" name="Text 10"/>
          <p:cNvSpPr/>
          <p:nvPr/>
        </p:nvSpPr>
        <p:spPr>
          <a:xfrm>
            <a:off x="4361688"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584448" y="2860952"/>
            <a:ext cx="2286000" cy="457200"/>
          </a:xfrm>
          <a:prstGeom prst="rect">
            <a:avLst/>
          </a:prstGeom>
          <a:noFill/>
          <a:ln/>
        </p:spPr>
        <p:txBody>
          <a:bodyPr wrap="square" rtlCol="0" anchor="ctr"/>
          <a:lstStyle/>
          <a:p>
            <a:pPr algn="ctr"/>
            <a:r>
              <a:rPr lang="en-US" sz="1600" b="1" dirty="0">
                <a:solidFill>
                  <a:schemeClr val="accent1">
                    <a:lumMod val="50000"/>
                  </a:schemeClr>
                </a:solidFill>
                <a:latin typeface="Cambria" pitchFamily="34" charset="0"/>
                <a:ea typeface="Cambria" pitchFamily="34" charset="-122"/>
                <a:cs typeface="Cambria" pitchFamily="34" charset="-120"/>
              </a:rPr>
              <a:t>Tableau</a:t>
            </a:r>
            <a:endParaRPr lang="en-US" sz="1600" dirty="0">
              <a:solidFill>
                <a:schemeClr val="accent1">
                  <a:lumMod val="50000"/>
                </a:schemeClr>
              </a:solidFill>
            </a:endParaRPr>
          </a:p>
          <a:p>
            <a:pPr marL="0" indent="0" algn="ctr">
              <a:buNone/>
            </a:pPr>
            <a:endParaRPr lang="en-US" sz="1600" dirty="0"/>
          </a:p>
        </p:txBody>
      </p:sp>
      <p:sp>
        <p:nvSpPr>
          <p:cNvPr id="14" name="Text 12"/>
          <p:cNvSpPr/>
          <p:nvPr/>
        </p:nvSpPr>
        <p:spPr>
          <a:xfrm>
            <a:off x="3630168" y="3291840"/>
            <a:ext cx="2194560" cy="2103120"/>
          </a:xfrm>
          <a:prstGeom prst="rect">
            <a:avLst/>
          </a:prstGeom>
          <a:noFill/>
          <a:ln/>
        </p:spPr>
        <p:txBody>
          <a:bodyPr wrap="square" rtlCol="0" anchor="ctr"/>
          <a:lstStyle/>
          <a:p>
            <a:pPr algn="ctr"/>
            <a:r>
              <a:rPr lang="en-IN" sz="1200" dirty="0">
                <a:solidFill>
                  <a:schemeClr val="tx2"/>
                </a:solidFill>
              </a:rPr>
              <a:t>Created KPI cards, charts, filters and an interactive dashboard to </a:t>
            </a:r>
            <a:r>
              <a:rPr lang="en-IN" sz="1200" dirty="0" err="1">
                <a:solidFill>
                  <a:schemeClr val="tx2"/>
                </a:solidFill>
              </a:rPr>
              <a:t>analyze</a:t>
            </a:r>
            <a:r>
              <a:rPr lang="en-IN" sz="1200" dirty="0">
                <a:solidFill>
                  <a:schemeClr val="tx2"/>
                </a:solidFill>
              </a:rPr>
              <a:t> hotel revenue, bookings, occupancy and other performance metrics</a:t>
            </a:r>
            <a:r>
              <a:rPr lang="en-IN" sz="1200" dirty="0"/>
              <a:t>.</a:t>
            </a:r>
            <a:endParaRPr lang="en-US" sz="1150" dirty="0"/>
          </a:p>
        </p:txBody>
      </p:sp>
      <p:sp>
        <p:nvSpPr>
          <p:cNvPr id="15" name="Shape 13"/>
          <p:cNvSpPr/>
          <p:nvPr/>
        </p:nvSpPr>
        <p:spPr>
          <a:xfrm rot="5400000">
            <a:off x="6080760" y="3483864"/>
            <a:ext cx="146304" cy="164592"/>
          </a:xfrm>
          <a:prstGeom prst="triangle">
            <a:avLst/>
          </a:prstGeom>
          <a:solidFill>
            <a:srgbClr val="C7D2DD"/>
          </a:solidFill>
          <a:ln/>
        </p:spPr>
        <p:txBody>
          <a:bodyPr/>
          <a:lstStyle/>
          <a:p>
            <a:endParaRPr lang="en-IN"/>
          </a:p>
        </p:txBody>
      </p:sp>
      <p:sp>
        <p:nvSpPr>
          <p:cNvPr id="16" name="Shape 14"/>
          <p:cNvSpPr/>
          <p:nvPr/>
        </p:nvSpPr>
        <p:spPr>
          <a:xfrm>
            <a:off x="6254496"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txBody>
          <a:bodyPr/>
          <a:lstStyle/>
          <a:p>
            <a:endParaRPr lang="en-IN"/>
          </a:p>
        </p:txBody>
      </p:sp>
      <p:sp>
        <p:nvSpPr>
          <p:cNvPr id="17" name="Shape 15"/>
          <p:cNvSpPr/>
          <p:nvPr/>
        </p:nvSpPr>
        <p:spPr>
          <a:xfrm>
            <a:off x="7214616" y="1874520"/>
            <a:ext cx="731520" cy="731520"/>
          </a:xfrm>
          <a:prstGeom prst="ellipse">
            <a:avLst/>
          </a:prstGeom>
          <a:solidFill>
            <a:srgbClr val="E8871E"/>
          </a:solidFill>
          <a:ln/>
        </p:spPr>
        <p:txBody>
          <a:bodyPr/>
          <a:lstStyle/>
          <a:p>
            <a:endParaRPr lang="en-IN"/>
          </a:p>
        </p:txBody>
      </p:sp>
      <p:sp>
        <p:nvSpPr>
          <p:cNvPr id="18" name="Text 16"/>
          <p:cNvSpPr/>
          <p:nvPr/>
        </p:nvSpPr>
        <p:spPr>
          <a:xfrm>
            <a:off x="7214616"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9" name="Text 17"/>
          <p:cNvSpPr/>
          <p:nvPr/>
        </p:nvSpPr>
        <p:spPr>
          <a:xfrm>
            <a:off x="6391656" y="2860952"/>
            <a:ext cx="2286000" cy="457200"/>
          </a:xfrm>
          <a:prstGeom prst="rect">
            <a:avLst/>
          </a:prstGeom>
          <a:noFill/>
          <a:ln/>
        </p:spPr>
        <p:txBody>
          <a:bodyPr wrap="square" rtlCol="0" anchor="ctr"/>
          <a:lstStyle/>
          <a:p>
            <a:pPr algn="ctr"/>
            <a:r>
              <a:rPr lang="en-US" sz="1600" b="1" dirty="0">
                <a:solidFill>
                  <a:schemeClr val="accent1">
                    <a:lumMod val="50000"/>
                  </a:schemeClr>
                </a:solidFill>
                <a:latin typeface="Cambria" panose="02040503050406030204" pitchFamily="18" charset="0"/>
                <a:ea typeface="Cambria" panose="02040503050406030204" pitchFamily="18" charset="0"/>
              </a:rPr>
              <a:t>Power BI</a:t>
            </a:r>
            <a:endParaRPr lang="en-IN" sz="1600" dirty="0">
              <a:solidFill>
                <a:schemeClr val="accent1">
                  <a:lumMod val="50000"/>
                </a:schemeClr>
              </a:solidFill>
              <a:latin typeface="Cambria" panose="02040503050406030204" pitchFamily="18" charset="0"/>
              <a:ea typeface="Cambria" panose="02040503050406030204" pitchFamily="18" charset="0"/>
            </a:endParaRPr>
          </a:p>
          <a:p>
            <a:pPr algn="ctr"/>
            <a:endParaRPr lang="en-US" sz="1600" dirty="0">
              <a:solidFill>
                <a:schemeClr val="accent1">
                  <a:lumMod val="50000"/>
                </a:schemeClr>
              </a:solidFill>
              <a:latin typeface="Cambria" panose="02040503050406030204" pitchFamily="18" charset="0"/>
              <a:ea typeface="Cambria" panose="02040503050406030204" pitchFamily="18" charset="0"/>
            </a:endParaRPr>
          </a:p>
        </p:txBody>
      </p:sp>
      <p:sp>
        <p:nvSpPr>
          <p:cNvPr id="20" name="Text 18"/>
          <p:cNvSpPr/>
          <p:nvPr/>
        </p:nvSpPr>
        <p:spPr>
          <a:xfrm>
            <a:off x="6483096" y="3106347"/>
            <a:ext cx="2194560" cy="2103120"/>
          </a:xfrm>
          <a:prstGeom prst="rect">
            <a:avLst/>
          </a:prstGeom>
          <a:noFill/>
          <a:ln/>
        </p:spPr>
        <p:txBody>
          <a:bodyPr wrap="square" rtlCol="0" anchor="ctr"/>
          <a:lstStyle/>
          <a:p>
            <a:pPr algn="ctr"/>
            <a:r>
              <a:rPr lang="en-IN" sz="1200" dirty="0">
                <a:solidFill>
                  <a:srgbClr val="44546A"/>
                </a:solidFill>
              </a:rPr>
              <a:t>Used Power Query, data </a:t>
            </a:r>
            <a:r>
              <a:rPr lang="en-IN" sz="1200" dirty="0" err="1">
                <a:solidFill>
                  <a:srgbClr val="44546A"/>
                </a:solidFill>
              </a:rPr>
              <a:t>modeling</a:t>
            </a:r>
            <a:r>
              <a:rPr lang="en-IN" sz="1200" dirty="0">
                <a:solidFill>
                  <a:srgbClr val="44546A"/>
                </a:solidFill>
              </a:rPr>
              <a:t>, and charts to create an interactive dashboard.</a:t>
            </a:r>
            <a:endParaRPr lang="en-US" sz="1150" dirty="0">
              <a:solidFill>
                <a:srgbClr val="44546A"/>
              </a:solidFill>
            </a:endParaRPr>
          </a:p>
        </p:txBody>
      </p:sp>
      <p:sp>
        <p:nvSpPr>
          <p:cNvPr id="21" name="Shape 19"/>
          <p:cNvSpPr/>
          <p:nvPr/>
        </p:nvSpPr>
        <p:spPr>
          <a:xfrm rot="5400000">
            <a:off x="8933688" y="3483864"/>
            <a:ext cx="146304" cy="164592"/>
          </a:xfrm>
          <a:prstGeom prst="triangle">
            <a:avLst/>
          </a:prstGeom>
          <a:solidFill>
            <a:srgbClr val="C7D2DD"/>
          </a:solidFill>
          <a:ln/>
        </p:spPr>
        <p:txBody>
          <a:bodyPr/>
          <a:lstStyle/>
          <a:p>
            <a:endParaRPr lang="en-IN"/>
          </a:p>
        </p:txBody>
      </p:sp>
      <p:sp>
        <p:nvSpPr>
          <p:cNvPr id="22" name="Shape 20"/>
          <p:cNvSpPr/>
          <p:nvPr/>
        </p:nvSpPr>
        <p:spPr>
          <a:xfrm>
            <a:off x="9107424" y="1600200"/>
            <a:ext cx="2651760" cy="393192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2000"/>
              </a:srgbClr>
            </a:outerShdw>
          </a:effectLst>
        </p:spPr>
        <p:txBody>
          <a:bodyPr/>
          <a:lstStyle/>
          <a:p>
            <a:endParaRPr lang="en-IN" dirty="0"/>
          </a:p>
        </p:txBody>
      </p:sp>
      <p:sp>
        <p:nvSpPr>
          <p:cNvPr id="23" name="Shape 21"/>
          <p:cNvSpPr/>
          <p:nvPr/>
        </p:nvSpPr>
        <p:spPr>
          <a:xfrm>
            <a:off x="10067544" y="1874520"/>
            <a:ext cx="731520" cy="731520"/>
          </a:xfrm>
          <a:prstGeom prst="ellipse">
            <a:avLst/>
          </a:prstGeom>
          <a:solidFill>
            <a:srgbClr val="0E7C86"/>
          </a:solidFill>
          <a:ln/>
        </p:spPr>
        <p:txBody>
          <a:bodyPr/>
          <a:lstStyle/>
          <a:p>
            <a:endParaRPr lang="en-IN"/>
          </a:p>
        </p:txBody>
      </p:sp>
      <p:sp>
        <p:nvSpPr>
          <p:cNvPr id="24" name="Text 22"/>
          <p:cNvSpPr/>
          <p:nvPr/>
        </p:nvSpPr>
        <p:spPr>
          <a:xfrm>
            <a:off x="10067544" y="187452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04</a:t>
            </a:r>
            <a:endParaRPr lang="en-US" sz="2200" dirty="0"/>
          </a:p>
        </p:txBody>
      </p:sp>
      <p:sp>
        <p:nvSpPr>
          <p:cNvPr id="25" name="Text 23"/>
          <p:cNvSpPr/>
          <p:nvPr/>
        </p:nvSpPr>
        <p:spPr>
          <a:xfrm>
            <a:off x="9290304" y="2788920"/>
            <a:ext cx="2286000" cy="457200"/>
          </a:xfrm>
          <a:prstGeom prst="rect">
            <a:avLst/>
          </a:prstGeom>
          <a:noFill/>
          <a:ln/>
        </p:spPr>
        <p:txBody>
          <a:bodyPr wrap="square" rtlCol="0" anchor="ctr"/>
          <a:lstStyle/>
          <a:p>
            <a:pPr algn="ctr"/>
            <a:r>
              <a:rPr lang="en-US" sz="1600" b="1" dirty="0">
                <a:solidFill>
                  <a:schemeClr val="accent1">
                    <a:lumMod val="50000"/>
                  </a:schemeClr>
                </a:solidFill>
                <a:latin typeface="Cambria" panose="02040503050406030204" pitchFamily="18" charset="0"/>
                <a:ea typeface="Cambria" panose="02040503050406030204" pitchFamily="18" charset="0"/>
              </a:rPr>
              <a:t>MySQL Workbench</a:t>
            </a:r>
            <a:endParaRPr lang="en-US" sz="1600" dirty="0">
              <a:solidFill>
                <a:schemeClr val="accent1">
                  <a:lumMod val="50000"/>
                </a:schemeClr>
              </a:solidFill>
              <a:latin typeface="Cambria" panose="02040503050406030204" pitchFamily="18" charset="0"/>
              <a:ea typeface="Cambria" panose="02040503050406030204" pitchFamily="18" charset="0"/>
            </a:endParaRPr>
          </a:p>
        </p:txBody>
      </p:sp>
      <p:sp>
        <p:nvSpPr>
          <p:cNvPr id="26" name="Text 24"/>
          <p:cNvSpPr/>
          <p:nvPr/>
        </p:nvSpPr>
        <p:spPr>
          <a:xfrm>
            <a:off x="9336024" y="3152814"/>
            <a:ext cx="2194560" cy="2103120"/>
          </a:xfrm>
          <a:prstGeom prst="rect">
            <a:avLst/>
          </a:prstGeom>
          <a:noFill/>
          <a:ln/>
        </p:spPr>
        <p:txBody>
          <a:bodyPr wrap="square" rtlCol="0" anchor="ctr"/>
          <a:lstStyle/>
          <a:p>
            <a:pPr algn="ctr"/>
            <a:endParaRPr lang="en-US" sz="1150" dirty="0">
              <a:solidFill>
                <a:srgbClr val="44546A"/>
              </a:solidFill>
            </a:endParaRPr>
          </a:p>
        </p:txBody>
      </p:sp>
      <p:sp>
        <p:nvSpPr>
          <p:cNvPr id="27" name="Text 25"/>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28" name="Text 26"/>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
        <p:nvSpPr>
          <p:cNvPr id="29" name="TextBox 28">
            <a:extLst>
              <a:ext uri="{FF2B5EF4-FFF2-40B4-BE49-F238E27FC236}">
                <a16:creationId xmlns:a16="http://schemas.microsoft.com/office/drawing/2014/main" id="{B1467239-1673-84F6-6610-402BCAA99B24}"/>
              </a:ext>
            </a:extLst>
          </p:cNvPr>
          <p:cNvSpPr txBox="1"/>
          <p:nvPr/>
        </p:nvSpPr>
        <p:spPr>
          <a:xfrm>
            <a:off x="9418321" y="3743235"/>
            <a:ext cx="2194559" cy="1200329"/>
          </a:xfrm>
          <a:prstGeom prst="rect">
            <a:avLst/>
          </a:prstGeom>
          <a:noFill/>
        </p:spPr>
        <p:txBody>
          <a:bodyPr wrap="square" rtlCol="0">
            <a:spAutoFit/>
          </a:bodyPr>
          <a:lstStyle/>
          <a:p>
            <a:r>
              <a:rPr lang="en-IN" sz="1200" dirty="0">
                <a:solidFill>
                  <a:schemeClr val="tx2"/>
                </a:solidFill>
              </a:rPr>
              <a:t>Imported the prepared data, created tables and used SQL queries, joins and aggregate functions to calculate important hospitality KPIs.</a:t>
            </a:r>
            <a:endParaRPr lang="en-US" sz="1200" dirty="0">
              <a:solidFill>
                <a:schemeClr val="tx2"/>
              </a:solidFill>
            </a:endParaRPr>
          </a:p>
          <a:p>
            <a:endParaRPr lang="en-IN"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Fact and dimension tables used for hospitality analysis</a:t>
            </a:r>
            <a:endParaRPr lang="en-US" sz="1300" i="1" dirty="0">
              <a:solidFill>
                <a:srgbClr val="0E7C86"/>
              </a:solidFill>
            </a:endParaRPr>
          </a:p>
        </p:txBody>
      </p:sp>
      <p:sp>
        <p:nvSpPr>
          <p:cNvPr id="4" name="Shape 2"/>
          <p:cNvSpPr/>
          <p:nvPr/>
        </p:nvSpPr>
        <p:spPr>
          <a:xfrm>
            <a:off x="548640" y="1463040"/>
            <a:ext cx="6492240" cy="530352"/>
          </a:xfrm>
          <a:prstGeom prst="roundRect">
            <a:avLst>
              <a:gd name="adj" fmla="val 8621"/>
            </a:avLst>
          </a:prstGeom>
          <a:solidFill>
            <a:srgbClr val="142850"/>
          </a:solidFill>
          <a:ln/>
        </p:spPr>
        <p:txBody>
          <a:bodyPr/>
          <a:lstStyle/>
          <a:p>
            <a:endParaRPr lang="en-IN"/>
          </a:p>
        </p:txBody>
      </p:sp>
      <p:sp>
        <p:nvSpPr>
          <p:cNvPr id="5" name="Text 3"/>
          <p:cNvSpPr/>
          <p:nvPr/>
        </p:nvSpPr>
        <p:spPr>
          <a:xfrm>
            <a:off x="777240" y="1463040"/>
            <a:ext cx="2926080" cy="530352"/>
          </a:xfrm>
          <a:prstGeom prst="rect">
            <a:avLst/>
          </a:prstGeom>
          <a:noFill/>
          <a:ln/>
        </p:spPr>
        <p:txBody>
          <a:bodyPr wrap="square"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TABLE</a:t>
            </a:r>
            <a:endParaRPr lang="en-US" sz="1200" dirty="0"/>
          </a:p>
        </p:txBody>
      </p:sp>
      <p:sp>
        <p:nvSpPr>
          <p:cNvPr id="6" name="Text 4"/>
          <p:cNvSpPr/>
          <p:nvPr/>
        </p:nvSpPr>
        <p:spPr>
          <a:xfrm>
            <a:off x="3657600" y="1463040"/>
            <a:ext cx="3200400" cy="530352"/>
          </a:xfrm>
          <a:prstGeom prst="rect">
            <a:avLst/>
          </a:prstGeom>
          <a:noFill/>
          <a:ln/>
        </p:spPr>
        <p:txBody>
          <a:bodyPr wrap="square"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PURPOSE</a:t>
            </a:r>
            <a:endParaRPr lang="en-US" sz="1200" dirty="0"/>
          </a:p>
        </p:txBody>
      </p:sp>
      <p:sp>
        <p:nvSpPr>
          <p:cNvPr id="7" name="Shape 5"/>
          <p:cNvSpPr/>
          <p:nvPr/>
        </p:nvSpPr>
        <p:spPr>
          <a:xfrm>
            <a:off x="548640" y="1993392"/>
            <a:ext cx="6492240" cy="530352"/>
          </a:xfrm>
          <a:prstGeom prst="rect">
            <a:avLst/>
          </a:prstGeom>
          <a:solidFill>
            <a:srgbClr val="F5F7FA"/>
          </a:solidFill>
          <a:ln/>
        </p:spPr>
        <p:txBody>
          <a:bodyPr/>
          <a:lstStyle/>
          <a:p>
            <a:endParaRPr lang="en-IN"/>
          </a:p>
        </p:txBody>
      </p:sp>
      <p:sp>
        <p:nvSpPr>
          <p:cNvPr id="8" name="Text 6"/>
          <p:cNvSpPr/>
          <p:nvPr/>
        </p:nvSpPr>
        <p:spPr>
          <a:xfrm>
            <a:off x="777240" y="1993392"/>
            <a:ext cx="2926080" cy="530352"/>
          </a:xfrm>
          <a:prstGeom prst="rect">
            <a:avLst/>
          </a:prstGeom>
          <a:noFill/>
          <a:ln/>
        </p:spPr>
        <p:txBody>
          <a:bodyPr wrap="square" rtlCol="0" anchor="ctr"/>
          <a:lstStyle/>
          <a:p>
            <a:r>
              <a:rPr lang="en-IN" sz="1250" b="1" dirty="0" err="1">
                <a:solidFill>
                  <a:srgbClr val="0E7C86"/>
                </a:solidFill>
              </a:rPr>
              <a:t>fact_bookings</a:t>
            </a:r>
            <a:endParaRPr lang="en-US" sz="1250" b="1" dirty="0">
              <a:solidFill>
                <a:srgbClr val="0E7C86"/>
              </a:solidFill>
            </a:endParaRPr>
          </a:p>
        </p:txBody>
      </p:sp>
      <p:sp>
        <p:nvSpPr>
          <p:cNvPr id="9" name="Text 7"/>
          <p:cNvSpPr/>
          <p:nvPr/>
        </p:nvSpPr>
        <p:spPr>
          <a:xfrm>
            <a:off x="3657600" y="1993392"/>
            <a:ext cx="3200400" cy="530352"/>
          </a:xfrm>
          <a:prstGeom prst="rect">
            <a:avLst/>
          </a:prstGeom>
          <a:noFill/>
          <a:ln/>
        </p:spPr>
        <p:txBody>
          <a:bodyPr wrap="square" rtlCol="0" anchor="ctr"/>
          <a:lstStyle/>
          <a:p>
            <a:r>
              <a:rPr lang="en-IN" sz="1200" dirty="0">
                <a:solidFill>
                  <a:srgbClr val="1F2937"/>
                </a:solidFill>
              </a:rPr>
              <a:t>Booking transaction details</a:t>
            </a:r>
            <a:endParaRPr lang="en-US" sz="1200" dirty="0">
              <a:solidFill>
                <a:srgbClr val="1F2937"/>
              </a:solidFill>
            </a:endParaRPr>
          </a:p>
        </p:txBody>
      </p:sp>
      <p:sp>
        <p:nvSpPr>
          <p:cNvPr id="10" name="Shape 8"/>
          <p:cNvSpPr/>
          <p:nvPr/>
        </p:nvSpPr>
        <p:spPr>
          <a:xfrm>
            <a:off x="548640" y="2523744"/>
            <a:ext cx="6492240" cy="530352"/>
          </a:xfrm>
          <a:prstGeom prst="rect">
            <a:avLst/>
          </a:prstGeom>
          <a:solidFill>
            <a:srgbClr val="FFFFFF"/>
          </a:solidFill>
          <a:ln/>
        </p:spPr>
        <p:txBody>
          <a:bodyPr/>
          <a:lstStyle/>
          <a:p>
            <a:endParaRPr lang="en-IN"/>
          </a:p>
        </p:txBody>
      </p:sp>
      <p:sp>
        <p:nvSpPr>
          <p:cNvPr id="11" name="Text 9"/>
          <p:cNvSpPr/>
          <p:nvPr/>
        </p:nvSpPr>
        <p:spPr>
          <a:xfrm>
            <a:off x="777240" y="2523744"/>
            <a:ext cx="2926080" cy="530352"/>
          </a:xfrm>
          <a:prstGeom prst="rect">
            <a:avLst/>
          </a:prstGeom>
          <a:noFill/>
          <a:ln/>
        </p:spPr>
        <p:txBody>
          <a:bodyPr wrap="square" rtlCol="0" anchor="ctr"/>
          <a:lstStyle/>
          <a:p>
            <a:r>
              <a:rPr lang="en-IN" sz="1250" b="1" dirty="0" err="1">
                <a:solidFill>
                  <a:srgbClr val="0E7C86"/>
                </a:solidFill>
              </a:rPr>
              <a:t>fact_aggregated_bookings</a:t>
            </a:r>
            <a:endParaRPr lang="en-US" sz="1250" b="1" dirty="0">
              <a:solidFill>
                <a:srgbClr val="0E7C86"/>
              </a:solidFill>
            </a:endParaRPr>
          </a:p>
        </p:txBody>
      </p:sp>
      <p:sp>
        <p:nvSpPr>
          <p:cNvPr id="12" name="Text 10"/>
          <p:cNvSpPr/>
          <p:nvPr/>
        </p:nvSpPr>
        <p:spPr>
          <a:xfrm>
            <a:off x="3657600" y="2523744"/>
            <a:ext cx="3200400" cy="530352"/>
          </a:xfrm>
          <a:prstGeom prst="rect">
            <a:avLst/>
          </a:prstGeom>
          <a:noFill/>
          <a:ln/>
        </p:spPr>
        <p:txBody>
          <a:bodyPr wrap="square" rtlCol="0" anchor="ctr"/>
          <a:lstStyle/>
          <a:p>
            <a:r>
              <a:rPr lang="en-IN" sz="1200" dirty="0">
                <a:solidFill>
                  <a:srgbClr val="1F2937"/>
                </a:solidFill>
              </a:rPr>
              <a:t>Successful bookings and room capacity</a:t>
            </a:r>
            <a:endParaRPr lang="en-US" sz="1200" dirty="0">
              <a:solidFill>
                <a:srgbClr val="1F2937"/>
              </a:solidFill>
            </a:endParaRPr>
          </a:p>
        </p:txBody>
      </p:sp>
      <p:sp>
        <p:nvSpPr>
          <p:cNvPr id="13" name="Shape 11"/>
          <p:cNvSpPr/>
          <p:nvPr/>
        </p:nvSpPr>
        <p:spPr>
          <a:xfrm>
            <a:off x="548640" y="3054096"/>
            <a:ext cx="6492240" cy="530352"/>
          </a:xfrm>
          <a:prstGeom prst="rect">
            <a:avLst/>
          </a:prstGeom>
          <a:solidFill>
            <a:srgbClr val="F5F7FA"/>
          </a:solidFill>
          <a:ln/>
        </p:spPr>
        <p:txBody>
          <a:bodyPr/>
          <a:lstStyle/>
          <a:p>
            <a:endParaRPr lang="en-IN"/>
          </a:p>
        </p:txBody>
      </p:sp>
      <p:sp>
        <p:nvSpPr>
          <p:cNvPr id="14" name="Text 12"/>
          <p:cNvSpPr/>
          <p:nvPr/>
        </p:nvSpPr>
        <p:spPr>
          <a:xfrm>
            <a:off x="777240" y="3054096"/>
            <a:ext cx="2926080" cy="530352"/>
          </a:xfrm>
          <a:prstGeom prst="rect">
            <a:avLst/>
          </a:prstGeom>
          <a:noFill/>
          <a:ln/>
        </p:spPr>
        <p:txBody>
          <a:bodyPr wrap="square" rtlCol="0" anchor="ctr"/>
          <a:lstStyle/>
          <a:p>
            <a:pPr marL="0" indent="0">
              <a:buNone/>
            </a:pPr>
            <a:r>
              <a:rPr lang="en-US" sz="1250" b="1" dirty="0" err="1">
                <a:solidFill>
                  <a:srgbClr val="0E7C86"/>
                </a:solidFill>
                <a:latin typeface="Calibri" pitchFamily="34" charset="0"/>
                <a:ea typeface="Calibri" pitchFamily="34" charset="-122"/>
                <a:cs typeface="Calibri" pitchFamily="34" charset="-120"/>
              </a:rPr>
              <a:t>Dim_date</a:t>
            </a:r>
            <a:endParaRPr lang="en-US" sz="1250" dirty="0"/>
          </a:p>
        </p:txBody>
      </p:sp>
      <p:sp>
        <p:nvSpPr>
          <p:cNvPr id="15" name="Text 13"/>
          <p:cNvSpPr/>
          <p:nvPr/>
        </p:nvSpPr>
        <p:spPr>
          <a:xfrm>
            <a:off x="3657600" y="3054096"/>
            <a:ext cx="3200400" cy="530352"/>
          </a:xfrm>
          <a:prstGeom prst="rect">
            <a:avLst/>
          </a:prstGeom>
          <a:noFill/>
          <a:ln/>
        </p:spPr>
        <p:txBody>
          <a:bodyPr wrap="square" rtlCol="0" anchor="ctr"/>
          <a:lstStyle/>
          <a:p>
            <a:r>
              <a:rPr lang="en-IN" sz="1200" dirty="0">
                <a:solidFill>
                  <a:srgbClr val="1F2937"/>
                </a:solidFill>
              </a:rPr>
              <a:t>Date and week information</a:t>
            </a:r>
            <a:endParaRPr lang="en-US" sz="1200" dirty="0">
              <a:solidFill>
                <a:srgbClr val="1F2937"/>
              </a:solidFill>
            </a:endParaRPr>
          </a:p>
        </p:txBody>
      </p:sp>
      <p:sp>
        <p:nvSpPr>
          <p:cNvPr id="16" name="Shape 14"/>
          <p:cNvSpPr/>
          <p:nvPr/>
        </p:nvSpPr>
        <p:spPr>
          <a:xfrm>
            <a:off x="548640" y="3584448"/>
            <a:ext cx="6492240" cy="530352"/>
          </a:xfrm>
          <a:prstGeom prst="rect">
            <a:avLst/>
          </a:prstGeom>
          <a:solidFill>
            <a:srgbClr val="FFFFFF"/>
          </a:solidFill>
          <a:ln/>
        </p:spPr>
        <p:txBody>
          <a:bodyPr/>
          <a:lstStyle/>
          <a:p>
            <a:endParaRPr lang="en-IN"/>
          </a:p>
        </p:txBody>
      </p:sp>
      <p:sp>
        <p:nvSpPr>
          <p:cNvPr id="17" name="Text 15"/>
          <p:cNvSpPr/>
          <p:nvPr/>
        </p:nvSpPr>
        <p:spPr>
          <a:xfrm>
            <a:off x="777240" y="3584448"/>
            <a:ext cx="2926080" cy="530352"/>
          </a:xfrm>
          <a:prstGeom prst="rect">
            <a:avLst/>
          </a:prstGeom>
          <a:noFill/>
          <a:ln/>
        </p:spPr>
        <p:txBody>
          <a:bodyPr wrap="square" rtlCol="0" anchor="ctr"/>
          <a:lstStyle/>
          <a:p>
            <a:pPr marL="0" indent="0">
              <a:buNone/>
            </a:pPr>
            <a:r>
              <a:rPr lang="en-US" sz="1250" b="1" dirty="0" err="1">
                <a:solidFill>
                  <a:srgbClr val="0E7C86"/>
                </a:solidFill>
                <a:latin typeface="Calibri" pitchFamily="34" charset="0"/>
                <a:ea typeface="Calibri" pitchFamily="34" charset="-122"/>
                <a:cs typeface="Calibri" pitchFamily="34" charset="-120"/>
              </a:rPr>
              <a:t>Dim_hotels</a:t>
            </a:r>
            <a:endParaRPr lang="en-US" sz="1250" dirty="0"/>
          </a:p>
        </p:txBody>
      </p:sp>
      <p:sp>
        <p:nvSpPr>
          <p:cNvPr id="18" name="Text 16"/>
          <p:cNvSpPr/>
          <p:nvPr/>
        </p:nvSpPr>
        <p:spPr>
          <a:xfrm>
            <a:off x="3657600" y="3584448"/>
            <a:ext cx="3200400" cy="530352"/>
          </a:xfrm>
          <a:prstGeom prst="rect">
            <a:avLst/>
          </a:prstGeom>
          <a:noFill/>
          <a:ln/>
        </p:spPr>
        <p:txBody>
          <a:bodyPr wrap="square" rtlCol="0" anchor="ctr"/>
          <a:lstStyle/>
          <a:p>
            <a:r>
              <a:rPr lang="en-IN" sz="1200" dirty="0">
                <a:solidFill>
                  <a:srgbClr val="1F2937"/>
                </a:solidFill>
              </a:rPr>
              <a:t>Hotel and city details</a:t>
            </a:r>
            <a:endParaRPr lang="en-US" sz="1200" dirty="0">
              <a:solidFill>
                <a:srgbClr val="1F2937"/>
              </a:solidFill>
            </a:endParaRPr>
          </a:p>
        </p:txBody>
      </p:sp>
      <p:sp>
        <p:nvSpPr>
          <p:cNvPr id="19" name="Shape 17"/>
          <p:cNvSpPr/>
          <p:nvPr/>
        </p:nvSpPr>
        <p:spPr>
          <a:xfrm>
            <a:off x="579120" y="4114800"/>
            <a:ext cx="6492240" cy="530352"/>
          </a:xfrm>
          <a:prstGeom prst="rect">
            <a:avLst/>
          </a:prstGeom>
          <a:solidFill>
            <a:srgbClr val="F5F7FA"/>
          </a:solidFill>
          <a:ln/>
        </p:spPr>
        <p:txBody>
          <a:bodyPr/>
          <a:lstStyle/>
          <a:p>
            <a:endParaRPr lang="en-IN"/>
          </a:p>
        </p:txBody>
      </p:sp>
      <p:sp>
        <p:nvSpPr>
          <p:cNvPr id="20" name="Text 18"/>
          <p:cNvSpPr/>
          <p:nvPr/>
        </p:nvSpPr>
        <p:spPr>
          <a:xfrm>
            <a:off x="777240" y="4114800"/>
            <a:ext cx="2926080" cy="530352"/>
          </a:xfrm>
          <a:prstGeom prst="rect">
            <a:avLst/>
          </a:prstGeom>
          <a:noFill/>
          <a:ln/>
        </p:spPr>
        <p:txBody>
          <a:bodyPr wrap="square" rtlCol="0" anchor="ctr"/>
          <a:lstStyle/>
          <a:p>
            <a:pPr marL="0" indent="0">
              <a:buNone/>
            </a:pPr>
            <a:r>
              <a:rPr lang="en-US" sz="1250" b="1" dirty="0" err="1">
                <a:solidFill>
                  <a:srgbClr val="0E7C86"/>
                </a:solidFill>
                <a:latin typeface="Calibri" pitchFamily="34" charset="0"/>
                <a:ea typeface="Calibri" pitchFamily="34" charset="-122"/>
                <a:cs typeface="Calibri" pitchFamily="34" charset="-120"/>
              </a:rPr>
              <a:t>Dim_rooms</a:t>
            </a:r>
            <a:endParaRPr lang="en-US" sz="1250" dirty="0"/>
          </a:p>
        </p:txBody>
      </p:sp>
      <p:sp>
        <p:nvSpPr>
          <p:cNvPr id="21" name="Text 19"/>
          <p:cNvSpPr/>
          <p:nvPr/>
        </p:nvSpPr>
        <p:spPr>
          <a:xfrm>
            <a:off x="3657600" y="4114800"/>
            <a:ext cx="3200400" cy="530352"/>
          </a:xfrm>
          <a:prstGeom prst="rect">
            <a:avLst/>
          </a:prstGeom>
          <a:noFill/>
          <a:ln/>
        </p:spPr>
        <p:txBody>
          <a:bodyPr wrap="square" rtlCol="0" anchor="ctr"/>
          <a:lstStyle/>
          <a:p>
            <a:r>
              <a:rPr lang="en-IN" sz="1200" dirty="0">
                <a:solidFill>
                  <a:srgbClr val="1F2937"/>
                </a:solidFill>
              </a:rPr>
              <a:t>Room class details</a:t>
            </a:r>
            <a:endParaRPr lang="en-US" sz="1200" dirty="0">
              <a:solidFill>
                <a:srgbClr val="1F2937"/>
              </a:solidFill>
            </a:endParaRPr>
          </a:p>
        </p:txBody>
      </p:sp>
      <p:sp>
        <p:nvSpPr>
          <p:cNvPr id="23" name="Text 21"/>
          <p:cNvSpPr/>
          <p:nvPr/>
        </p:nvSpPr>
        <p:spPr>
          <a:xfrm>
            <a:off x="777240" y="4645152"/>
            <a:ext cx="2926080" cy="530352"/>
          </a:xfrm>
          <a:prstGeom prst="rect">
            <a:avLst/>
          </a:prstGeom>
          <a:noFill/>
          <a:ln/>
        </p:spPr>
        <p:txBody>
          <a:bodyPr wrap="square" rtlCol="0" anchor="ctr"/>
          <a:lstStyle/>
          <a:p>
            <a:pPr marL="0" indent="0">
              <a:buNone/>
            </a:pPr>
            <a:endParaRPr lang="en-US" sz="1250" dirty="0"/>
          </a:p>
        </p:txBody>
      </p:sp>
      <p:sp>
        <p:nvSpPr>
          <p:cNvPr id="24" name="Text 22"/>
          <p:cNvSpPr/>
          <p:nvPr/>
        </p:nvSpPr>
        <p:spPr>
          <a:xfrm>
            <a:off x="3657600" y="4645152"/>
            <a:ext cx="3200400" cy="530352"/>
          </a:xfrm>
          <a:prstGeom prst="rect">
            <a:avLst/>
          </a:prstGeom>
          <a:noFill/>
          <a:ln/>
        </p:spPr>
        <p:txBody>
          <a:bodyPr wrap="square" rtlCol="0" anchor="ctr"/>
          <a:lstStyle/>
          <a:p>
            <a:pPr marL="0" indent="0">
              <a:buNone/>
            </a:pPr>
            <a:endParaRPr lang="en-US" sz="1200" dirty="0"/>
          </a:p>
        </p:txBody>
      </p:sp>
      <p:sp>
        <p:nvSpPr>
          <p:cNvPr id="26" name="Text 24"/>
          <p:cNvSpPr/>
          <p:nvPr/>
        </p:nvSpPr>
        <p:spPr>
          <a:xfrm>
            <a:off x="777240" y="5175504"/>
            <a:ext cx="2926080" cy="530352"/>
          </a:xfrm>
          <a:prstGeom prst="rect">
            <a:avLst/>
          </a:prstGeom>
          <a:noFill/>
          <a:ln/>
        </p:spPr>
        <p:txBody>
          <a:bodyPr wrap="square" rtlCol="0" anchor="ctr"/>
          <a:lstStyle/>
          <a:p>
            <a:pPr marL="0" indent="0">
              <a:buNone/>
            </a:pPr>
            <a:endParaRPr lang="en-US" sz="1250" dirty="0"/>
          </a:p>
        </p:txBody>
      </p:sp>
      <p:sp>
        <p:nvSpPr>
          <p:cNvPr id="27" name="Text 25"/>
          <p:cNvSpPr/>
          <p:nvPr/>
        </p:nvSpPr>
        <p:spPr>
          <a:xfrm>
            <a:off x="3657600" y="5175504"/>
            <a:ext cx="3200400" cy="530352"/>
          </a:xfrm>
          <a:prstGeom prst="rect">
            <a:avLst/>
          </a:prstGeom>
          <a:noFill/>
          <a:ln/>
        </p:spPr>
        <p:txBody>
          <a:bodyPr wrap="square" rtlCol="0" anchor="ctr"/>
          <a:lstStyle/>
          <a:p>
            <a:pPr marL="0" indent="0">
              <a:buNone/>
            </a:pPr>
            <a:endParaRPr lang="en-US" sz="1200" dirty="0"/>
          </a:p>
        </p:txBody>
      </p:sp>
      <p:sp>
        <p:nvSpPr>
          <p:cNvPr id="29" name="Text 27"/>
          <p:cNvSpPr/>
          <p:nvPr/>
        </p:nvSpPr>
        <p:spPr>
          <a:xfrm>
            <a:off x="777240" y="5705856"/>
            <a:ext cx="2926080" cy="530352"/>
          </a:xfrm>
          <a:prstGeom prst="rect">
            <a:avLst/>
          </a:prstGeom>
          <a:noFill/>
          <a:ln/>
        </p:spPr>
        <p:txBody>
          <a:bodyPr wrap="square" rtlCol="0" anchor="ctr"/>
          <a:lstStyle/>
          <a:p>
            <a:pPr marL="0" indent="0">
              <a:buNone/>
            </a:pPr>
            <a:endParaRPr lang="en-US" sz="1250" dirty="0"/>
          </a:p>
        </p:txBody>
      </p:sp>
      <p:sp>
        <p:nvSpPr>
          <p:cNvPr id="31" name="Shape 29"/>
          <p:cNvSpPr/>
          <p:nvPr/>
        </p:nvSpPr>
        <p:spPr>
          <a:xfrm>
            <a:off x="7315200" y="1463040"/>
            <a:ext cx="4297680" cy="4773168"/>
          </a:xfrm>
          <a:prstGeom prst="roundRect">
            <a:avLst>
              <a:gd name="adj" fmla="val 1489"/>
            </a:avLst>
          </a:prstGeom>
          <a:solidFill>
            <a:srgbClr val="142850"/>
          </a:solidFill>
          <a:ln/>
        </p:spPr>
        <p:txBody>
          <a:bodyPr/>
          <a:lstStyle/>
          <a:p>
            <a:endParaRPr lang="en-IN" dirty="0"/>
          </a:p>
        </p:txBody>
      </p:sp>
      <p:sp>
        <p:nvSpPr>
          <p:cNvPr id="32" name="Text 30"/>
          <p:cNvSpPr/>
          <p:nvPr/>
        </p:nvSpPr>
        <p:spPr>
          <a:xfrm>
            <a:off x="7589520" y="1691640"/>
            <a:ext cx="3749040" cy="320040"/>
          </a:xfrm>
          <a:prstGeom prst="rect">
            <a:avLst/>
          </a:prstGeom>
          <a:noFill/>
          <a:ln/>
        </p:spPr>
        <p:txBody>
          <a:bodyPr wrap="square" rtlCol="0" anchor="ctr"/>
          <a:lstStyle/>
          <a:p>
            <a:pPr marL="0" indent="0">
              <a:buNone/>
            </a:pPr>
            <a:r>
              <a:rPr lang="en-US" sz="1200" b="1" kern="0" spc="150" dirty="0">
                <a:solidFill>
                  <a:srgbClr val="E8871E"/>
                </a:solidFill>
                <a:latin typeface="Calibri" pitchFamily="34" charset="0"/>
                <a:ea typeface="Calibri" pitchFamily="34" charset="-122"/>
                <a:cs typeface="Calibri" pitchFamily="34" charset="-120"/>
              </a:rPr>
              <a:t>STAR-SCHEMA MODEL</a:t>
            </a:r>
            <a:endParaRPr lang="en-US" sz="1200" dirty="0"/>
          </a:p>
        </p:txBody>
      </p:sp>
      <p:sp>
        <p:nvSpPr>
          <p:cNvPr id="33" name="Text 31"/>
          <p:cNvSpPr/>
          <p:nvPr/>
        </p:nvSpPr>
        <p:spPr>
          <a:xfrm>
            <a:off x="7589520" y="2057400"/>
            <a:ext cx="3749040" cy="365760"/>
          </a:xfrm>
          <a:prstGeom prst="rect">
            <a:avLst/>
          </a:prstGeom>
          <a:noFill/>
          <a:ln/>
        </p:spPr>
        <p:txBody>
          <a:bodyPr wrap="square" rtlCol="0" anchor="ctr"/>
          <a:lstStyle/>
          <a:p>
            <a:pPr marL="0" indent="0">
              <a:buNone/>
            </a:pPr>
            <a:r>
              <a:rPr lang="en-US" sz="1800" b="1" dirty="0" err="1">
                <a:solidFill>
                  <a:srgbClr val="FFFFFF"/>
                </a:solidFill>
                <a:latin typeface="Cambria" pitchFamily="34" charset="0"/>
                <a:ea typeface="Cambria" pitchFamily="34" charset="-122"/>
                <a:cs typeface="Cambria" pitchFamily="34" charset="-120"/>
              </a:rPr>
              <a:t>Fact_</a:t>
            </a:r>
            <a:r>
              <a:rPr lang="en-US" b="1" dirty="0" err="1">
                <a:solidFill>
                  <a:srgbClr val="FFFFFF"/>
                </a:solidFill>
                <a:latin typeface="Cambria" pitchFamily="34" charset="0"/>
                <a:ea typeface="Cambria" pitchFamily="34" charset="-122"/>
                <a:cs typeface="Cambria" pitchFamily="34" charset="-120"/>
              </a:rPr>
              <a:t>Booking</a:t>
            </a:r>
            <a:endParaRPr lang="en-US" sz="1800" dirty="0"/>
          </a:p>
        </p:txBody>
      </p:sp>
      <p:sp>
        <p:nvSpPr>
          <p:cNvPr id="34" name="Shape 32"/>
          <p:cNvSpPr/>
          <p:nvPr/>
        </p:nvSpPr>
        <p:spPr>
          <a:xfrm>
            <a:off x="7635240" y="2679192"/>
            <a:ext cx="91440" cy="91440"/>
          </a:xfrm>
          <a:prstGeom prst="ellipse">
            <a:avLst/>
          </a:prstGeom>
          <a:solidFill>
            <a:srgbClr val="0E7C86"/>
          </a:solidFill>
          <a:ln/>
        </p:spPr>
        <p:txBody>
          <a:bodyPr/>
          <a:lstStyle/>
          <a:p>
            <a:endParaRPr lang="en-IN"/>
          </a:p>
        </p:txBody>
      </p:sp>
      <p:sp>
        <p:nvSpPr>
          <p:cNvPr id="35" name="Text 33"/>
          <p:cNvSpPr/>
          <p:nvPr/>
        </p:nvSpPr>
        <p:spPr>
          <a:xfrm>
            <a:off x="7863840" y="2606040"/>
            <a:ext cx="3383280" cy="365760"/>
          </a:xfrm>
          <a:prstGeom prst="rect">
            <a:avLst/>
          </a:prstGeom>
          <a:noFill/>
          <a:ln/>
        </p:spPr>
        <p:txBody>
          <a:bodyPr wrap="square" rtlCol="0" anchor="ctr"/>
          <a:lstStyle/>
          <a:p>
            <a:pPr marL="0" indent="0">
              <a:buNone/>
            </a:pPr>
            <a:r>
              <a:rPr lang="en-US" sz="1250" dirty="0" err="1">
                <a:solidFill>
                  <a:srgbClr val="DCEEF0"/>
                </a:solidFill>
                <a:latin typeface="Calibri" pitchFamily="34" charset="0"/>
                <a:ea typeface="Calibri" pitchFamily="34" charset="-122"/>
                <a:cs typeface="Calibri" pitchFamily="34" charset="-120"/>
              </a:rPr>
              <a:t>Dim_date</a:t>
            </a:r>
            <a:endParaRPr lang="en-US" sz="1250" dirty="0"/>
          </a:p>
        </p:txBody>
      </p:sp>
      <p:sp>
        <p:nvSpPr>
          <p:cNvPr id="36" name="Shape 34"/>
          <p:cNvSpPr/>
          <p:nvPr/>
        </p:nvSpPr>
        <p:spPr>
          <a:xfrm>
            <a:off x="7635240" y="3182112"/>
            <a:ext cx="91440" cy="91440"/>
          </a:xfrm>
          <a:prstGeom prst="ellipse">
            <a:avLst/>
          </a:prstGeom>
          <a:solidFill>
            <a:srgbClr val="0E7C86"/>
          </a:solidFill>
          <a:ln/>
        </p:spPr>
        <p:txBody>
          <a:bodyPr/>
          <a:lstStyle/>
          <a:p>
            <a:endParaRPr lang="en-IN"/>
          </a:p>
        </p:txBody>
      </p:sp>
      <p:sp>
        <p:nvSpPr>
          <p:cNvPr id="37" name="Text 35"/>
          <p:cNvSpPr/>
          <p:nvPr/>
        </p:nvSpPr>
        <p:spPr>
          <a:xfrm>
            <a:off x="7863840" y="3108960"/>
            <a:ext cx="3383280" cy="365760"/>
          </a:xfrm>
          <a:prstGeom prst="rect">
            <a:avLst/>
          </a:prstGeom>
          <a:noFill/>
          <a:ln/>
        </p:spPr>
        <p:txBody>
          <a:bodyPr wrap="square" rtlCol="0" anchor="ctr"/>
          <a:lstStyle/>
          <a:p>
            <a:pPr marL="0" indent="0">
              <a:buNone/>
            </a:pPr>
            <a:r>
              <a:rPr lang="en-US" sz="1250" dirty="0" err="1">
                <a:solidFill>
                  <a:srgbClr val="DCEEF0"/>
                </a:solidFill>
                <a:latin typeface="Calibri" pitchFamily="34" charset="0"/>
                <a:ea typeface="Calibri" pitchFamily="34" charset="-122"/>
                <a:cs typeface="Calibri" pitchFamily="34" charset="-120"/>
              </a:rPr>
              <a:t>Dim_hotels</a:t>
            </a:r>
            <a:endParaRPr lang="en-US" sz="1250" dirty="0"/>
          </a:p>
        </p:txBody>
      </p:sp>
      <p:sp>
        <p:nvSpPr>
          <p:cNvPr id="38" name="Shape 36"/>
          <p:cNvSpPr/>
          <p:nvPr/>
        </p:nvSpPr>
        <p:spPr>
          <a:xfrm>
            <a:off x="7635240" y="3685032"/>
            <a:ext cx="91440" cy="91440"/>
          </a:xfrm>
          <a:prstGeom prst="ellipse">
            <a:avLst/>
          </a:prstGeom>
          <a:solidFill>
            <a:srgbClr val="0E7C86"/>
          </a:solidFill>
          <a:ln/>
        </p:spPr>
        <p:txBody>
          <a:bodyPr/>
          <a:lstStyle/>
          <a:p>
            <a:endParaRPr lang="en-IN"/>
          </a:p>
        </p:txBody>
      </p:sp>
      <p:sp>
        <p:nvSpPr>
          <p:cNvPr id="39" name="Text 37"/>
          <p:cNvSpPr/>
          <p:nvPr/>
        </p:nvSpPr>
        <p:spPr>
          <a:xfrm>
            <a:off x="7863840" y="3611880"/>
            <a:ext cx="3383280" cy="365760"/>
          </a:xfrm>
          <a:prstGeom prst="rect">
            <a:avLst/>
          </a:prstGeom>
          <a:noFill/>
          <a:ln/>
        </p:spPr>
        <p:txBody>
          <a:bodyPr wrap="square" rtlCol="0" anchor="ctr"/>
          <a:lstStyle/>
          <a:p>
            <a:pPr marL="0" indent="0">
              <a:buNone/>
            </a:pPr>
            <a:r>
              <a:rPr lang="en-US" sz="1250" dirty="0" err="1">
                <a:solidFill>
                  <a:srgbClr val="DCEEF0"/>
                </a:solidFill>
                <a:latin typeface="Calibri" pitchFamily="34" charset="0"/>
                <a:ea typeface="Calibri" pitchFamily="34" charset="-122"/>
                <a:cs typeface="Calibri" pitchFamily="34" charset="-120"/>
              </a:rPr>
              <a:t>Dim_rooms</a:t>
            </a:r>
            <a:endParaRPr lang="en-US" sz="1250" dirty="0"/>
          </a:p>
        </p:txBody>
      </p:sp>
      <p:sp>
        <p:nvSpPr>
          <p:cNvPr id="41" name="Text 39"/>
          <p:cNvSpPr/>
          <p:nvPr/>
        </p:nvSpPr>
        <p:spPr>
          <a:xfrm>
            <a:off x="7863840" y="4114800"/>
            <a:ext cx="3383280" cy="365760"/>
          </a:xfrm>
          <a:prstGeom prst="rect">
            <a:avLst/>
          </a:prstGeom>
          <a:noFill/>
          <a:ln/>
        </p:spPr>
        <p:txBody>
          <a:bodyPr wrap="square" rtlCol="0" anchor="ctr"/>
          <a:lstStyle/>
          <a:p>
            <a:pPr marL="0" indent="0">
              <a:buNone/>
            </a:pPr>
            <a:endParaRPr lang="en-US" sz="1250" dirty="0"/>
          </a:p>
        </p:txBody>
      </p:sp>
      <p:sp>
        <p:nvSpPr>
          <p:cNvPr id="43" name="Text 41"/>
          <p:cNvSpPr/>
          <p:nvPr/>
        </p:nvSpPr>
        <p:spPr>
          <a:xfrm>
            <a:off x="7863840" y="4617720"/>
            <a:ext cx="3383280" cy="365760"/>
          </a:xfrm>
          <a:prstGeom prst="rect">
            <a:avLst/>
          </a:prstGeom>
          <a:noFill/>
          <a:ln/>
        </p:spPr>
        <p:txBody>
          <a:bodyPr wrap="square" rtlCol="0" anchor="ctr"/>
          <a:lstStyle/>
          <a:p>
            <a:pPr marL="0" indent="0">
              <a:buNone/>
            </a:pPr>
            <a:endParaRPr lang="en-US" sz="1250" dirty="0"/>
          </a:p>
        </p:txBody>
      </p:sp>
      <p:sp>
        <p:nvSpPr>
          <p:cNvPr id="45" name="Text 43"/>
          <p:cNvSpPr/>
          <p:nvPr/>
        </p:nvSpPr>
        <p:spPr>
          <a:xfrm>
            <a:off x="7863840" y="5120640"/>
            <a:ext cx="3383280" cy="365760"/>
          </a:xfrm>
          <a:prstGeom prst="rect">
            <a:avLst/>
          </a:prstGeom>
          <a:noFill/>
          <a:ln/>
        </p:spPr>
        <p:txBody>
          <a:bodyPr wrap="square" rtlCol="0" anchor="ctr"/>
          <a:lstStyle/>
          <a:p>
            <a:pPr marL="0" indent="0">
              <a:buNone/>
            </a:pPr>
            <a:endParaRPr lang="en-US" sz="1250" dirty="0"/>
          </a:p>
        </p:txBody>
      </p:sp>
      <p:sp>
        <p:nvSpPr>
          <p:cNvPr id="46" name="Text 44"/>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
        <p:nvSpPr>
          <p:cNvPr id="49" name="Shape 0">
            <a:extLst>
              <a:ext uri="{FF2B5EF4-FFF2-40B4-BE49-F238E27FC236}">
                <a16:creationId xmlns:a16="http://schemas.microsoft.com/office/drawing/2014/main" id="{7398CC17-0BF9-7349-9946-E191B36A7256}"/>
              </a:ext>
            </a:extLst>
          </p:cNvPr>
          <p:cNvSpPr/>
          <p:nvPr/>
        </p:nvSpPr>
        <p:spPr>
          <a:xfrm>
            <a:off x="9966960" y="-1005840"/>
            <a:ext cx="3840480" cy="3840480"/>
          </a:xfrm>
          <a:prstGeom prst="ellipse">
            <a:avLst/>
          </a:prstGeom>
          <a:solidFill>
            <a:srgbClr val="0E7C86">
              <a:alpha val="22000"/>
            </a:srgbClr>
          </a:solidFill>
          <a:ln/>
        </p:spPr>
        <p:txBody>
          <a:bodyPr/>
          <a:lstStyle/>
          <a:p>
            <a:endParaRPr lang="en-IN"/>
          </a:p>
        </p:txBody>
      </p:sp>
      <p:sp>
        <p:nvSpPr>
          <p:cNvPr id="51" name="Shape 1">
            <a:extLst>
              <a:ext uri="{FF2B5EF4-FFF2-40B4-BE49-F238E27FC236}">
                <a16:creationId xmlns:a16="http://schemas.microsoft.com/office/drawing/2014/main" id="{22BAEB59-612F-0EBB-6F0A-4FE775EDB054}"/>
              </a:ext>
            </a:extLst>
          </p:cNvPr>
          <p:cNvSpPr/>
          <p:nvPr/>
        </p:nvSpPr>
        <p:spPr>
          <a:xfrm>
            <a:off x="10972800" y="4206240"/>
            <a:ext cx="2743200" cy="2743200"/>
          </a:xfrm>
          <a:prstGeom prst="ellipse">
            <a:avLst/>
          </a:prstGeom>
          <a:solidFill>
            <a:srgbClr val="E8871E">
              <a:alpha val="20000"/>
            </a:srgbClr>
          </a:solidFill>
          <a:ln/>
        </p:spPr>
        <p:txBody>
          <a:bodyPr/>
          <a:lstStyle/>
          <a:p>
            <a:endParaRPr lang="en-IN"/>
          </a:p>
        </p:txBody>
      </p:sp>
      <p:sp>
        <p:nvSpPr>
          <p:cNvPr id="48" name="TextBox 47">
            <a:extLst>
              <a:ext uri="{FF2B5EF4-FFF2-40B4-BE49-F238E27FC236}">
                <a16:creationId xmlns:a16="http://schemas.microsoft.com/office/drawing/2014/main" id="{CE25AFBF-05F8-5E40-E453-F79CD6A7D7A4}"/>
              </a:ext>
            </a:extLst>
          </p:cNvPr>
          <p:cNvSpPr txBox="1"/>
          <p:nvPr/>
        </p:nvSpPr>
        <p:spPr>
          <a:xfrm>
            <a:off x="7589520" y="4206240"/>
            <a:ext cx="3657600" cy="584775"/>
          </a:xfrm>
          <a:prstGeom prst="rect">
            <a:avLst/>
          </a:prstGeom>
          <a:noFill/>
        </p:spPr>
        <p:txBody>
          <a:bodyPr wrap="square" rtlCol="0">
            <a:spAutoFit/>
          </a:bodyPr>
          <a:lstStyle/>
          <a:p>
            <a:r>
              <a:rPr lang="en-IN" sz="1600" dirty="0">
                <a:solidFill>
                  <a:schemeClr val="bg1"/>
                </a:solidFill>
                <a:latin typeface="Cambria" panose="02040503050406030204" pitchFamily="18" charset="0"/>
                <a:ea typeface="Cambria" panose="02040503050406030204" pitchFamily="18" charset="0"/>
              </a:rPr>
              <a:t>Fact Aggregated Bookings — Booking Performance &amp; Capacity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HOSPITALITY ANALYTICS DATA MODELING</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Star-schema relationships linking the Booking fact table to three dimension tables</a:t>
            </a:r>
            <a:endParaRPr lang="en-US" sz="1300" dirty="0"/>
          </a:p>
        </p:txBody>
      </p:sp>
      <p:sp>
        <p:nvSpPr>
          <p:cNvPr id="90" name="ImageCard"/>
          <p:cNvSpPr/>
          <p:nvPr/>
        </p:nvSpPr>
        <p:spPr>
          <a:xfrm>
            <a:off x="1046480" y="1493520"/>
            <a:ext cx="10099040" cy="4400000"/>
          </a:xfrm>
          <a:prstGeom prst="roundRect">
            <a:avLst>
              <a:gd name="adj" fmla="val 3000"/>
            </a:avLst>
          </a:prstGeom>
          <a:solidFill>
            <a:srgbClr val="F7F9FC"/>
          </a:solidFill>
          <a:ln w="9525">
            <a:solidFill>
              <a:srgbClr val="E2E8F0"/>
            </a:solidFill>
          </a:ln>
          <a:effectLst>
            <a:outerShdw blurRad="90000" dist="30000" dir="5400000" rotWithShape="0">
              <a:srgbClr val="142850">
                <a:alpha val="16000"/>
              </a:srgbClr>
            </a:outerShdw>
          </a:effectLst>
        </p:spPr>
        <p:txBody>
          <a:bodyPr/>
          <a:lstStyle/>
          <a:p>
            <a:endParaRPr lang="en-US"/>
          </a:p>
        </p:txBody>
      </p:sp>
      <p:sp>
        <p:nvSpPr>
          <p:cNvPr id="92" name="ChipFact"/>
          <p:cNvSpPr/>
          <p:nvPr/>
        </p:nvSpPr>
        <p:spPr>
          <a:xfrm>
            <a:off x="1246480" y="6031000"/>
            <a:ext cx="2286000" cy="365760"/>
          </a:xfrm>
          <a:prstGeom prst="roundRect">
            <a:avLst>
              <a:gd name="adj" fmla="val 50000"/>
            </a:avLst>
          </a:prstGeom>
          <a:solidFill>
            <a:srgbClr val="142850"/>
          </a:solidFill>
          <a:ln/>
        </p:spPr>
        <p:txBody>
          <a:bodyPr wrap="square" rtlCol="0" anchor="ctr"/>
          <a:lstStyle/>
          <a:p>
            <a:pPr marL="0" indent="0" algn="ctr">
              <a:buNone/>
            </a:pPr>
            <a:r>
              <a:rPr lang="en-US" sz="1100" b="1" dirty="0">
                <a:solidFill>
                  <a:srgbClr val="FFFFFF"/>
                </a:solidFill>
                <a:latin typeface="Calibri" pitchFamily="34" charset="0"/>
              </a:rPr>
              <a:t>2 Fact Table • Bookings</a:t>
            </a:r>
          </a:p>
        </p:txBody>
      </p:sp>
      <p:sp>
        <p:nvSpPr>
          <p:cNvPr id="93" name="ChipDim"/>
          <p:cNvSpPr/>
          <p:nvPr/>
        </p:nvSpPr>
        <p:spPr>
          <a:xfrm>
            <a:off x="3703040" y="6031000"/>
            <a:ext cx="2743200" cy="365760"/>
          </a:xfrm>
          <a:prstGeom prst="roundRect">
            <a:avLst>
              <a:gd name="adj" fmla="val 50000"/>
            </a:avLst>
          </a:prstGeom>
          <a:solidFill>
            <a:srgbClr val="E8871E"/>
          </a:solidFill>
          <a:ln/>
        </p:spPr>
        <p:txBody>
          <a:bodyPr wrap="square" rtlCol="0" anchor="ctr"/>
          <a:lstStyle/>
          <a:p>
            <a:pPr marL="0" indent="0" algn="ctr">
              <a:buNone/>
            </a:pPr>
            <a:r>
              <a:rPr lang="en-US" sz="1100" b="1" dirty="0">
                <a:solidFill>
                  <a:srgbClr val="FFFFFF"/>
                </a:solidFill>
                <a:latin typeface="Calibri" pitchFamily="34" charset="0"/>
              </a:rPr>
              <a:t>3 Dimension Tables</a:t>
            </a:r>
          </a:p>
        </p:txBody>
      </p:sp>
      <p:sp>
        <p:nvSpPr>
          <p:cNvPr id="94" name="ChipStar"/>
          <p:cNvSpPr/>
          <p:nvPr/>
        </p:nvSpPr>
        <p:spPr>
          <a:xfrm>
            <a:off x="6708920" y="6031000"/>
            <a:ext cx="2743200" cy="365760"/>
          </a:xfrm>
          <a:prstGeom prst="roundRect">
            <a:avLst>
              <a:gd name="adj" fmla="val 50000"/>
            </a:avLst>
          </a:prstGeom>
          <a:solidFill>
            <a:srgbClr val="0E7C86"/>
          </a:solidFill>
          <a:ln/>
        </p:spPr>
        <p:txBody>
          <a:bodyPr wrap="square" rtlCol="0" anchor="ctr"/>
          <a:lstStyle/>
          <a:p>
            <a:pPr marL="0" indent="0" algn="ctr">
              <a:buNone/>
            </a:pPr>
            <a:r>
              <a:rPr lang="en-US" sz="1100" b="1" dirty="0">
                <a:solidFill>
                  <a:srgbClr val="FFFFFF"/>
                </a:solidFill>
                <a:latin typeface="Calibri" pitchFamily="34" charset="0"/>
              </a:rPr>
              <a:t>Star-Schema Design</a:t>
            </a:r>
          </a:p>
        </p:txBody>
      </p:sp>
      <p:sp>
        <p:nvSpPr>
          <p:cNvPr id="46" name="Text 44"/>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
        <p:nvSpPr>
          <p:cNvPr id="5" name="Shape 0">
            <a:extLst>
              <a:ext uri="{FF2B5EF4-FFF2-40B4-BE49-F238E27FC236}">
                <a16:creationId xmlns:a16="http://schemas.microsoft.com/office/drawing/2014/main" id="{2F921A56-B759-EA6A-D2D1-8B8ED9F68DC1}"/>
              </a:ext>
            </a:extLst>
          </p:cNvPr>
          <p:cNvSpPr/>
          <p:nvPr/>
        </p:nvSpPr>
        <p:spPr>
          <a:xfrm>
            <a:off x="-2348865" y="-1005840"/>
            <a:ext cx="3840480" cy="3840480"/>
          </a:xfrm>
          <a:prstGeom prst="ellipse">
            <a:avLst/>
          </a:prstGeom>
          <a:solidFill>
            <a:srgbClr val="0E7C86">
              <a:alpha val="22000"/>
            </a:srgbClr>
          </a:solidFill>
          <a:ln/>
        </p:spPr>
        <p:txBody>
          <a:bodyPr/>
          <a:lstStyle/>
          <a:p>
            <a:endParaRPr lang="en-IN"/>
          </a:p>
        </p:txBody>
      </p:sp>
      <p:sp>
        <p:nvSpPr>
          <p:cNvPr id="7" name="Shape 1">
            <a:extLst>
              <a:ext uri="{FF2B5EF4-FFF2-40B4-BE49-F238E27FC236}">
                <a16:creationId xmlns:a16="http://schemas.microsoft.com/office/drawing/2014/main" id="{2C5184D6-3D92-EF47-36FE-52FE7B61E1A5}"/>
              </a:ext>
            </a:extLst>
          </p:cNvPr>
          <p:cNvSpPr/>
          <p:nvPr/>
        </p:nvSpPr>
        <p:spPr>
          <a:xfrm>
            <a:off x="10972800" y="91440"/>
            <a:ext cx="2743200" cy="2743200"/>
          </a:xfrm>
          <a:prstGeom prst="ellipse">
            <a:avLst/>
          </a:prstGeom>
          <a:solidFill>
            <a:srgbClr val="E8871E">
              <a:alpha val="20000"/>
            </a:srgbClr>
          </a:solidFill>
          <a:ln/>
        </p:spPr>
        <p:txBody>
          <a:bodyPr/>
          <a:lstStyle/>
          <a:p>
            <a:endParaRPr lang="en-IN"/>
          </a:p>
        </p:txBody>
      </p:sp>
      <p:sp>
        <p:nvSpPr>
          <p:cNvPr id="9" name="Shape 2">
            <a:extLst>
              <a:ext uri="{FF2B5EF4-FFF2-40B4-BE49-F238E27FC236}">
                <a16:creationId xmlns:a16="http://schemas.microsoft.com/office/drawing/2014/main" id="{FA4C734A-7AA7-AB98-BB85-FEEBE1E42908}"/>
              </a:ext>
            </a:extLst>
          </p:cNvPr>
          <p:cNvSpPr/>
          <p:nvPr/>
        </p:nvSpPr>
        <p:spPr>
          <a:xfrm>
            <a:off x="10999470" y="5120640"/>
            <a:ext cx="3108960" cy="3108960"/>
          </a:xfrm>
          <a:prstGeom prst="ellipse">
            <a:avLst/>
          </a:prstGeom>
          <a:solidFill>
            <a:srgbClr val="0E7C86">
              <a:alpha val="18000"/>
            </a:srgbClr>
          </a:solidFill>
          <a:ln/>
        </p:spPr>
        <p:txBody>
          <a:bodyPr/>
          <a:lstStyle/>
          <a:p>
            <a:endParaRPr lang="en-IN"/>
          </a:p>
        </p:txBody>
      </p:sp>
      <p:pic>
        <p:nvPicPr>
          <p:cNvPr id="6" name="Picture 5">
            <a:extLst>
              <a:ext uri="{FF2B5EF4-FFF2-40B4-BE49-F238E27FC236}">
                <a16:creationId xmlns:a16="http://schemas.microsoft.com/office/drawing/2014/main" id="{7696D20D-8143-0757-123A-A0DE0C45FDB4}"/>
              </a:ext>
            </a:extLst>
          </p:cNvPr>
          <p:cNvPicPr>
            <a:picLocks noChangeAspect="1"/>
          </p:cNvPicPr>
          <p:nvPr/>
        </p:nvPicPr>
        <p:blipFill>
          <a:blip r:embed="rId2"/>
          <a:stretch>
            <a:fillRect/>
          </a:stretch>
        </p:blipFill>
        <p:spPr>
          <a:xfrm>
            <a:off x="1197418" y="1577128"/>
            <a:ext cx="9802052" cy="419502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DATA PREPARATION</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Data Preparation — cleaning, validation &amp; formatting</a:t>
            </a:r>
            <a:endParaRPr lang="en-US" sz="1300" i="1" dirty="0">
              <a:solidFill>
                <a:srgbClr val="0E7C86"/>
              </a:solidFill>
            </a:endParaRPr>
          </a:p>
        </p:txBody>
      </p:sp>
      <p:sp>
        <p:nvSpPr>
          <p:cNvPr id="4" name="Shape 2"/>
          <p:cNvSpPr/>
          <p:nvPr/>
        </p:nvSpPr>
        <p:spPr>
          <a:xfrm>
            <a:off x="548640" y="1508760"/>
            <a:ext cx="3520440" cy="1965960"/>
          </a:xfrm>
          <a:prstGeom prst="roundRect">
            <a:avLst>
              <a:gd name="adj" fmla="val 3256"/>
            </a:avLst>
          </a:prstGeom>
          <a:solidFill>
            <a:srgbClr val="DCEEF0"/>
          </a:solidFill>
          <a:ln/>
        </p:spPr>
        <p:txBody>
          <a:bodyPr/>
          <a:lstStyle/>
          <a:p>
            <a:endParaRPr lang="en-IN"/>
          </a:p>
        </p:txBody>
      </p:sp>
      <p:sp>
        <p:nvSpPr>
          <p:cNvPr id="5" name="Shape 3"/>
          <p:cNvSpPr/>
          <p:nvPr/>
        </p:nvSpPr>
        <p:spPr>
          <a:xfrm>
            <a:off x="777240" y="1737360"/>
            <a:ext cx="457200" cy="457200"/>
          </a:xfrm>
          <a:prstGeom prst="ellipse">
            <a:avLst/>
          </a:prstGeom>
          <a:solidFill>
            <a:srgbClr val="0E7C86"/>
          </a:solidFill>
          <a:ln/>
        </p:spPr>
        <p:txBody>
          <a:bodyPr/>
          <a:lstStyle/>
          <a:p>
            <a:endParaRPr lang="en-IN"/>
          </a:p>
        </p:txBody>
      </p:sp>
      <p:sp>
        <p:nvSpPr>
          <p:cNvPr id="6" name="Text 4"/>
          <p:cNvSpPr/>
          <p:nvPr/>
        </p:nvSpPr>
        <p:spPr>
          <a:xfrm>
            <a:off x="77724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7724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rPr>
              <a:t>Data Cleaning</a:t>
            </a:r>
            <a:endParaRPr lang="en-US" sz="1400" dirty="0"/>
          </a:p>
        </p:txBody>
      </p:sp>
      <p:sp>
        <p:nvSpPr>
          <p:cNvPr id="8" name="Text 6"/>
          <p:cNvSpPr/>
          <p:nvPr/>
        </p:nvSpPr>
        <p:spPr>
          <a:xfrm>
            <a:off x="777240" y="2651760"/>
            <a:ext cx="3063240" cy="731520"/>
          </a:xfrm>
          <a:prstGeom prst="rect">
            <a:avLst/>
          </a:prstGeom>
          <a:noFill/>
          <a:ln/>
        </p:spPr>
        <p:txBody>
          <a:bodyPr wrap="square" rtlCol="0" anchor="ctr"/>
          <a:lstStyle/>
          <a:p>
            <a:r>
              <a:rPr lang="en-IN" sz="1100" dirty="0">
                <a:solidFill>
                  <a:schemeClr val="tx1">
                    <a:lumMod val="75000"/>
                    <a:lumOff val="25000"/>
                  </a:schemeClr>
                </a:solidFill>
              </a:rPr>
              <a:t>We removed duplicate and incorrect records and made the data ready for analysis.</a:t>
            </a:r>
            <a:endParaRPr lang="en-US" sz="1100" dirty="0">
              <a:solidFill>
                <a:schemeClr val="tx1">
                  <a:lumMod val="75000"/>
                  <a:lumOff val="25000"/>
                </a:schemeClr>
              </a:solidFill>
            </a:endParaRPr>
          </a:p>
        </p:txBody>
      </p:sp>
      <p:sp>
        <p:nvSpPr>
          <p:cNvPr id="9" name="Shape 7"/>
          <p:cNvSpPr/>
          <p:nvPr/>
        </p:nvSpPr>
        <p:spPr>
          <a:xfrm>
            <a:off x="4343400" y="1508760"/>
            <a:ext cx="3520440" cy="1965960"/>
          </a:xfrm>
          <a:prstGeom prst="roundRect">
            <a:avLst>
              <a:gd name="adj" fmla="val 3256"/>
            </a:avLst>
          </a:prstGeom>
          <a:solidFill>
            <a:srgbClr val="FCE6CC"/>
          </a:solidFill>
          <a:ln/>
        </p:spPr>
        <p:txBody>
          <a:bodyPr/>
          <a:lstStyle/>
          <a:p>
            <a:endParaRPr lang="en-IN"/>
          </a:p>
        </p:txBody>
      </p:sp>
      <p:sp>
        <p:nvSpPr>
          <p:cNvPr id="10" name="Shape 8"/>
          <p:cNvSpPr/>
          <p:nvPr/>
        </p:nvSpPr>
        <p:spPr>
          <a:xfrm>
            <a:off x="4572000" y="1737360"/>
            <a:ext cx="457200" cy="457200"/>
          </a:xfrm>
          <a:prstGeom prst="ellipse">
            <a:avLst/>
          </a:prstGeom>
          <a:solidFill>
            <a:srgbClr val="E8871E"/>
          </a:solidFill>
          <a:ln/>
        </p:spPr>
        <p:txBody>
          <a:bodyPr/>
          <a:lstStyle/>
          <a:p>
            <a:endParaRPr lang="en-IN"/>
          </a:p>
        </p:txBody>
      </p:sp>
      <p:sp>
        <p:nvSpPr>
          <p:cNvPr id="11" name="Text 9"/>
          <p:cNvSpPr/>
          <p:nvPr/>
        </p:nvSpPr>
        <p:spPr>
          <a:xfrm>
            <a:off x="457200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457200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rPr>
              <a:t>Data Validation</a:t>
            </a:r>
            <a:endParaRPr lang="en-US" sz="1400" dirty="0"/>
          </a:p>
        </p:txBody>
      </p:sp>
      <p:sp>
        <p:nvSpPr>
          <p:cNvPr id="13" name="Text 11"/>
          <p:cNvSpPr/>
          <p:nvPr/>
        </p:nvSpPr>
        <p:spPr>
          <a:xfrm>
            <a:off x="4572000" y="2651760"/>
            <a:ext cx="3063240" cy="731520"/>
          </a:xfrm>
          <a:prstGeom prst="rect">
            <a:avLst/>
          </a:prstGeom>
          <a:noFill/>
          <a:ln/>
        </p:spPr>
        <p:txBody>
          <a:bodyPr wrap="square" rtlCol="0" anchor="ctr"/>
          <a:lstStyle/>
          <a:p>
            <a:r>
              <a:rPr lang="en-IN" sz="1100" dirty="0">
                <a:solidFill>
                  <a:schemeClr val="tx1">
                    <a:lumMod val="75000"/>
                    <a:lumOff val="25000"/>
                  </a:schemeClr>
                </a:solidFill>
              </a:rPr>
              <a:t>We checked for missing values, duplicates, and any data errors.</a:t>
            </a:r>
            <a:endParaRPr lang="en-US" sz="1100" dirty="0">
              <a:solidFill>
                <a:schemeClr val="tx1">
                  <a:lumMod val="75000"/>
                  <a:lumOff val="25000"/>
                </a:schemeClr>
              </a:solidFill>
            </a:endParaRPr>
          </a:p>
        </p:txBody>
      </p:sp>
      <p:sp>
        <p:nvSpPr>
          <p:cNvPr id="14" name="Shape 12"/>
          <p:cNvSpPr/>
          <p:nvPr/>
        </p:nvSpPr>
        <p:spPr>
          <a:xfrm>
            <a:off x="8138160" y="1508760"/>
            <a:ext cx="3520440" cy="1965960"/>
          </a:xfrm>
          <a:prstGeom prst="roundRect">
            <a:avLst>
              <a:gd name="adj" fmla="val 3256"/>
            </a:avLst>
          </a:prstGeom>
          <a:solidFill>
            <a:srgbClr val="DCEEF0"/>
          </a:solidFill>
          <a:ln/>
        </p:spPr>
        <p:txBody>
          <a:bodyPr/>
          <a:lstStyle/>
          <a:p>
            <a:endParaRPr lang="en-IN"/>
          </a:p>
        </p:txBody>
      </p:sp>
      <p:sp>
        <p:nvSpPr>
          <p:cNvPr id="15" name="Shape 13"/>
          <p:cNvSpPr/>
          <p:nvPr/>
        </p:nvSpPr>
        <p:spPr>
          <a:xfrm>
            <a:off x="8366760" y="1737360"/>
            <a:ext cx="457200" cy="457200"/>
          </a:xfrm>
          <a:prstGeom prst="ellipse">
            <a:avLst/>
          </a:prstGeom>
          <a:solidFill>
            <a:srgbClr val="0E7C86"/>
          </a:solidFill>
          <a:ln/>
        </p:spPr>
        <p:txBody>
          <a:bodyPr/>
          <a:lstStyle/>
          <a:p>
            <a:endParaRPr lang="en-IN"/>
          </a:p>
        </p:txBody>
      </p:sp>
      <p:sp>
        <p:nvSpPr>
          <p:cNvPr id="16" name="Text 14"/>
          <p:cNvSpPr/>
          <p:nvPr/>
        </p:nvSpPr>
        <p:spPr>
          <a:xfrm>
            <a:off x="836676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366760" y="2331720"/>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cs typeface="Cambria" pitchFamily="34" charset="-120"/>
              </a:rPr>
              <a:t>Date Types</a:t>
            </a:r>
            <a:endParaRPr lang="en-US" sz="1400" dirty="0"/>
          </a:p>
        </p:txBody>
      </p:sp>
      <p:sp>
        <p:nvSpPr>
          <p:cNvPr id="18" name="Text 16"/>
          <p:cNvSpPr/>
          <p:nvPr/>
        </p:nvSpPr>
        <p:spPr>
          <a:xfrm>
            <a:off x="8366760" y="2651760"/>
            <a:ext cx="3063240" cy="731520"/>
          </a:xfrm>
          <a:prstGeom prst="rect">
            <a:avLst/>
          </a:prstGeom>
          <a:noFill/>
          <a:ln/>
        </p:spPr>
        <p:txBody>
          <a:bodyPr wrap="square" rtlCol="0" anchor="ctr"/>
          <a:lstStyle/>
          <a:p>
            <a:r>
              <a:rPr lang="en-IN" sz="1100" dirty="0">
                <a:solidFill>
                  <a:srgbClr val="1F2937"/>
                </a:solidFill>
              </a:rPr>
              <a:t>We Checked and corrected data types for dates, numbers and text fields for accurate analysis.</a:t>
            </a:r>
            <a:endParaRPr lang="en-US" sz="1100" dirty="0">
              <a:solidFill>
                <a:srgbClr val="1F2937"/>
              </a:solidFill>
            </a:endParaRPr>
          </a:p>
        </p:txBody>
      </p:sp>
      <p:sp>
        <p:nvSpPr>
          <p:cNvPr id="19" name="Shape 17"/>
          <p:cNvSpPr/>
          <p:nvPr/>
        </p:nvSpPr>
        <p:spPr>
          <a:xfrm>
            <a:off x="548640" y="3730752"/>
            <a:ext cx="3520440" cy="1965960"/>
          </a:xfrm>
          <a:prstGeom prst="roundRect">
            <a:avLst>
              <a:gd name="adj" fmla="val 3256"/>
            </a:avLst>
          </a:prstGeom>
          <a:solidFill>
            <a:srgbClr val="FCE6CC"/>
          </a:solidFill>
          <a:ln/>
        </p:spPr>
        <p:txBody>
          <a:bodyPr/>
          <a:lstStyle/>
          <a:p>
            <a:endParaRPr lang="en-IN"/>
          </a:p>
        </p:txBody>
      </p:sp>
      <p:sp>
        <p:nvSpPr>
          <p:cNvPr id="20" name="Shape 18"/>
          <p:cNvSpPr/>
          <p:nvPr/>
        </p:nvSpPr>
        <p:spPr>
          <a:xfrm>
            <a:off x="777240" y="3959352"/>
            <a:ext cx="457200" cy="457200"/>
          </a:xfrm>
          <a:prstGeom prst="ellipse">
            <a:avLst/>
          </a:prstGeom>
          <a:solidFill>
            <a:srgbClr val="E8871E"/>
          </a:solidFill>
          <a:ln/>
        </p:spPr>
        <p:txBody>
          <a:bodyPr/>
          <a:lstStyle/>
          <a:p>
            <a:endParaRPr lang="en-IN"/>
          </a:p>
        </p:txBody>
      </p:sp>
      <p:sp>
        <p:nvSpPr>
          <p:cNvPr id="21" name="Text 19"/>
          <p:cNvSpPr/>
          <p:nvPr/>
        </p:nvSpPr>
        <p:spPr>
          <a:xfrm>
            <a:off x="77724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7724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rPr>
              <a:t>Date Fields</a:t>
            </a:r>
            <a:endParaRPr lang="en-US" sz="1400" dirty="0"/>
          </a:p>
        </p:txBody>
      </p:sp>
      <p:sp>
        <p:nvSpPr>
          <p:cNvPr id="23" name="Text 21"/>
          <p:cNvSpPr/>
          <p:nvPr/>
        </p:nvSpPr>
        <p:spPr>
          <a:xfrm>
            <a:off x="777240" y="4873752"/>
            <a:ext cx="3063240" cy="731520"/>
          </a:xfrm>
          <a:prstGeom prst="rect">
            <a:avLst/>
          </a:prstGeom>
          <a:noFill/>
          <a:ln/>
        </p:spPr>
        <p:txBody>
          <a:bodyPr wrap="square" rtlCol="0" anchor="ctr"/>
          <a:lstStyle/>
          <a:p>
            <a:r>
              <a:rPr lang="en-IN" sz="1100" dirty="0">
                <a:solidFill>
                  <a:schemeClr val="tx1">
                    <a:lumMod val="75000"/>
                    <a:lumOff val="25000"/>
                  </a:schemeClr>
                </a:solidFill>
              </a:rPr>
              <a:t>We</a:t>
            </a:r>
            <a:r>
              <a:rPr lang="en-IN" sz="1100" dirty="0"/>
              <a:t> </a:t>
            </a:r>
            <a:r>
              <a:rPr lang="en-IN" sz="1100" dirty="0">
                <a:solidFill>
                  <a:srgbClr val="1F2937"/>
                </a:solidFill>
              </a:rPr>
              <a:t>Used check-in dates and week numbers to </a:t>
            </a:r>
            <a:r>
              <a:rPr lang="en-IN" sz="1100" dirty="0" err="1">
                <a:solidFill>
                  <a:srgbClr val="1F2937"/>
                </a:solidFill>
              </a:rPr>
              <a:t>analyze</a:t>
            </a:r>
            <a:r>
              <a:rPr lang="en-IN" sz="1100" dirty="0">
                <a:solidFill>
                  <a:srgbClr val="1F2937"/>
                </a:solidFill>
              </a:rPr>
              <a:t> weekly booking and revenue trends.</a:t>
            </a:r>
            <a:endParaRPr lang="en-US" sz="1100" dirty="0">
              <a:solidFill>
                <a:srgbClr val="1F2937"/>
              </a:solidFill>
            </a:endParaRPr>
          </a:p>
        </p:txBody>
      </p:sp>
      <p:sp>
        <p:nvSpPr>
          <p:cNvPr id="24" name="Shape 22"/>
          <p:cNvSpPr/>
          <p:nvPr/>
        </p:nvSpPr>
        <p:spPr>
          <a:xfrm>
            <a:off x="4343400" y="3730752"/>
            <a:ext cx="3520440" cy="1965960"/>
          </a:xfrm>
          <a:prstGeom prst="roundRect">
            <a:avLst>
              <a:gd name="adj" fmla="val 3256"/>
            </a:avLst>
          </a:prstGeom>
          <a:solidFill>
            <a:srgbClr val="DCEEF0"/>
          </a:solidFill>
          <a:ln/>
        </p:spPr>
        <p:txBody>
          <a:bodyPr/>
          <a:lstStyle/>
          <a:p>
            <a:endParaRPr lang="en-IN"/>
          </a:p>
        </p:txBody>
      </p:sp>
      <p:sp>
        <p:nvSpPr>
          <p:cNvPr id="25" name="Shape 23"/>
          <p:cNvSpPr/>
          <p:nvPr/>
        </p:nvSpPr>
        <p:spPr>
          <a:xfrm>
            <a:off x="4572000" y="3959352"/>
            <a:ext cx="457200" cy="457200"/>
          </a:xfrm>
          <a:prstGeom prst="ellipse">
            <a:avLst/>
          </a:prstGeom>
          <a:solidFill>
            <a:srgbClr val="0E7C86"/>
          </a:solidFill>
          <a:ln/>
        </p:spPr>
        <p:txBody>
          <a:bodyPr/>
          <a:lstStyle/>
          <a:p>
            <a:endParaRPr lang="en-IN"/>
          </a:p>
        </p:txBody>
      </p:sp>
      <p:sp>
        <p:nvSpPr>
          <p:cNvPr id="26" name="Text 24"/>
          <p:cNvSpPr/>
          <p:nvPr/>
        </p:nvSpPr>
        <p:spPr>
          <a:xfrm>
            <a:off x="457200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457200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rPr>
              <a:t>Data Organization</a:t>
            </a:r>
            <a:endParaRPr lang="en-US" sz="1400" dirty="0"/>
          </a:p>
        </p:txBody>
      </p:sp>
      <p:sp>
        <p:nvSpPr>
          <p:cNvPr id="28" name="Text 26"/>
          <p:cNvSpPr/>
          <p:nvPr/>
        </p:nvSpPr>
        <p:spPr>
          <a:xfrm>
            <a:off x="4572000" y="4873752"/>
            <a:ext cx="3063240" cy="731520"/>
          </a:xfrm>
          <a:prstGeom prst="rect">
            <a:avLst/>
          </a:prstGeom>
          <a:noFill/>
          <a:ln/>
        </p:spPr>
        <p:txBody>
          <a:bodyPr wrap="square" rtlCol="0" anchor="ctr"/>
          <a:lstStyle/>
          <a:p>
            <a:r>
              <a:rPr lang="en-IN" sz="1100" dirty="0">
                <a:solidFill>
                  <a:srgbClr val="1F2937"/>
                </a:solidFill>
              </a:rPr>
              <a:t>We Organized the data into fact and dimension tables for easier SQL analysis.</a:t>
            </a:r>
            <a:endParaRPr lang="en-US" sz="1100" dirty="0">
              <a:solidFill>
                <a:srgbClr val="1F2937"/>
              </a:solidFill>
            </a:endParaRPr>
          </a:p>
        </p:txBody>
      </p:sp>
      <p:sp>
        <p:nvSpPr>
          <p:cNvPr id="29" name="Shape 27"/>
          <p:cNvSpPr/>
          <p:nvPr/>
        </p:nvSpPr>
        <p:spPr>
          <a:xfrm>
            <a:off x="8138160" y="3730752"/>
            <a:ext cx="3520440" cy="1965960"/>
          </a:xfrm>
          <a:prstGeom prst="roundRect">
            <a:avLst>
              <a:gd name="adj" fmla="val 3256"/>
            </a:avLst>
          </a:prstGeom>
          <a:solidFill>
            <a:srgbClr val="FCE6CC"/>
          </a:solidFill>
          <a:ln/>
        </p:spPr>
        <p:txBody>
          <a:bodyPr/>
          <a:lstStyle/>
          <a:p>
            <a:endParaRPr lang="en-IN"/>
          </a:p>
        </p:txBody>
      </p:sp>
      <p:sp>
        <p:nvSpPr>
          <p:cNvPr id="30" name="Shape 28"/>
          <p:cNvSpPr/>
          <p:nvPr/>
        </p:nvSpPr>
        <p:spPr>
          <a:xfrm>
            <a:off x="8366760" y="3959352"/>
            <a:ext cx="457200" cy="457200"/>
          </a:xfrm>
          <a:prstGeom prst="ellipse">
            <a:avLst/>
          </a:prstGeom>
          <a:solidFill>
            <a:srgbClr val="E8871E"/>
          </a:solidFill>
          <a:ln/>
        </p:spPr>
        <p:txBody>
          <a:bodyPr/>
          <a:lstStyle/>
          <a:p>
            <a:endParaRPr lang="en-IN"/>
          </a:p>
        </p:txBody>
      </p:sp>
      <p:sp>
        <p:nvSpPr>
          <p:cNvPr id="31" name="Text 29"/>
          <p:cNvSpPr/>
          <p:nvPr/>
        </p:nvSpPr>
        <p:spPr>
          <a:xfrm>
            <a:off x="836676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8366760" y="4553712"/>
            <a:ext cx="306324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ea typeface="Cambria" pitchFamily="34" charset="-122"/>
              </a:rPr>
              <a:t>KPI Preparation</a:t>
            </a:r>
            <a:endParaRPr lang="en-US" sz="1400" dirty="0"/>
          </a:p>
        </p:txBody>
      </p:sp>
      <p:sp>
        <p:nvSpPr>
          <p:cNvPr id="33" name="Text 31"/>
          <p:cNvSpPr/>
          <p:nvPr/>
        </p:nvSpPr>
        <p:spPr>
          <a:xfrm>
            <a:off x="8366760" y="4873752"/>
            <a:ext cx="3063240" cy="731520"/>
          </a:xfrm>
          <a:prstGeom prst="rect">
            <a:avLst/>
          </a:prstGeom>
          <a:noFill/>
          <a:ln/>
        </p:spPr>
        <p:txBody>
          <a:bodyPr wrap="square" rtlCol="0" anchor="ctr"/>
          <a:lstStyle/>
          <a:p>
            <a:r>
              <a:rPr lang="en-IN" sz="1100" dirty="0">
                <a:solidFill>
                  <a:srgbClr val="1F2937"/>
                </a:solidFill>
              </a:rPr>
              <a:t>We Prepared data for important KPIs such as Revenue, Bookings, Occupancy, ADR and RevPAR.</a:t>
            </a:r>
            <a:endParaRPr lang="en-US" sz="1100" dirty="0">
              <a:solidFill>
                <a:srgbClr val="1F2937"/>
              </a:solidFill>
            </a:endParaRPr>
          </a:p>
        </p:txBody>
      </p:sp>
      <p:sp>
        <p:nvSpPr>
          <p:cNvPr id="34" name="Text 32"/>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35" name="Text 3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PROJECT QUESTIONNAIRE</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Key tasks performed in the hospitality analytics workflow</a:t>
            </a:r>
            <a:endParaRPr lang="en-US" sz="1300" i="1" dirty="0">
              <a:solidFill>
                <a:srgbClr val="0E7C86"/>
              </a:solidFill>
            </a:endParaRPr>
          </a:p>
        </p:txBody>
      </p:sp>
      <p:sp>
        <p:nvSpPr>
          <p:cNvPr id="4" name="Shape 2"/>
          <p:cNvSpPr/>
          <p:nvPr/>
        </p:nvSpPr>
        <p:spPr>
          <a:xfrm>
            <a:off x="54864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5" name="Shape 3"/>
          <p:cNvSpPr/>
          <p:nvPr/>
        </p:nvSpPr>
        <p:spPr>
          <a:xfrm>
            <a:off x="548640" y="1463040"/>
            <a:ext cx="3520440" cy="566928"/>
          </a:xfrm>
          <a:prstGeom prst="rect">
            <a:avLst/>
          </a:prstGeom>
          <a:solidFill>
            <a:srgbClr val="0E7C86"/>
          </a:solidFill>
          <a:ln/>
        </p:spPr>
        <p:txBody>
          <a:bodyPr/>
          <a:lstStyle/>
          <a:p>
            <a:endParaRPr lang="en-IN"/>
          </a:p>
        </p:txBody>
      </p:sp>
      <p:sp>
        <p:nvSpPr>
          <p:cNvPr id="6" name="Text 4"/>
          <p:cNvSpPr/>
          <p:nvPr/>
        </p:nvSpPr>
        <p:spPr>
          <a:xfrm>
            <a:off x="731520" y="1463040"/>
            <a:ext cx="3154680" cy="566928"/>
          </a:xfrm>
          <a:prstGeom prst="rect">
            <a:avLst/>
          </a:prstGeom>
          <a:noFill/>
          <a:ln/>
        </p:spPr>
        <p:txBody>
          <a:bodyPr wrap="square" rtlCol="0" anchor="ctr"/>
          <a:lstStyle/>
          <a:p>
            <a:r>
              <a:rPr lang="en-IN" sz="1400" b="1" dirty="0">
                <a:solidFill>
                  <a:schemeClr val="bg1"/>
                </a:solidFill>
                <a:latin typeface="Cambria" panose="02040503050406030204" pitchFamily="18" charset="0"/>
                <a:ea typeface="Cambria" panose="02040503050406030204" pitchFamily="18" charset="0"/>
              </a:rPr>
              <a:t>Data Preparation &amp; KPI Calculations</a:t>
            </a:r>
            <a:endParaRPr lang="en-US" sz="1400" b="1" dirty="0">
              <a:solidFill>
                <a:schemeClr val="bg1"/>
              </a:solidFill>
              <a:latin typeface="Cambria" panose="02040503050406030204" pitchFamily="18" charset="0"/>
              <a:ea typeface="Cambria" panose="02040503050406030204" pitchFamily="18" charset="0"/>
            </a:endParaRPr>
          </a:p>
        </p:txBody>
      </p:sp>
      <p:sp>
        <p:nvSpPr>
          <p:cNvPr id="15" name="Shape 13"/>
          <p:cNvSpPr/>
          <p:nvPr/>
        </p:nvSpPr>
        <p:spPr>
          <a:xfrm>
            <a:off x="434340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16" name="Shape 14"/>
          <p:cNvSpPr/>
          <p:nvPr/>
        </p:nvSpPr>
        <p:spPr>
          <a:xfrm>
            <a:off x="4343400" y="1463040"/>
            <a:ext cx="3520440" cy="566928"/>
          </a:xfrm>
          <a:prstGeom prst="rect">
            <a:avLst/>
          </a:prstGeom>
          <a:solidFill>
            <a:srgbClr val="E8871E"/>
          </a:solidFill>
          <a:ln/>
        </p:spPr>
        <p:txBody>
          <a:bodyPr/>
          <a:lstStyle/>
          <a:p>
            <a:endParaRPr lang="en-IN"/>
          </a:p>
        </p:txBody>
      </p:sp>
      <p:sp>
        <p:nvSpPr>
          <p:cNvPr id="17" name="Text 15"/>
          <p:cNvSpPr/>
          <p:nvPr/>
        </p:nvSpPr>
        <p:spPr>
          <a:xfrm>
            <a:off x="4526280" y="1463040"/>
            <a:ext cx="3154680" cy="566928"/>
          </a:xfrm>
          <a:prstGeom prst="rect">
            <a:avLst/>
          </a:prstGeom>
          <a:noFill/>
          <a:ln/>
        </p:spPr>
        <p:txBody>
          <a:bodyPr wrap="square" rtlCol="0" anchor="ctr"/>
          <a:lstStyle/>
          <a:p>
            <a:r>
              <a:rPr lang="en-IN" sz="1400" b="1" dirty="0">
                <a:solidFill>
                  <a:schemeClr val="bg1"/>
                </a:solidFill>
                <a:latin typeface="Cambria" panose="02040503050406030204" pitchFamily="18" charset="0"/>
                <a:ea typeface="Cambria" panose="02040503050406030204" pitchFamily="18" charset="0"/>
              </a:rPr>
              <a:t>Visual Analysis</a:t>
            </a:r>
            <a:endParaRPr lang="en-US" sz="1400" b="1" dirty="0">
              <a:solidFill>
                <a:schemeClr val="bg1"/>
              </a:solidFill>
              <a:latin typeface="Cambria" panose="02040503050406030204" pitchFamily="18" charset="0"/>
              <a:ea typeface="Cambria" panose="02040503050406030204" pitchFamily="18" charset="0"/>
            </a:endParaRPr>
          </a:p>
        </p:txBody>
      </p:sp>
      <p:sp>
        <p:nvSpPr>
          <p:cNvPr id="28" name="Shape 26"/>
          <p:cNvSpPr/>
          <p:nvPr/>
        </p:nvSpPr>
        <p:spPr>
          <a:xfrm>
            <a:off x="8138160" y="1463040"/>
            <a:ext cx="3520440" cy="4480560"/>
          </a:xfrm>
          <a:prstGeom prst="roundRect">
            <a:avLst>
              <a:gd name="adj" fmla="val 1818"/>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29" name="Shape 27"/>
          <p:cNvSpPr/>
          <p:nvPr/>
        </p:nvSpPr>
        <p:spPr>
          <a:xfrm>
            <a:off x="8138160" y="1463040"/>
            <a:ext cx="3520440" cy="566928"/>
          </a:xfrm>
          <a:prstGeom prst="rect">
            <a:avLst/>
          </a:prstGeom>
          <a:solidFill>
            <a:srgbClr val="142850"/>
          </a:solidFill>
          <a:ln/>
        </p:spPr>
        <p:txBody>
          <a:bodyPr/>
          <a:lstStyle/>
          <a:p>
            <a:endParaRPr lang="en-IN"/>
          </a:p>
        </p:txBody>
      </p:sp>
      <p:sp>
        <p:nvSpPr>
          <p:cNvPr id="30" name="Text 28"/>
          <p:cNvSpPr/>
          <p:nvPr/>
        </p:nvSpPr>
        <p:spPr>
          <a:xfrm>
            <a:off x="8321040" y="1463040"/>
            <a:ext cx="3154680" cy="56692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KPIs &amp; Dashboard</a:t>
            </a:r>
            <a:endParaRPr lang="en-US" sz="1400" dirty="0"/>
          </a:p>
        </p:txBody>
      </p:sp>
      <p:sp>
        <p:nvSpPr>
          <p:cNvPr id="35" name="Text 33"/>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36" name="Text 34"/>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
        <p:nvSpPr>
          <p:cNvPr id="37" name="TextBox 36">
            <a:extLst>
              <a:ext uri="{FF2B5EF4-FFF2-40B4-BE49-F238E27FC236}">
                <a16:creationId xmlns:a16="http://schemas.microsoft.com/office/drawing/2014/main" id="{E49C66FF-6384-0CBF-C34B-A9DAE5C13518}"/>
              </a:ext>
            </a:extLst>
          </p:cNvPr>
          <p:cNvSpPr txBox="1"/>
          <p:nvPr/>
        </p:nvSpPr>
        <p:spPr>
          <a:xfrm>
            <a:off x="731520" y="2304288"/>
            <a:ext cx="2935411" cy="3323987"/>
          </a:xfrm>
          <a:prstGeom prst="rect">
            <a:avLst/>
          </a:prstGeom>
          <a:noFill/>
        </p:spPr>
        <p:txBody>
          <a:bodyPr wrap="square" rtlCol="0">
            <a:spAutoFit/>
          </a:bodyPr>
          <a:lstStyle/>
          <a:p>
            <a:pPr marL="171450" lvl="0" indent="-171450">
              <a:lnSpc>
                <a:spcPct val="200000"/>
              </a:lnSpc>
              <a:buClr>
                <a:srgbClr val="0E7C86"/>
              </a:buClr>
              <a:buFont typeface="Arial" panose="020B0604020202020204" pitchFamily="34" charset="0"/>
              <a:buChar char="•"/>
            </a:pPr>
            <a:r>
              <a:rPr lang="en-IN" sz="1200" dirty="0"/>
              <a:t>Calculate Total Revenue </a:t>
            </a:r>
          </a:p>
          <a:p>
            <a:pPr marL="171450" lvl="0" indent="-171450">
              <a:lnSpc>
                <a:spcPct val="200000"/>
              </a:lnSpc>
              <a:buClr>
                <a:srgbClr val="0E7C86"/>
              </a:buClr>
              <a:buFont typeface="Arial" panose="020B0604020202020204" pitchFamily="34" charset="0"/>
              <a:buChar char="•"/>
            </a:pPr>
            <a:r>
              <a:rPr lang="en-IN" sz="1200" dirty="0"/>
              <a:t>Calculate Total Bookings </a:t>
            </a:r>
          </a:p>
          <a:p>
            <a:pPr marL="171450" lvl="0" indent="-171450">
              <a:lnSpc>
                <a:spcPct val="200000"/>
              </a:lnSpc>
              <a:buClr>
                <a:srgbClr val="0E7C86"/>
              </a:buClr>
              <a:buFont typeface="Arial" panose="020B0604020202020204" pitchFamily="34" charset="0"/>
              <a:buChar char="•"/>
            </a:pPr>
            <a:r>
              <a:rPr lang="en-IN" sz="1200" dirty="0"/>
              <a:t>Calculate Occupancy % </a:t>
            </a:r>
          </a:p>
          <a:p>
            <a:pPr marL="171450" lvl="0" indent="-171450">
              <a:lnSpc>
                <a:spcPct val="200000"/>
              </a:lnSpc>
              <a:buClr>
                <a:srgbClr val="0E7C86"/>
              </a:buClr>
              <a:buFont typeface="Arial" panose="020B0604020202020204" pitchFamily="34" charset="0"/>
              <a:buChar char="•"/>
            </a:pPr>
            <a:r>
              <a:rPr lang="en-IN" sz="1200" dirty="0"/>
              <a:t>Calculate Cancellation Rate </a:t>
            </a:r>
          </a:p>
          <a:p>
            <a:pPr marL="171450" lvl="0" indent="-171450">
              <a:lnSpc>
                <a:spcPct val="200000"/>
              </a:lnSpc>
              <a:buClr>
                <a:srgbClr val="0E7C86"/>
              </a:buClr>
              <a:buFont typeface="Arial" panose="020B0604020202020204" pitchFamily="34" charset="0"/>
              <a:buChar char="•"/>
            </a:pPr>
            <a:r>
              <a:rPr lang="en-IN" sz="1200" dirty="0"/>
              <a:t>Calculate No Show Rate </a:t>
            </a:r>
          </a:p>
          <a:p>
            <a:pPr marL="171450" lvl="0" indent="-171450">
              <a:lnSpc>
                <a:spcPct val="200000"/>
              </a:lnSpc>
              <a:buClr>
                <a:srgbClr val="0E7C86"/>
              </a:buClr>
              <a:buFont typeface="Arial" panose="020B0604020202020204" pitchFamily="34" charset="0"/>
              <a:buChar char="•"/>
            </a:pPr>
            <a:r>
              <a:rPr lang="en-IN" sz="1200" dirty="0"/>
              <a:t>Calculate Realisation % </a:t>
            </a:r>
          </a:p>
          <a:p>
            <a:pPr marL="171450" lvl="0" indent="-171450">
              <a:lnSpc>
                <a:spcPct val="200000"/>
              </a:lnSpc>
              <a:buClr>
                <a:srgbClr val="0E7C86"/>
              </a:buClr>
              <a:buFont typeface="Arial" panose="020B0604020202020204" pitchFamily="34" charset="0"/>
              <a:buChar char="•"/>
            </a:pPr>
            <a:r>
              <a:rPr lang="en-IN" sz="1200" dirty="0"/>
              <a:t>Calculate ADR </a:t>
            </a:r>
          </a:p>
          <a:p>
            <a:pPr marL="171450" lvl="0" indent="-171450">
              <a:lnSpc>
                <a:spcPct val="200000"/>
              </a:lnSpc>
              <a:buClr>
                <a:srgbClr val="0E7C86"/>
              </a:buClr>
              <a:buFont typeface="Arial" panose="020B0604020202020204" pitchFamily="34" charset="0"/>
              <a:buChar char="•"/>
            </a:pPr>
            <a:r>
              <a:rPr lang="en-IN" sz="1200" dirty="0"/>
              <a:t>Calculate RevPAR</a:t>
            </a:r>
          </a:p>
          <a:p>
            <a:endParaRPr lang="en-IN" dirty="0"/>
          </a:p>
        </p:txBody>
      </p:sp>
      <p:sp>
        <p:nvSpPr>
          <p:cNvPr id="44" name="TextBox 43">
            <a:extLst>
              <a:ext uri="{FF2B5EF4-FFF2-40B4-BE49-F238E27FC236}">
                <a16:creationId xmlns:a16="http://schemas.microsoft.com/office/drawing/2014/main" id="{F0A0AA80-A595-B18B-D0EE-590D06F4C7A8}"/>
              </a:ext>
            </a:extLst>
          </p:cNvPr>
          <p:cNvSpPr txBox="1"/>
          <p:nvPr/>
        </p:nvSpPr>
        <p:spPr>
          <a:xfrm>
            <a:off x="4526280" y="2185416"/>
            <a:ext cx="2994193" cy="2585323"/>
          </a:xfrm>
          <a:prstGeom prst="rect">
            <a:avLst/>
          </a:prstGeom>
          <a:noFill/>
        </p:spPr>
        <p:txBody>
          <a:bodyPr wrap="square" rtlCol="0">
            <a:spAutoFit/>
          </a:bodyPr>
          <a:lstStyle/>
          <a:p>
            <a:pPr marL="171450" lvl="0" indent="-171450">
              <a:lnSpc>
                <a:spcPct val="200000"/>
              </a:lnSpc>
              <a:buClr>
                <a:schemeClr val="accent2"/>
              </a:buClr>
              <a:buFont typeface="Arial" panose="020B0604020202020204" pitchFamily="34" charset="0"/>
              <a:buChar char="•"/>
            </a:pPr>
            <a:r>
              <a:rPr lang="en-IN" sz="1200" dirty="0"/>
              <a:t>Revenue by City </a:t>
            </a:r>
          </a:p>
          <a:p>
            <a:pPr marL="171450" lvl="0" indent="-171450">
              <a:lnSpc>
                <a:spcPct val="200000"/>
              </a:lnSpc>
              <a:buClr>
                <a:schemeClr val="accent2"/>
              </a:buClr>
              <a:buFont typeface="Arial" panose="020B0604020202020204" pitchFamily="34" charset="0"/>
              <a:buChar char="•"/>
            </a:pPr>
            <a:r>
              <a:rPr lang="en-IN" sz="1200" dirty="0"/>
              <a:t>Revenue by Hotel </a:t>
            </a:r>
          </a:p>
          <a:p>
            <a:pPr marL="171450" lvl="0" indent="-171450">
              <a:lnSpc>
                <a:spcPct val="200000"/>
              </a:lnSpc>
              <a:buClr>
                <a:schemeClr val="accent2"/>
              </a:buClr>
              <a:buFont typeface="Arial" panose="020B0604020202020204" pitchFamily="34" charset="0"/>
              <a:buChar char="•"/>
            </a:pPr>
            <a:r>
              <a:rPr lang="en-IN" sz="1200" dirty="0"/>
              <a:t>Revenue by Room Class </a:t>
            </a:r>
          </a:p>
          <a:p>
            <a:pPr marL="171450" lvl="0" indent="-171450">
              <a:lnSpc>
                <a:spcPct val="200000"/>
              </a:lnSpc>
              <a:buClr>
                <a:schemeClr val="accent2"/>
              </a:buClr>
              <a:buFont typeface="Arial" panose="020B0604020202020204" pitchFamily="34" charset="0"/>
              <a:buChar char="•"/>
            </a:pPr>
            <a:r>
              <a:rPr lang="en-IN" sz="1200" dirty="0"/>
              <a:t>Booking Status </a:t>
            </a:r>
          </a:p>
          <a:p>
            <a:pPr marL="171450" lvl="0" indent="-171450">
              <a:lnSpc>
                <a:spcPct val="200000"/>
              </a:lnSpc>
              <a:buClr>
                <a:schemeClr val="accent2"/>
              </a:buClr>
              <a:buFont typeface="Arial" panose="020B0604020202020204" pitchFamily="34" charset="0"/>
              <a:buChar char="•"/>
            </a:pPr>
            <a:r>
              <a:rPr lang="en-IN" sz="1200" dirty="0"/>
              <a:t>Weekly Revenue Trend </a:t>
            </a:r>
          </a:p>
          <a:p>
            <a:pPr marL="171450" lvl="0" indent="-171450">
              <a:lnSpc>
                <a:spcPct val="200000"/>
              </a:lnSpc>
              <a:buClr>
                <a:schemeClr val="accent2"/>
              </a:buClr>
              <a:buFont typeface="Arial" panose="020B0604020202020204" pitchFamily="34" charset="0"/>
              <a:buChar char="•"/>
            </a:pPr>
            <a:r>
              <a:rPr lang="en-IN" sz="1200" dirty="0"/>
              <a:t>Weekday vs Weekend Analysis </a:t>
            </a:r>
          </a:p>
          <a:p>
            <a:endParaRPr lang="en-IN" dirty="0"/>
          </a:p>
        </p:txBody>
      </p:sp>
      <p:sp>
        <p:nvSpPr>
          <p:cNvPr id="45" name="TextBox 44">
            <a:extLst>
              <a:ext uri="{FF2B5EF4-FFF2-40B4-BE49-F238E27FC236}">
                <a16:creationId xmlns:a16="http://schemas.microsoft.com/office/drawing/2014/main" id="{297FF84A-5228-A727-A685-BF4E6823C999}"/>
              </a:ext>
            </a:extLst>
          </p:cNvPr>
          <p:cNvSpPr txBox="1"/>
          <p:nvPr/>
        </p:nvSpPr>
        <p:spPr>
          <a:xfrm>
            <a:off x="8321040" y="2304288"/>
            <a:ext cx="2931678" cy="2215991"/>
          </a:xfrm>
          <a:prstGeom prst="rect">
            <a:avLst/>
          </a:prstGeom>
          <a:noFill/>
        </p:spPr>
        <p:txBody>
          <a:bodyPr wrap="square" rtlCol="0">
            <a:spAutoFit/>
          </a:bodyPr>
          <a:lstStyle/>
          <a:p>
            <a:pPr marL="171450" indent="-171450">
              <a:buClr>
                <a:srgbClr val="1F2937"/>
              </a:buClr>
              <a:buFont typeface="Arial" panose="020B0604020202020204" pitchFamily="34" charset="0"/>
              <a:buChar char="•"/>
            </a:pPr>
            <a:r>
              <a:rPr lang="en-IN" sz="1200" dirty="0"/>
              <a:t>Calculate ADR, RevPAR, DBRN, DSRN &amp; DURN.</a:t>
            </a:r>
          </a:p>
          <a:p>
            <a:pPr>
              <a:buClr>
                <a:srgbClr val="1F2937"/>
              </a:buClr>
            </a:pPr>
            <a:endParaRPr lang="en-IN" sz="1200" dirty="0"/>
          </a:p>
          <a:p>
            <a:pPr marL="171450" indent="-171450">
              <a:buClr>
                <a:srgbClr val="1F2937"/>
              </a:buClr>
              <a:buFont typeface="Arial" panose="020B0604020202020204" pitchFamily="34" charset="0"/>
              <a:buChar char="•"/>
            </a:pPr>
            <a:r>
              <a:rPr lang="en-IN" sz="1200" dirty="0" err="1"/>
              <a:t>Analyze</a:t>
            </a:r>
            <a:r>
              <a:rPr lang="en-IN" sz="1200" dirty="0"/>
              <a:t> Week-over-Week (WoW) performance.</a:t>
            </a:r>
          </a:p>
          <a:p>
            <a:pPr>
              <a:buClr>
                <a:srgbClr val="1F2937"/>
              </a:buClr>
            </a:pPr>
            <a:endParaRPr lang="en-IN" sz="1200" dirty="0"/>
          </a:p>
          <a:p>
            <a:pPr marL="171450" indent="-171450">
              <a:buClr>
                <a:srgbClr val="1F2937"/>
              </a:buClr>
              <a:buFont typeface="Arial" panose="020B0604020202020204" pitchFamily="34" charset="0"/>
              <a:buChar char="•"/>
            </a:pPr>
            <a:r>
              <a:rPr lang="en-IN" sz="1200" dirty="0"/>
              <a:t>Create KPI cards and interactive dashboards.</a:t>
            </a:r>
          </a:p>
          <a:p>
            <a:pPr marL="171450" indent="-171450">
              <a:lnSpc>
                <a:spcPct val="200000"/>
              </a:lnSpc>
              <a:buClr>
                <a:srgbClr val="1F2937"/>
              </a:buClr>
              <a:buFont typeface="Arial" panose="020B0604020202020204" pitchFamily="34" charset="0"/>
              <a:buChar char="•"/>
            </a:pPr>
            <a:r>
              <a:rPr lang="en-IN" sz="1200" dirty="0"/>
              <a:t>Identify key hotel performance insights.</a:t>
            </a:r>
          </a:p>
          <a:p>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HOSPITALITY SQL ANALYSIS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pPr marL="0" indent="0">
              <a:buNone/>
            </a:pPr>
            <a:r>
              <a:rPr lang="en-US" sz="1300" i="1" dirty="0">
                <a:solidFill>
                  <a:srgbClr val="0E7C86"/>
                </a:solidFill>
                <a:latin typeface="Calibri" pitchFamily="34" charset="0"/>
                <a:ea typeface="Calibri" pitchFamily="34" charset="-122"/>
                <a:cs typeface="Calibri" pitchFamily="34" charset="-120"/>
              </a:rPr>
              <a:t>MySQL Workbench — Analyzing hospitality data using SQL</a:t>
            </a:r>
            <a:endParaRPr lang="en-US" sz="1300" dirty="0"/>
          </a:p>
        </p:txBody>
      </p:sp>
      <p:sp>
        <p:nvSpPr>
          <p:cNvPr id="4" name="Shape 2"/>
          <p:cNvSpPr/>
          <p:nvPr/>
        </p:nvSpPr>
        <p:spPr>
          <a:xfrm>
            <a:off x="548640" y="1417320"/>
            <a:ext cx="11064240" cy="777240"/>
          </a:xfrm>
          <a:prstGeom prst="roundRect">
            <a:avLst>
              <a:gd name="adj" fmla="val 7059"/>
            </a:avLst>
          </a:prstGeom>
          <a:solidFill>
            <a:srgbClr val="142850"/>
          </a:solidFill>
          <a:ln/>
        </p:spPr>
        <p:txBody>
          <a:bodyPr/>
          <a:lstStyle/>
          <a:p>
            <a:endParaRPr lang="en-IN"/>
          </a:p>
        </p:txBody>
      </p:sp>
      <p:sp>
        <p:nvSpPr>
          <p:cNvPr id="5" name="Text 3"/>
          <p:cNvSpPr/>
          <p:nvPr/>
        </p:nvSpPr>
        <p:spPr>
          <a:xfrm>
            <a:off x="777240" y="1417320"/>
            <a:ext cx="10607040" cy="777240"/>
          </a:xfrm>
          <a:prstGeom prst="rect">
            <a:avLst/>
          </a:prstGeom>
          <a:noFill/>
          <a:ln/>
        </p:spPr>
        <p:txBody>
          <a:bodyPr wrap="square" rtlCol="0" anchor="ctr"/>
          <a:lstStyle/>
          <a:p>
            <a:r>
              <a:rPr lang="en-IN" sz="1200" dirty="0">
                <a:solidFill>
                  <a:schemeClr val="bg1"/>
                </a:solidFill>
                <a:latin typeface="Courier New" panose="02070309020205020404" pitchFamily="49" charset="0"/>
                <a:cs typeface="Courier New" panose="02070309020205020404" pitchFamily="49" charset="0"/>
              </a:rPr>
              <a:t>SELECT, SUM, COUNT, JOIN, GROUP BY, CASE and LAG() used for KPI and performance analysis</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6" name="Shape 4"/>
          <p:cNvSpPr/>
          <p:nvPr/>
        </p:nvSpPr>
        <p:spPr>
          <a:xfrm>
            <a:off x="548640"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7" name="Shape 5"/>
          <p:cNvSpPr/>
          <p:nvPr/>
        </p:nvSpPr>
        <p:spPr>
          <a:xfrm>
            <a:off x="548640" y="2423160"/>
            <a:ext cx="2651760" cy="502920"/>
          </a:xfrm>
          <a:prstGeom prst="rect">
            <a:avLst/>
          </a:prstGeom>
          <a:solidFill>
            <a:srgbClr val="0E7C86"/>
          </a:solidFill>
          <a:ln/>
        </p:spPr>
        <p:txBody>
          <a:bodyPr/>
          <a:lstStyle/>
          <a:p>
            <a:endParaRPr lang="en-IN"/>
          </a:p>
        </p:txBody>
      </p:sp>
      <p:sp>
        <p:nvSpPr>
          <p:cNvPr id="8" name="Text 6"/>
          <p:cNvSpPr/>
          <p:nvPr/>
        </p:nvSpPr>
        <p:spPr>
          <a:xfrm>
            <a:off x="685800"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Data Foundation</a:t>
            </a:r>
            <a:endParaRPr lang="en-US" sz="1250" dirty="0"/>
          </a:p>
        </p:txBody>
      </p:sp>
      <p:sp>
        <p:nvSpPr>
          <p:cNvPr id="9" name="Shape 7"/>
          <p:cNvSpPr/>
          <p:nvPr/>
        </p:nvSpPr>
        <p:spPr>
          <a:xfrm>
            <a:off x="731520" y="3163824"/>
            <a:ext cx="73152" cy="73152"/>
          </a:xfrm>
          <a:prstGeom prst="ellipse">
            <a:avLst/>
          </a:prstGeom>
          <a:solidFill>
            <a:srgbClr val="0E7C86"/>
          </a:solidFill>
          <a:ln/>
        </p:spPr>
        <p:txBody>
          <a:bodyPr/>
          <a:lstStyle/>
          <a:p>
            <a:endParaRPr lang="en-IN"/>
          </a:p>
        </p:txBody>
      </p:sp>
      <p:sp>
        <p:nvSpPr>
          <p:cNvPr id="10" name="Text 8"/>
          <p:cNvSpPr/>
          <p:nvPr/>
        </p:nvSpPr>
        <p:spPr>
          <a:xfrm>
            <a:off x="896112" y="3035808"/>
            <a:ext cx="2148840" cy="713232"/>
          </a:xfrm>
          <a:prstGeom prst="rect">
            <a:avLst/>
          </a:prstGeom>
          <a:noFill/>
          <a:ln/>
        </p:spPr>
        <p:txBody>
          <a:bodyPr wrap="square" rtlCol="0" anchor="ctr"/>
          <a:lstStyle/>
          <a:p>
            <a:r>
              <a:rPr lang="en-IN" sz="1000" dirty="0"/>
              <a:t>Imported hotel booking data and organized it into fact and dimension tables.</a:t>
            </a:r>
          </a:p>
        </p:txBody>
      </p:sp>
      <p:sp>
        <p:nvSpPr>
          <p:cNvPr id="11" name="Shape 9"/>
          <p:cNvSpPr/>
          <p:nvPr/>
        </p:nvSpPr>
        <p:spPr>
          <a:xfrm>
            <a:off x="731520" y="3941064"/>
            <a:ext cx="73152" cy="73152"/>
          </a:xfrm>
          <a:prstGeom prst="ellipse">
            <a:avLst/>
          </a:prstGeom>
          <a:solidFill>
            <a:srgbClr val="0E7C86"/>
          </a:solidFill>
          <a:ln/>
        </p:spPr>
        <p:txBody>
          <a:bodyPr/>
          <a:lstStyle/>
          <a:p>
            <a:endParaRPr lang="en-IN"/>
          </a:p>
        </p:txBody>
      </p:sp>
      <p:sp>
        <p:nvSpPr>
          <p:cNvPr id="12" name="Text 10"/>
          <p:cNvSpPr/>
          <p:nvPr/>
        </p:nvSpPr>
        <p:spPr>
          <a:xfrm>
            <a:off x="896112" y="3767328"/>
            <a:ext cx="2148840" cy="713232"/>
          </a:xfrm>
          <a:prstGeom prst="rect">
            <a:avLst/>
          </a:prstGeom>
          <a:noFill/>
          <a:ln/>
        </p:spPr>
        <p:txBody>
          <a:bodyPr wrap="square" rtlCol="0" anchor="ctr"/>
          <a:lstStyle/>
          <a:p>
            <a:r>
              <a:rPr lang="en-IN" sz="1000" dirty="0"/>
              <a:t>Used </a:t>
            </a:r>
            <a:r>
              <a:rPr lang="en-IN" sz="1000" b="1" dirty="0" err="1"/>
              <a:t>fact_bookings</a:t>
            </a:r>
            <a:r>
              <a:rPr lang="en-IN" sz="1000" b="1" dirty="0"/>
              <a:t> </a:t>
            </a:r>
            <a:r>
              <a:rPr lang="en-IN" sz="1000" dirty="0"/>
              <a:t>for booking and revenue analysis.</a:t>
            </a:r>
            <a:endParaRPr lang="en-US" sz="950" dirty="0"/>
          </a:p>
        </p:txBody>
      </p:sp>
      <p:sp>
        <p:nvSpPr>
          <p:cNvPr id="13" name="Shape 11"/>
          <p:cNvSpPr/>
          <p:nvPr/>
        </p:nvSpPr>
        <p:spPr>
          <a:xfrm>
            <a:off x="731520" y="4718304"/>
            <a:ext cx="73152" cy="73152"/>
          </a:xfrm>
          <a:prstGeom prst="ellipse">
            <a:avLst/>
          </a:prstGeom>
          <a:solidFill>
            <a:srgbClr val="0E7C86"/>
          </a:solidFill>
          <a:ln/>
        </p:spPr>
        <p:txBody>
          <a:bodyPr/>
          <a:lstStyle/>
          <a:p>
            <a:endParaRPr lang="en-IN"/>
          </a:p>
        </p:txBody>
      </p:sp>
      <p:sp>
        <p:nvSpPr>
          <p:cNvPr id="14" name="Text 12"/>
          <p:cNvSpPr/>
          <p:nvPr/>
        </p:nvSpPr>
        <p:spPr>
          <a:xfrm>
            <a:off x="896112" y="4525907"/>
            <a:ext cx="2148840" cy="713232"/>
          </a:xfrm>
          <a:prstGeom prst="rect">
            <a:avLst/>
          </a:prstGeom>
          <a:noFill/>
          <a:ln/>
        </p:spPr>
        <p:txBody>
          <a:bodyPr wrap="square" rtlCol="0" anchor="ctr"/>
          <a:lstStyle/>
          <a:p>
            <a:r>
              <a:rPr lang="en-IN" sz="1000" dirty="0"/>
              <a:t>Used </a:t>
            </a:r>
            <a:r>
              <a:rPr lang="en-IN" sz="1000" b="1" dirty="0" err="1"/>
              <a:t>fact_aggregated_bookings</a:t>
            </a:r>
            <a:r>
              <a:rPr lang="en-IN" sz="1000" b="1" dirty="0"/>
              <a:t> </a:t>
            </a:r>
            <a:r>
              <a:rPr lang="en-IN" sz="1000" dirty="0"/>
              <a:t>for successful bookings and room capacity.</a:t>
            </a:r>
            <a:endParaRPr lang="en-US" sz="1000" dirty="0"/>
          </a:p>
        </p:txBody>
      </p:sp>
      <p:sp>
        <p:nvSpPr>
          <p:cNvPr id="15" name="Shape 13"/>
          <p:cNvSpPr/>
          <p:nvPr/>
        </p:nvSpPr>
        <p:spPr>
          <a:xfrm>
            <a:off x="3401568"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16" name="Shape 14"/>
          <p:cNvSpPr/>
          <p:nvPr/>
        </p:nvSpPr>
        <p:spPr>
          <a:xfrm>
            <a:off x="3401568" y="2423160"/>
            <a:ext cx="2651760" cy="502920"/>
          </a:xfrm>
          <a:prstGeom prst="rect">
            <a:avLst/>
          </a:prstGeom>
          <a:solidFill>
            <a:srgbClr val="E8871E"/>
          </a:solidFill>
          <a:ln/>
        </p:spPr>
        <p:txBody>
          <a:bodyPr/>
          <a:lstStyle/>
          <a:p>
            <a:endParaRPr lang="en-IN"/>
          </a:p>
        </p:txBody>
      </p:sp>
      <p:sp>
        <p:nvSpPr>
          <p:cNvPr id="17" name="Text 15"/>
          <p:cNvSpPr/>
          <p:nvPr/>
        </p:nvSpPr>
        <p:spPr>
          <a:xfrm>
            <a:off x="3538728"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Calculated Fields</a:t>
            </a:r>
            <a:endParaRPr lang="en-US" sz="1250" dirty="0"/>
          </a:p>
        </p:txBody>
      </p:sp>
      <p:sp>
        <p:nvSpPr>
          <p:cNvPr id="18" name="Shape 16"/>
          <p:cNvSpPr/>
          <p:nvPr/>
        </p:nvSpPr>
        <p:spPr>
          <a:xfrm>
            <a:off x="3584448" y="3163824"/>
            <a:ext cx="73152" cy="73152"/>
          </a:xfrm>
          <a:prstGeom prst="ellipse">
            <a:avLst/>
          </a:prstGeom>
          <a:solidFill>
            <a:srgbClr val="E8871E"/>
          </a:solidFill>
          <a:ln/>
        </p:spPr>
        <p:txBody>
          <a:bodyPr/>
          <a:lstStyle/>
          <a:p>
            <a:endParaRPr lang="en-IN"/>
          </a:p>
        </p:txBody>
      </p:sp>
      <p:sp>
        <p:nvSpPr>
          <p:cNvPr id="19" name="Text 17"/>
          <p:cNvSpPr/>
          <p:nvPr/>
        </p:nvSpPr>
        <p:spPr>
          <a:xfrm>
            <a:off x="3749040" y="3035808"/>
            <a:ext cx="2148840" cy="713232"/>
          </a:xfrm>
          <a:prstGeom prst="rect">
            <a:avLst/>
          </a:prstGeom>
          <a:noFill/>
          <a:ln/>
        </p:spPr>
        <p:txBody>
          <a:bodyPr wrap="square" rtlCol="0" anchor="ctr"/>
          <a:lstStyle/>
          <a:p>
            <a:r>
              <a:rPr lang="en-IN" sz="1000" dirty="0"/>
              <a:t>Calculated Total Revenue, Total Bookings and Total Successful Bookings.</a:t>
            </a:r>
            <a:endParaRPr lang="en-US" sz="950" dirty="0"/>
          </a:p>
        </p:txBody>
      </p:sp>
      <p:sp>
        <p:nvSpPr>
          <p:cNvPr id="20" name="Shape 18"/>
          <p:cNvSpPr/>
          <p:nvPr/>
        </p:nvSpPr>
        <p:spPr>
          <a:xfrm>
            <a:off x="3584448" y="3941064"/>
            <a:ext cx="73152" cy="73152"/>
          </a:xfrm>
          <a:prstGeom prst="ellipse">
            <a:avLst/>
          </a:prstGeom>
          <a:solidFill>
            <a:srgbClr val="E8871E"/>
          </a:solidFill>
          <a:ln/>
        </p:spPr>
        <p:txBody>
          <a:bodyPr/>
          <a:lstStyle/>
          <a:p>
            <a:endParaRPr lang="en-IN"/>
          </a:p>
        </p:txBody>
      </p:sp>
      <p:sp>
        <p:nvSpPr>
          <p:cNvPr id="21" name="Text 19"/>
          <p:cNvSpPr/>
          <p:nvPr/>
        </p:nvSpPr>
        <p:spPr>
          <a:xfrm>
            <a:off x="3749040" y="3813048"/>
            <a:ext cx="2148840" cy="713232"/>
          </a:xfrm>
          <a:prstGeom prst="rect">
            <a:avLst/>
          </a:prstGeom>
          <a:noFill/>
          <a:ln/>
        </p:spPr>
        <p:txBody>
          <a:bodyPr wrap="square" rtlCol="0" anchor="ctr"/>
          <a:lstStyle/>
          <a:p>
            <a:r>
              <a:rPr lang="en-IN" sz="1000" dirty="0"/>
              <a:t>Calculated Occupancy %, Cancellation %, No Show % and Realisation %.</a:t>
            </a:r>
            <a:endParaRPr lang="en-US" sz="950" dirty="0"/>
          </a:p>
        </p:txBody>
      </p:sp>
      <p:sp>
        <p:nvSpPr>
          <p:cNvPr id="22" name="Shape 20"/>
          <p:cNvSpPr/>
          <p:nvPr/>
        </p:nvSpPr>
        <p:spPr>
          <a:xfrm>
            <a:off x="3584448" y="4718304"/>
            <a:ext cx="73152" cy="73152"/>
          </a:xfrm>
          <a:prstGeom prst="ellipse">
            <a:avLst/>
          </a:prstGeom>
          <a:solidFill>
            <a:srgbClr val="E8871E"/>
          </a:solidFill>
          <a:ln/>
        </p:spPr>
        <p:txBody>
          <a:bodyPr/>
          <a:lstStyle/>
          <a:p>
            <a:endParaRPr lang="en-IN"/>
          </a:p>
        </p:txBody>
      </p:sp>
      <p:sp>
        <p:nvSpPr>
          <p:cNvPr id="23" name="Text 21"/>
          <p:cNvSpPr/>
          <p:nvPr/>
        </p:nvSpPr>
        <p:spPr>
          <a:xfrm>
            <a:off x="3749040" y="4590288"/>
            <a:ext cx="2148840" cy="713232"/>
          </a:xfrm>
          <a:prstGeom prst="rect">
            <a:avLst/>
          </a:prstGeom>
          <a:noFill/>
          <a:ln/>
        </p:spPr>
        <p:txBody>
          <a:bodyPr wrap="square" rtlCol="0" anchor="ctr"/>
          <a:lstStyle/>
          <a:p>
            <a:r>
              <a:rPr lang="en-IN" sz="1000" dirty="0"/>
              <a:t>Calculated ADR, RevPAR, DBRN, DSRN and DURN.</a:t>
            </a:r>
            <a:endParaRPr lang="en-US" sz="950" dirty="0"/>
          </a:p>
        </p:txBody>
      </p:sp>
      <p:sp>
        <p:nvSpPr>
          <p:cNvPr id="24" name="Shape 22"/>
          <p:cNvSpPr/>
          <p:nvPr/>
        </p:nvSpPr>
        <p:spPr>
          <a:xfrm>
            <a:off x="6236208"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25" name="Shape 23"/>
          <p:cNvSpPr/>
          <p:nvPr/>
        </p:nvSpPr>
        <p:spPr>
          <a:xfrm>
            <a:off x="6254496" y="2423160"/>
            <a:ext cx="2651760" cy="502920"/>
          </a:xfrm>
          <a:prstGeom prst="rect">
            <a:avLst/>
          </a:prstGeom>
          <a:solidFill>
            <a:srgbClr val="142850"/>
          </a:solidFill>
          <a:ln/>
        </p:spPr>
        <p:txBody>
          <a:bodyPr/>
          <a:lstStyle/>
          <a:p>
            <a:endParaRPr lang="en-IN"/>
          </a:p>
        </p:txBody>
      </p:sp>
      <p:sp>
        <p:nvSpPr>
          <p:cNvPr id="26" name="Text 24"/>
          <p:cNvSpPr/>
          <p:nvPr/>
        </p:nvSpPr>
        <p:spPr>
          <a:xfrm>
            <a:off x="6391656"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Chart-Ready Queries</a:t>
            </a:r>
            <a:endParaRPr lang="en-US" sz="1250" dirty="0"/>
          </a:p>
        </p:txBody>
      </p:sp>
      <p:sp>
        <p:nvSpPr>
          <p:cNvPr id="27" name="Shape 25"/>
          <p:cNvSpPr/>
          <p:nvPr/>
        </p:nvSpPr>
        <p:spPr>
          <a:xfrm>
            <a:off x="6437376" y="3163824"/>
            <a:ext cx="73152" cy="73152"/>
          </a:xfrm>
          <a:prstGeom prst="ellipse">
            <a:avLst/>
          </a:prstGeom>
          <a:solidFill>
            <a:srgbClr val="142850"/>
          </a:solidFill>
          <a:ln/>
        </p:spPr>
        <p:txBody>
          <a:bodyPr/>
          <a:lstStyle/>
          <a:p>
            <a:endParaRPr lang="en-IN"/>
          </a:p>
        </p:txBody>
      </p:sp>
      <p:sp>
        <p:nvSpPr>
          <p:cNvPr id="28" name="Text 26"/>
          <p:cNvSpPr/>
          <p:nvPr/>
        </p:nvSpPr>
        <p:spPr>
          <a:xfrm>
            <a:off x="6601968" y="2974786"/>
            <a:ext cx="2148840" cy="713232"/>
          </a:xfrm>
          <a:prstGeom prst="rect">
            <a:avLst/>
          </a:prstGeom>
          <a:noFill/>
          <a:ln/>
        </p:spPr>
        <p:txBody>
          <a:bodyPr wrap="square" rtlCol="0" anchor="ctr"/>
          <a:lstStyle/>
          <a:p>
            <a:r>
              <a:rPr lang="en-IN" sz="1000" dirty="0"/>
              <a:t>Revenue by City and Hotel</a:t>
            </a:r>
            <a:endParaRPr lang="en-US" sz="950" dirty="0"/>
          </a:p>
        </p:txBody>
      </p:sp>
      <p:sp>
        <p:nvSpPr>
          <p:cNvPr id="29" name="Shape 27"/>
          <p:cNvSpPr/>
          <p:nvPr/>
        </p:nvSpPr>
        <p:spPr>
          <a:xfrm>
            <a:off x="6417782" y="3799985"/>
            <a:ext cx="73152" cy="73152"/>
          </a:xfrm>
          <a:prstGeom prst="ellipse">
            <a:avLst/>
          </a:prstGeom>
          <a:solidFill>
            <a:srgbClr val="142850"/>
          </a:solidFill>
          <a:ln/>
        </p:spPr>
        <p:txBody>
          <a:bodyPr/>
          <a:lstStyle/>
          <a:p>
            <a:endParaRPr lang="en-IN"/>
          </a:p>
        </p:txBody>
      </p:sp>
      <p:sp>
        <p:nvSpPr>
          <p:cNvPr id="30" name="Text 28"/>
          <p:cNvSpPr/>
          <p:nvPr/>
        </p:nvSpPr>
        <p:spPr>
          <a:xfrm>
            <a:off x="6601968" y="3584448"/>
            <a:ext cx="2148840" cy="713232"/>
          </a:xfrm>
          <a:prstGeom prst="rect">
            <a:avLst/>
          </a:prstGeom>
          <a:noFill/>
          <a:ln/>
        </p:spPr>
        <p:txBody>
          <a:bodyPr wrap="square" rtlCol="0" anchor="ctr"/>
          <a:lstStyle/>
          <a:p>
            <a:r>
              <a:rPr lang="en-IN" sz="1000" dirty="0"/>
              <a:t>Revenue by Room Class</a:t>
            </a:r>
            <a:endParaRPr lang="en-US" sz="950" dirty="0"/>
          </a:p>
        </p:txBody>
      </p:sp>
      <p:sp>
        <p:nvSpPr>
          <p:cNvPr id="31" name="Shape 29"/>
          <p:cNvSpPr/>
          <p:nvPr/>
        </p:nvSpPr>
        <p:spPr>
          <a:xfrm>
            <a:off x="6437376" y="4379976"/>
            <a:ext cx="73152" cy="73152"/>
          </a:xfrm>
          <a:prstGeom prst="ellipse">
            <a:avLst/>
          </a:prstGeom>
          <a:solidFill>
            <a:srgbClr val="142850"/>
          </a:solidFill>
          <a:ln/>
        </p:spPr>
        <p:txBody>
          <a:bodyPr/>
          <a:lstStyle/>
          <a:p>
            <a:endParaRPr lang="en-IN"/>
          </a:p>
        </p:txBody>
      </p:sp>
      <p:sp>
        <p:nvSpPr>
          <p:cNvPr id="32" name="Text 30"/>
          <p:cNvSpPr/>
          <p:nvPr/>
        </p:nvSpPr>
        <p:spPr>
          <a:xfrm>
            <a:off x="6601968" y="4206800"/>
            <a:ext cx="2148840" cy="713232"/>
          </a:xfrm>
          <a:prstGeom prst="rect">
            <a:avLst/>
          </a:prstGeom>
          <a:noFill/>
          <a:ln/>
        </p:spPr>
        <p:txBody>
          <a:bodyPr wrap="square" rtlCol="0" anchor="ctr"/>
          <a:lstStyle/>
          <a:p>
            <a:r>
              <a:rPr lang="en-IN" sz="1000" dirty="0"/>
              <a:t>Booking Status Analysis</a:t>
            </a:r>
            <a:endParaRPr lang="en-US" sz="950" dirty="0"/>
          </a:p>
        </p:txBody>
      </p:sp>
      <p:sp>
        <p:nvSpPr>
          <p:cNvPr id="33" name="Shape 31"/>
          <p:cNvSpPr/>
          <p:nvPr/>
        </p:nvSpPr>
        <p:spPr>
          <a:xfrm>
            <a:off x="6425620" y="4954742"/>
            <a:ext cx="73152" cy="73152"/>
          </a:xfrm>
          <a:prstGeom prst="ellipse">
            <a:avLst/>
          </a:prstGeom>
          <a:solidFill>
            <a:srgbClr val="142850"/>
          </a:solidFill>
          <a:ln/>
        </p:spPr>
        <p:txBody>
          <a:bodyPr/>
          <a:lstStyle/>
          <a:p>
            <a:endParaRPr lang="en-IN"/>
          </a:p>
        </p:txBody>
      </p:sp>
      <p:sp>
        <p:nvSpPr>
          <p:cNvPr id="34" name="Text 32"/>
          <p:cNvSpPr/>
          <p:nvPr/>
        </p:nvSpPr>
        <p:spPr>
          <a:xfrm>
            <a:off x="6601968" y="4816462"/>
            <a:ext cx="2148840" cy="713232"/>
          </a:xfrm>
          <a:prstGeom prst="rect">
            <a:avLst/>
          </a:prstGeom>
          <a:noFill/>
          <a:ln/>
        </p:spPr>
        <p:txBody>
          <a:bodyPr wrap="square" rtlCol="0" anchor="ctr"/>
          <a:lstStyle/>
          <a:p>
            <a:r>
              <a:rPr lang="en-IN" sz="1000" dirty="0"/>
              <a:t>Weekday vs Weekend Revenue and Bookings</a:t>
            </a:r>
            <a:endParaRPr lang="en-US" sz="950" dirty="0"/>
          </a:p>
        </p:txBody>
      </p:sp>
      <p:sp>
        <p:nvSpPr>
          <p:cNvPr id="35" name="Shape 33"/>
          <p:cNvSpPr/>
          <p:nvPr/>
        </p:nvSpPr>
        <p:spPr>
          <a:xfrm>
            <a:off x="9107424" y="2423160"/>
            <a:ext cx="2651760" cy="3566160"/>
          </a:xfrm>
          <a:prstGeom prst="roundRect">
            <a:avLst>
              <a:gd name="adj" fmla="val 2414"/>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36" name="Shape 34"/>
          <p:cNvSpPr/>
          <p:nvPr/>
        </p:nvSpPr>
        <p:spPr>
          <a:xfrm>
            <a:off x="9107424" y="2423160"/>
            <a:ext cx="2651760" cy="502920"/>
          </a:xfrm>
          <a:prstGeom prst="rect">
            <a:avLst/>
          </a:prstGeom>
          <a:solidFill>
            <a:srgbClr val="0E7C86"/>
          </a:solidFill>
          <a:ln/>
        </p:spPr>
        <p:txBody>
          <a:bodyPr/>
          <a:lstStyle/>
          <a:p>
            <a:endParaRPr lang="en-IN"/>
          </a:p>
        </p:txBody>
      </p:sp>
      <p:sp>
        <p:nvSpPr>
          <p:cNvPr id="37" name="Text 35"/>
          <p:cNvSpPr/>
          <p:nvPr/>
        </p:nvSpPr>
        <p:spPr>
          <a:xfrm>
            <a:off x="9244584" y="2423160"/>
            <a:ext cx="2377440" cy="502920"/>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KPI Queries</a:t>
            </a:r>
            <a:endParaRPr lang="en-US" sz="1250" dirty="0"/>
          </a:p>
        </p:txBody>
      </p:sp>
      <p:sp>
        <p:nvSpPr>
          <p:cNvPr id="38" name="Shape 36"/>
          <p:cNvSpPr/>
          <p:nvPr/>
        </p:nvSpPr>
        <p:spPr>
          <a:xfrm>
            <a:off x="9290304" y="3163824"/>
            <a:ext cx="73152" cy="73152"/>
          </a:xfrm>
          <a:prstGeom prst="ellipse">
            <a:avLst/>
          </a:prstGeom>
          <a:solidFill>
            <a:srgbClr val="0E7C86"/>
          </a:solidFill>
          <a:ln/>
        </p:spPr>
        <p:txBody>
          <a:bodyPr/>
          <a:lstStyle/>
          <a:p>
            <a:endParaRPr lang="en-IN"/>
          </a:p>
        </p:txBody>
      </p:sp>
      <p:sp>
        <p:nvSpPr>
          <p:cNvPr id="39" name="Text 37"/>
          <p:cNvSpPr/>
          <p:nvPr/>
        </p:nvSpPr>
        <p:spPr>
          <a:xfrm>
            <a:off x="9454896" y="3035808"/>
            <a:ext cx="2148840" cy="713232"/>
          </a:xfrm>
          <a:prstGeom prst="rect">
            <a:avLst/>
          </a:prstGeom>
          <a:noFill/>
          <a:ln/>
        </p:spPr>
        <p:txBody>
          <a:bodyPr wrap="square" rtlCol="0" anchor="ctr"/>
          <a:lstStyle/>
          <a:p>
            <a:r>
              <a:rPr lang="en-IN" sz="1000" dirty="0"/>
              <a:t>25 Hospitality KPIs calculated using SQL</a:t>
            </a:r>
            <a:endParaRPr lang="en-US" sz="950" dirty="0"/>
          </a:p>
        </p:txBody>
      </p:sp>
      <p:sp>
        <p:nvSpPr>
          <p:cNvPr id="40" name="Shape 38"/>
          <p:cNvSpPr/>
          <p:nvPr/>
        </p:nvSpPr>
        <p:spPr>
          <a:xfrm>
            <a:off x="9290304" y="3941064"/>
            <a:ext cx="73152" cy="73152"/>
          </a:xfrm>
          <a:prstGeom prst="ellipse">
            <a:avLst/>
          </a:prstGeom>
          <a:solidFill>
            <a:srgbClr val="0E7C86"/>
          </a:solidFill>
          <a:ln/>
        </p:spPr>
        <p:txBody>
          <a:bodyPr/>
          <a:lstStyle/>
          <a:p>
            <a:endParaRPr lang="en-IN"/>
          </a:p>
        </p:txBody>
      </p:sp>
      <p:sp>
        <p:nvSpPr>
          <p:cNvPr id="41" name="Text 39"/>
          <p:cNvSpPr/>
          <p:nvPr/>
        </p:nvSpPr>
        <p:spPr>
          <a:xfrm>
            <a:off x="9454896" y="3813048"/>
            <a:ext cx="2148840" cy="713232"/>
          </a:xfrm>
          <a:prstGeom prst="rect">
            <a:avLst/>
          </a:prstGeom>
          <a:noFill/>
          <a:ln/>
        </p:spPr>
        <p:txBody>
          <a:bodyPr wrap="square" rtlCol="0" anchor="ctr"/>
          <a:lstStyle/>
          <a:p>
            <a:r>
              <a:rPr lang="en-IN" sz="1000" dirty="0"/>
              <a:t>Revenue, Occupancy, ADR and RevPAR analysis</a:t>
            </a:r>
            <a:endParaRPr lang="en-US" sz="950" dirty="0"/>
          </a:p>
        </p:txBody>
      </p:sp>
      <p:sp>
        <p:nvSpPr>
          <p:cNvPr id="42" name="Shape 40"/>
          <p:cNvSpPr/>
          <p:nvPr/>
        </p:nvSpPr>
        <p:spPr>
          <a:xfrm>
            <a:off x="9290304" y="4718304"/>
            <a:ext cx="73152" cy="73152"/>
          </a:xfrm>
          <a:prstGeom prst="ellipse">
            <a:avLst/>
          </a:prstGeom>
          <a:solidFill>
            <a:srgbClr val="0E7C86"/>
          </a:solidFill>
          <a:ln/>
        </p:spPr>
        <p:txBody>
          <a:bodyPr/>
          <a:lstStyle/>
          <a:p>
            <a:endParaRPr lang="en-IN"/>
          </a:p>
        </p:txBody>
      </p:sp>
      <p:sp>
        <p:nvSpPr>
          <p:cNvPr id="43" name="Text 41"/>
          <p:cNvSpPr/>
          <p:nvPr/>
        </p:nvSpPr>
        <p:spPr>
          <a:xfrm>
            <a:off x="9454896" y="4590288"/>
            <a:ext cx="2148840" cy="713232"/>
          </a:xfrm>
          <a:prstGeom prst="rect">
            <a:avLst/>
          </a:prstGeom>
          <a:noFill/>
          <a:ln/>
        </p:spPr>
        <p:txBody>
          <a:bodyPr wrap="square" rtlCol="0" anchor="ctr"/>
          <a:lstStyle/>
          <a:p>
            <a:r>
              <a:rPr lang="en-IN" sz="1000" dirty="0"/>
              <a:t>DBRN, DSRN and DURN calculations</a:t>
            </a:r>
            <a:endParaRPr lang="en-US" sz="950" dirty="0"/>
          </a:p>
        </p:txBody>
      </p:sp>
      <p:sp>
        <p:nvSpPr>
          <p:cNvPr id="44" name="Text 42"/>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IN" sz="900" dirty="0">
              <a:solidFill>
                <a:schemeClr val="bg2">
                  <a:lumMod val="75000"/>
                </a:schemeClr>
              </a:solidFill>
              <a:effectLst/>
            </a:endParaRPr>
          </a:p>
        </p:txBody>
      </p:sp>
      <p:sp>
        <p:nvSpPr>
          <p:cNvPr id="45" name="Text 4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
        <p:nvSpPr>
          <p:cNvPr id="49" name="Shape 31">
            <a:extLst>
              <a:ext uri="{FF2B5EF4-FFF2-40B4-BE49-F238E27FC236}">
                <a16:creationId xmlns:a16="http://schemas.microsoft.com/office/drawing/2014/main" id="{44EB900E-A827-3288-197C-BD548AE170E1}"/>
              </a:ext>
            </a:extLst>
          </p:cNvPr>
          <p:cNvSpPr/>
          <p:nvPr/>
        </p:nvSpPr>
        <p:spPr>
          <a:xfrm>
            <a:off x="6425620" y="5488018"/>
            <a:ext cx="73152" cy="73152"/>
          </a:xfrm>
          <a:prstGeom prst="ellipse">
            <a:avLst/>
          </a:prstGeom>
          <a:solidFill>
            <a:srgbClr val="142850"/>
          </a:solidFill>
          <a:ln/>
        </p:spPr>
        <p:txBody>
          <a:bodyPr/>
          <a:lstStyle/>
          <a:p>
            <a:endParaRPr lang="en-IN"/>
          </a:p>
        </p:txBody>
      </p:sp>
      <p:sp>
        <p:nvSpPr>
          <p:cNvPr id="51" name="Text 32">
            <a:extLst>
              <a:ext uri="{FF2B5EF4-FFF2-40B4-BE49-F238E27FC236}">
                <a16:creationId xmlns:a16="http://schemas.microsoft.com/office/drawing/2014/main" id="{42891BE3-EEF5-410F-1240-0C382C86EB4E}"/>
              </a:ext>
            </a:extLst>
          </p:cNvPr>
          <p:cNvSpPr/>
          <p:nvPr/>
        </p:nvSpPr>
        <p:spPr>
          <a:xfrm>
            <a:off x="6620256" y="5355523"/>
            <a:ext cx="2148840" cy="713232"/>
          </a:xfrm>
          <a:prstGeom prst="rect">
            <a:avLst/>
          </a:prstGeom>
          <a:noFill/>
          <a:ln/>
        </p:spPr>
        <p:txBody>
          <a:bodyPr wrap="square" rtlCol="0" anchor="ctr"/>
          <a:lstStyle/>
          <a:p>
            <a:r>
              <a:rPr lang="en-IN" sz="1000" dirty="0"/>
              <a:t>Weekly Revenue, Bookings and Occupancy Trends</a:t>
            </a:r>
            <a:endParaRPr lang="en-US" sz="950" dirty="0"/>
          </a:p>
        </p:txBody>
      </p:sp>
      <p:sp>
        <p:nvSpPr>
          <p:cNvPr id="53" name="Shape 40">
            <a:extLst>
              <a:ext uri="{FF2B5EF4-FFF2-40B4-BE49-F238E27FC236}">
                <a16:creationId xmlns:a16="http://schemas.microsoft.com/office/drawing/2014/main" id="{A67358A4-75E9-4CB2-A982-37422574CC35}"/>
              </a:ext>
            </a:extLst>
          </p:cNvPr>
          <p:cNvSpPr/>
          <p:nvPr/>
        </p:nvSpPr>
        <p:spPr>
          <a:xfrm>
            <a:off x="9290304" y="5353812"/>
            <a:ext cx="73152" cy="73152"/>
          </a:xfrm>
          <a:prstGeom prst="ellipse">
            <a:avLst/>
          </a:prstGeom>
          <a:solidFill>
            <a:srgbClr val="0E7C86"/>
          </a:solidFill>
          <a:ln/>
        </p:spPr>
        <p:txBody>
          <a:bodyPr/>
          <a:lstStyle/>
          <a:p>
            <a:endParaRPr lang="en-IN"/>
          </a:p>
        </p:txBody>
      </p:sp>
      <p:sp>
        <p:nvSpPr>
          <p:cNvPr id="55" name="Text 41">
            <a:extLst>
              <a:ext uri="{FF2B5EF4-FFF2-40B4-BE49-F238E27FC236}">
                <a16:creationId xmlns:a16="http://schemas.microsoft.com/office/drawing/2014/main" id="{609E7365-919E-06B0-8BA5-B37CA91280C4}"/>
              </a:ext>
            </a:extLst>
          </p:cNvPr>
          <p:cNvSpPr/>
          <p:nvPr/>
        </p:nvSpPr>
        <p:spPr>
          <a:xfrm>
            <a:off x="9454896" y="5175504"/>
            <a:ext cx="2148840" cy="713232"/>
          </a:xfrm>
          <a:prstGeom prst="rect">
            <a:avLst/>
          </a:prstGeom>
          <a:noFill/>
          <a:ln/>
        </p:spPr>
        <p:txBody>
          <a:bodyPr wrap="square" rtlCol="0" anchor="ctr"/>
          <a:lstStyle/>
          <a:p>
            <a:r>
              <a:rPr lang="en-IN" sz="1000" dirty="0"/>
              <a:t>Revenue, Occupancy, ADR, RevPAR and DSRN </a:t>
            </a:r>
            <a:r>
              <a:rPr lang="en-IN" sz="1000" b="1" dirty="0"/>
              <a:t>WoW Change %</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ADVANCED SQL ANALYTICS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ea typeface="Cambria" panose="02040503050406030204" pitchFamily="18" charset="0"/>
              </a:rPr>
              <a:t>WEEK-OVER-WEEK SQL ANALYSIS</a:t>
            </a:r>
            <a:endParaRPr lang="en-US" sz="1300" i="1" dirty="0">
              <a:solidFill>
                <a:srgbClr val="0E7C86"/>
              </a:solidFill>
              <a:ea typeface="Cambria" panose="02040503050406030204" pitchFamily="18" charset="0"/>
            </a:endParaRPr>
          </a:p>
        </p:txBody>
      </p:sp>
      <p:sp>
        <p:nvSpPr>
          <p:cNvPr id="4" name="Shape 2"/>
          <p:cNvSpPr/>
          <p:nvPr/>
        </p:nvSpPr>
        <p:spPr>
          <a:xfrm>
            <a:off x="54864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5" name="Shape 3"/>
          <p:cNvSpPr/>
          <p:nvPr/>
        </p:nvSpPr>
        <p:spPr>
          <a:xfrm>
            <a:off x="749808" y="1691640"/>
            <a:ext cx="384048" cy="384048"/>
          </a:xfrm>
          <a:prstGeom prst="ellipse">
            <a:avLst/>
          </a:prstGeom>
          <a:solidFill>
            <a:srgbClr val="0E7C86"/>
          </a:solidFill>
          <a:ln/>
        </p:spPr>
        <p:txBody>
          <a:bodyPr/>
          <a:lstStyle/>
          <a:p>
            <a:endParaRPr lang="en-IN"/>
          </a:p>
        </p:txBody>
      </p:sp>
      <p:sp>
        <p:nvSpPr>
          <p:cNvPr id="6" name="Text 4"/>
          <p:cNvSpPr/>
          <p:nvPr/>
        </p:nvSpPr>
        <p:spPr>
          <a:xfrm>
            <a:off x="74980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61872" y="1664208"/>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Revenue WoW Change %</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8" name="Text 6"/>
          <p:cNvSpPr/>
          <p:nvPr/>
        </p:nvSpPr>
        <p:spPr>
          <a:xfrm>
            <a:off x="777240" y="2167128"/>
            <a:ext cx="3063240" cy="658368"/>
          </a:xfrm>
          <a:prstGeom prst="rect">
            <a:avLst/>
          </a:prstGeom>
          <a:noFill/>
          <a:ln/>
        </p:spPr>
        <p:txBody>
          <a:bodyPr wrap="square" rtlCol="0" anchor="ctr"/>
          <a:lstStyle/>
          <a:p>
            <a:r>
              <a:rPr lang="en-IN" sz="1000" dirty="0">
                <a:solidFill>
                  <a:schemeClr val="bg2">
                    <a:lumMod val="25000"/>
                  </a:schemeClr>
                </a:solidFill>
              </a:rPr>
              <a:t>LAG() is used to compare current week revenue with the previous week and calculate the revenue change percentage.</a:t>
            </a:r>
            <a:endParaRPr lang="en-US" sz="1000" dirty="0">
              <a:solidFill>
                <a:schemeClr val="bg2">
                  <a:lumMod val="25000"/>
                </a:schemeClr>
              </a:solidFill>
            </a:endParaRPr>
          </a:p>
        </p:txBody>
      </p:sp>
      <p:sp>
        <p:nvSpPr>
          <p:cNvPr id="9" name="Shape 7"/>
          <p:cNvSpPr/>
          <p:nvPr/>
        </p:nvSpPr>
        <p:spPr>
          <a:xfrm>
            <a:off x="777240" y="3090672"/>
            <a:ext cx="3063240" cy="274320"/>
          </a:xfrm>
          <a:prstGeom prst="roundRect">
            <a:avLst>
              <a:gd name="adj" fmla="val 13333"/>
            </a:avLst>
          </a:prstGeom>
          <a:solidFill>
            <a:srgbClr val="142850"/>
          </a:solidFill>
          <a:ln/>
        </p:spPr>
        <p:txBody>
          <a:bodyPr/>
          <a:lstStyle/>
          <a:p>
            <a:endParaRPr lang="en-IN"/>
          </a:p>
        </p:txBody>
      </p:sp>
      <p:sp>
        <p:nvSpPr>
          <p:cNvPr id="10" name="Text 8"/>
          <p:cNvSpPr/>
          <p:nvPr/>
        </p:nvSpPr>
        <p:spPr>
          <a:xfrm>
            <a:off x="841248" y="3090672"/>
            <a:ext cx="2935224" cy="274320"/>
          </a:xfrm>
          <a:prstGeom prst="rect">
            <a:avLst/>
          </a:prstGeom>
          <a:noFill/>
          <a:ln/>
        </p:spPr>
        <p:txBody>
          <a:bodyPr wrap="square" rtlCol="0" anchor="ctr"/>
          <a:lstStyle/>
          <a:p>
            <a:r>
              <a:rPr lang="en-IN" sz="800" dirty="0">
                <a:solidFill>
                  <a:schemeClr val="bg1"/>
                </a:solidFill>
                <a:latin typeface="Courier New" panose="02070309020205020404" pitchFamily="49" charset="0"/>
                <a:ea typeface="Cambria" panose="02040503050406030204" pitchFamily="18" charset="0"/>
                <a:cs typeface="Courier New" panose="02070309020205020404" pitchFamily="49" charset="0"/>
              </a:rPr>
              <a:t>LAG(revenue) OVER (ORDER BY </a:t>
            </a:r>
            <a:r>
              <a:rPr lang="en-IN" sz="800" dirty="0" err="1">
                <a:solidFill>
                  <a:schemeClr val="bg1"/>
                </a:solidFill>
                <a:latin typeface="Courier New" panose="02070309020205020404" pitchFamily="49" charset="0"/>
                <a:ea typeface="Cambria" panose="02040503050406030204" pitchFamily="18" charset="0"/>
                <a:cs typeface="Courier New" panose="02070309020205020404" pitchFamily="49" charset="0"/>
              </a:rPr>
              <a:t>week_no</a:t>
            </a:r>
            <a:r>
              <a:rPr lang="en-IN" sz="800" dirty="0">
                <a:solidFill>
                  <a:schemeClr val="bg1"/>
                </a:solidFill>
                <a:latin typeface="Courier New" panose="02070309020205020404" pitchFamily="49" charset="0"/>
                <a:ea typeface="Cambria" panose="02040503050406030204" pitchFamily="18" charset="0"/>
                <a:cs typeface="Courier New" panose="02070309020205020404" pitchFamily="49" charset="0"/>
              </a:rPr>
              <a:t>)</a:t>
            </a:r>
            <a:endParaRPr lang="en-US" sz="800" dirty="0">
              <a:solidFill>
                <a:schemeClr val="bg1"/>
              </a:solidFill>
              <a:latin typeface="Courier New" panose="02070309020205020404" pitchFamily="49" charset="0"/>
              <a:ea typeface="Cambria" panose="02040503050406030204" pitchFamily="18" charset="0"/>
              <a:cs typeface="Courier New" panose="02070309020205020404" pitchFamily="49" charset="0"/>
            </a:endParaRPr>
          </a:p>
        </p:txBody>
      </p:sp>
      <p:sp>
        <p:nvSpPr>
          <p:cNvPr id="11" name="Shape 9"/>
          <p:cNvSpPr/>
          <p:nvPr/>
        </p:nvSpPr>
        <p:spPr>
          <a:xfrm>
            <a:off x="434340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12" name="Shape 10"/>
          <p:cNvSpPr/>
          <p:nvPr/>
        </p:nvSpPr>
        <p:spPr>
          <a:xfrm>
            <a:off x="4544568" y="1691640"/>
            <a:ext cx="384048" cy="384048"/>
          </a:xfrm>
          <a:prstGeom prst="ellipse">
            <a:avLst/>
          </a:prstGeom>
          <a:solidFill>
            <a:srgbClr val="E8871E"/>
          </a:solidFill>
          <a:ln/>
        </p:spPr>
        <p:txBody>
          <a:bodyPr/>
          <a:lstStyle/>
          <a:p>
            <a:endParaRPr lang="en-IN"/>
          </a:p>
        </p:txBody>
      </p:sp>
      <p:sp>
        <p:nvSpPr>
          <p:cNvPr id="13" name="Text 11"/>
          <p:cNvSpPr/>
          <p:nvPr/>
        </p:nvSpPr>
        <p:spPr>
          <a:xfrm>
            <a:off x="454456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5056632" y="1664208"/>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Occupancy WoW Change %</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15" name="Text 13"/>
          <p:cNvSpPr/>
          <p:nvPr/>
        </p:nvSpPr>
        <p:spPr>
          <a:xfrm>
            <a:off x="4572000" y="2167128"/>
            <a:ext cx="3063240" cy="658368"/>
          </a:xfrm>
          <a:prstGeom prst="rect">
            <a:avLst/>
          </a:prstGeom>
          <a:noFill/>
          <a:ln/>
        </p:spPr>
        <p:txBody>
          <a:bodyPr wrap="square" rtlCol="0" anchor="ctr"/>
          <a:lstStyle/>
          <a:p>
            <a:r>
              <a:rPr lang="en-IN" sz="1000" dirty="0">
                <a:solidFill>
                  <a:schemeClr val="bg2">
                    <a:lumMod val="25000"/>
                  </a:schemeClr>
                </a:solidFill>
              </a:rPr>
              <a:t>Compares current week occupancy with the previous week to identify changes in hotel room utilization.</a:t>
            </a:r>
            <a:endParaRPr lang="en-US" sz="1000" dirty="0">
              <a:solidFill>
                <a:schemeClr val="bg2">
                  <a:lumMod val="25000"/>
                </a:schemeClr>
              </a:solidFill>
            </a:endParaRPr>
          </a:p>
        </p:txBody>
      </p:sp>
      <p:sp>
        <p:nvSpPr>
          <p:cNvPr id="16" name="Shape 14"/>
          <p:cNvSpPr/>
          <p:nvPr/>
        </p:nvSpPr>
        <p:spPr>
          <a:xfrm>
            <a:off x="4572000" y="3090672"/>
            <a:ext cx="3063240" cy="274320"/>
          </a:xfrm>
          <a:prstGeom prst="roundRect">
            <a:avLst>
              <a:gd name="adj" fmla="val 13333"/>
            </a:avLst>
          </a:prstGeom>
          <a:solidFill>
            <a:srgbClr val="142850"/>
          </a:solidFill>
          <a:ln/>
        </p:spPr>
        <p:txBody>
          <a:bodyPr/>
          <a:lstStyle/>
          <a:p>
            <a:endParaRPr lang="en-IN"/>
          </a:p>
        </p:txBody>
      </p:sp>
      <p:sp>
        <p:nvSpPr>
          <p:cNvPr id="17" name="Text 15"/>
          <p:cNvSpPr/>
          <p:nvPr/>
        </p:nvSpPr>
        <p:spPr>
          <a:xfrm>
            <a:off x="4636008" y="3090672"/>
            <a:ext cx="2935224" cy="274320"/>
          </a:xfrm>
          <a:prstGeom prst="rect">
            <a:avLst/>
          </a:prstGeom>
          <a:noFill/>
          <a:ln/>
        </p:spPr>
        <p:txBody>
          <a:bodyPr wrap="square" rtlCol="0" anchor="ctr"/>
          <a:lstStyle/>
          <a:p>
            <a:r>
              <a:rPr lang="en-IN" sz="800" dirty="0">
                <a:solidFill>
                  <a:schemeClr val="bg1"/>
                </a:solidFill>
                <a:latin typeface="Cambria" panose="02040503050406030204" pitchFamily="18" charset="0"/>
                <a:ea typeface="Cambria" panose="02040503050406030204" pitchFamily="18" charset="0"/>
              </a:rPr>
              <a:t>LAG(occupancy) OVER (ORDER BY </a:t>
            </a:r>
            <a:r>
              <a:rPr lang="en-IN" sz="800" dirty="0" err="1">
                <a:solidFill>
                  <a:schemeClr val="bg1"/>
                </a:solidFill>
                <a:latin typeface="Cambria" panose="02040503050406030204" pitchFamily="18" charset="0"/>
                <a:ea typeface="Cambria" panose="02040503050406030204" pitchFamily="18" charset="0"/>
              </a:rPr>
              <a:t>week_no</a:t>
            </a:r>
            <a:r>
              <a:rPr lang="en-IN" sz="800" dirty="0">
                <a:solidFill>
                  <a:schemeClr val="bg1"/>
                </a:solidFill>
                <a:latin typeface="Cambria" panose="02040503050406030204" pitchFamily="18" charset="0"/>
                <a:ea typeface="Cambria" panose="02040503050406030204" pitchFamily="18" charset="0"/>
              </a:rPr>
              <a:t>)</a:t>
            </a:r>
            <a:endParaRPr lang="en-US" sz="800" dirty="0">
              <a:solidFill>
                <a:schemeClr val="bg1"/>
              </a:solidFill>
              <a:latin typeface="Cambria" panose="02040503050406030204" pitchFamily="18" charset="0"/>
              <a:ea typeface="Cambria" panose="02040503050406030204" pitchFamily="18" charset="0"/>
            </a:endParaRPr>
          </a:p>
        </p:txBody>
      </p:sp>
      <p:sp>
        <p:nvSpPr>
          <p:cNvPr id="18" name="Shape 16"/>
          <p:cNvSpPr/>
          <p:nvPr/>
        </p:nvSpPr>
        <p:spPr>
          <a:xfrm>
            <a:off x="8138160" y="1508760"/>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19" name="Shape 17"/>
          <p:cNvSpPr/>
          <p:nvPr/>
        </p:nvSpPr>
        <p:spPr>
          <a:xfrm>
            <a:off x="8339328" y="1691640"/>
            <a:ext cx="384048" cy="384048"/>
          </a:xfrm>
          <a:prstGeom prst="ellipse">
            <a:avLst/>
          </a:prstGeom>
          <a:solidFill>
            <a:srgbClr val="142850"/>
          </a:solidFill>
          <a:ln/>
        </p:spPr>
        <p:txBody>
          <a:bodyPr/>
          <a:lstStyle/>
          <a:p>
            <a:endParaRPr lang="en-IN"/>
          </a:p>
        </p:txBody>
      </p:sp>
      <p:sp>
        <p:nvSpPr>
          <p:cNvPr id="20" name="Text 18"/>
          <p:cNvSpPr/>
          <p:nvPr/>
        </p:nvSpPr>
        <p:spPr>
          <a:xfrm>
            <a:off x="8339328" y="169164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8851392" y="1664208"/>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ADR WoW Change %</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22" name="Text 20"/>
          <p:cNvSpPr/>
          <p:nvPr/>
        </p:nvSpPr>
        <p:spPr>
          <a:xfrm>
            <a:off x="8366760" y="2167128"/>
            <a:ext cx="3063240" cy="658368"/>
          </a:xfrm>
          <a:prstGeom prst="rect">
            <a:avLst/>
          </a:prstGeom>
          <a:noFill/>
          <a:ln/>
        </p:spPr>
        <p:txBody>
          <a:bodyPr wrap="square" rtlCol="0" anchor="ctr"/>
          <a:lstStyle/>
          <a:p>
            <a:r>
              <a:rPr lang="en-IN" sz="1000" dirty="0">
                <a:solidFill>
                  <a:schemeClr val="bg2">
                    <a:lumMod val="25000"/>
                  </a:schemeClr>
                </a:solidFill>
              </a:rPr>
              <a:t>Compares current week ADR with the previous week to identify changes in average daily room rates.</a:t>
            </a:r>
            <a:endParaRPr lang="en-US" sz="1000" dirty="0">
              <a:solidFill>
                <a:schemeClr val="bg2">
                  <a:lumMod val="25000"/>
                </a:schemeClr>
              </a:solidFill>
            </a:endParaRPr>
          </a:p>
        </p:txBody>
      </p:sp>
      <p:sp>
        <p:nvSpPr>
          <p:cNvPr id="23" name="Shape 21"/>
          <p:cNvSpPr/>
          <p:nvPr/>
        </p:nvSpPr>
        <p:spPr>
          <a:xfrm>
            <a:off x="8366760" y="3090672"/>
            <a:ext cx="3063240" cy="274320"/>
          </a:xfrm>
          <a:prstGeom prst="roundRect">
            <a:avLst>
              <a:gd name="adj" fmla="val 13333"/>
            </a:avLst>
          </a:prstGeom>
          <a:solidFill>
            <a:srgbClr val="142850"/>
          </a:solidFill>
          <a:ln/>
        </p:spPr>
        <p:txBody>
          <a:bodyPr/>
          <a:lstStyle/>
          <a:p>
            <a:endParaRPr lang="en-IN"/>
          </a:p>
        </p:txBody>
      </p:sp>
      <p:sp>
        <p:nvSpPr>
          <p:cNvPr id="24" name="Text 22"/>
          <p:cNvSpPr/>
          <p:nvPr/>
        </p:nvSpPr>
        <p:spPr>
          <a:xfrm>
            <a:off x="8430768" y="3090672"/>
            <a:ext cx="2935224" cy="274320"/>
          </a:xfrm>
          <a:prstGeom prst="rect">
            <a:avLst/>
          </a:prstGeom>
          <a:noFill/>
          <a:ln/>
        </p:spPr>
        <p:txBody>
          <a:bodyPr wrap="square" rtlCol="0" anchor="ctr"/>
          <a:lstStyle/>
          <a:p>
            <a:r>
              <a:rPr lang="en-IN" sz="800" dirty="0">
                <a:solidFill>
                  <a:schemeClr val="bg1"/>
                </a:solidFill>
                <a:latin typeface="Cambria" panose="02040503050406030204" pitchFamily="18" charset="0"/>
                <a:ea typeface="Cambria" panose="02040503050406030204" pitchFamily="18" charset="0"/>
              </a:rPr>
              <a:t>LAG(ADR) OVER (ORDER BY </a:t>
            </a:r>
            <a:r>
              <a:rPr lang="en-IN" sz="800" dirty="0" err="1">
                <a:solidFill>
                  <a:schemeClr val="bg1"/>
                </a:solidFill>
                <a:latin typeface="Cambria" panose="02040503050406030204" pitchFamily="18" charset="0"/>
                <a:ea typeface="Cambria" panose="02040503050406030204" pitchFamily="18" charset="0"/>
              </a:rPr>
              <a:t>week_no</a:t>
            </a:r>
            <a:r>
              <a:rPr lang="en-IN" sz="800" dirty="0">
                <a:solidFill>
                  <a:schemeClr val="bg1"/>
                </a:solidFill>
                <a:latin typeface="Cambria" panose="02040503050406030204" pitchFamily="18" charset="0"/>
                <a:ea typeface="Cambria" panose="02040503050406030204" pitchFamily="18" charset="0"/>
              </a:rPr>
              <a:t>)</a:t>
            </a:r>
            <a:endParaRPr lang="en-US" sz="800" dirty="0">
              <a:solidFill>
                <a:schemeClr val="bg1"/>
              </a:solidFill>
              <a:latin typeface="Cambria" panose="02040503050406030204" pitchFamily="18" charset="0"/>
              <a:ea typeface="Cambria" panose="02040503050406030204" pitchFamily="18" charset="0"/>
            </a:endParaRPr>
          </a:p>
        </p:txBody>
      </p:sp>
      <p:sp>
        <p:nvSpPr>
          <p:cNvPr id="25" name="Shape 23"/>
          <p:cNvSpPr/>
          <p:nvPr/>
        </p:nvSpPr>
        <p:spPr>
          <a:xfrm>
            <a:off x="54864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26" name="Shape 24"/>
          <p:cNvSpPr/>
          <p:nvPr/>
        </p:nvSpPr>
        <p:spPr>
          <a:xfrm>
            <a:off x="749808" y="3913632"/>
            <a:ext cx="384048" cy="384048"/>
          </a:xfrm>
          <a:prstGeom prst="ellipse">
            <a:avLst/>
          </a:prstGeom>
          <a:solidFill>
            <a:srgbClr val="0E7C86"/>
          </a:solidFill>
          <a:ln/>
        </p:spPr>
        <p:txBody>
          <a:bodyPr/>
          <a:lstStyle/>
          <a:p>
            <a:endParaRPr lang="en-IN"/>
          </a:p>
        </p:txBody>
      </p:sp>
      <p:sp>
        <p:nvSpPr>
          <p:cNvPr id="27" name="Text 25"/>
          <p:cNvSpPr/>
          <p:nvPr/>
        </p:nvSpPr>
        <p:spPr>
          <a:xfrm>
            <a:off x="74980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8" name="Text 26"/>
          <p:cNvSpPr/>
          <p:nvPr/>
        </p:nvSpPr>
        <p:spPr>
          <a:xfrm>
            <a:off x="1261872" y="3886200"/>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RevPAR WoW Change %</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29" name="Text 27"/>
          <p:cNvSpPr/>
          <p:nvPr/>
        </p:nvSpPr>
        <p:spPr>
          <a:xfrm>
            <a:off x="777240" y="4389120"/>
            <a:ext cx="3063240" cy="658368"/>
          </a:xfrm>
          <a:prstGeom prst="rect">
            <a:avLst/>
          </a:prstGeom>
          <a:noFill/>
          <a:ln/>
        </p:spPr>
        <p:txBody>
          <a:bodyPr wrap="square" rtlCol="0" anchor="ctr"/>
          <a:lstStyle/>
          <a:p>
            <a:r>
              <a:rPr lang="en-IN" sz="1000" dirty="0">
                <a:solidFill>
                  <a:schemeClr val="bg2">
                    <a:lumMod val="25000"/>
                  </a:schemeClr>
                </a:solidFill>
              </a:rPr>
              <a:t>Compares current week RevPAR with the previous week to measure changes in revenue generated per available room.</a:t>
            </a:r>
            <a:endParaRPr lang="en-US" sz="1000" dirty="0">
              <a:solidFill>
                <a:schemeClr val="bg2">
                  <a:lumMod val="25000"/>
                </a:schemeClr>
              </a:solidFill>
            </a:endParaRPr>
          </a:p>
        </p:txBody>
      </p:sp>
      <p:sp>
        <p:nvSpPr>
          <p:cNvPr id="30" name="Shape 28"/>
          <p:cNvSpPr/>
          <p:nvPr/>
        </p:nvSpPr>
        <p:spPr>
          <a:xfrm>
            <a:off x="777240" y="5312664"/>
            <a:ext cx="3063240" cy="274320"/>
          </a:xfrm>
          <a:prstGeom prst="roundRect">
            <a:avLst>
              <a:gd name="adj" fmla="val 13333"/>
            </a:avLst>
          </a:prstGeom>
          <a:solidFill>
            <a:srgbClr val="142850"/>
          </a:solidFill>
          <a:ln/>
        </p:spPr>
        <p:txBody>
          <a:bodyPr/>
          <a:lstStyle/>
          <a:p>
            <a:endParaRPr lang="en-IN"/>
          </a:p>
        </p:txBody>
      </p:sp>
      <p:sp>
        <p:nvSpPr>
          <p:cNvPr id="31" name="Text 29"/>
          <p:cNvSpPr/>
          <p:nvPr/>
        </p:nvSpPr>
        <p:spPr>
          <a:xfrm>
            <a:off x="841248" y="5312664"/>
            <a:ext cx="2935224" cy="274320"/>
          </a:xfrm>
          <a:prstGeom prst="rect">
            <a:avLst/>
          </a:prstGeom>
          <a:noFill/>
          <a:ln/>
        </p:spPr>
        <p:txBody>
          <a:bodyPr wrap="square" rtlCol="0" anchor="ctr"/>
          <a:lstStyle/>
          <a:p>
            <a:r>
              <a:rPr lang="en-IN" sz="800" dirty="0">
                <a:solidFill>
                  <a:schemeClr val="bg1"/>
                </a:solidFill>
                <a:latin typeface="Cambria" panose="02040503050406030204" pitchFamily="18" charset="0"/>
                <a:ea typeface="Cambria" panose="02040503050406030204" pitchFamily="18" charset="0"/>
              </a:rPr>
              <a:t>LAG(RevPAR) OVER (ORDER BY </a:t>
            </a:r>
            <a:r>
              <a:rPr lang="en-IN" sz="800" dirty="0" err="1">
                <a:solidFill>
                  <a:schemeClr val="bg1"/>
                </a:solidFill>
                <a:latin typeface="Cambria" panose="02040503050406030204" pitchFamily="18" charset="0"/>
                <a:ea typeface="Cambria" panose="02040503050406030204" pitchFamily="18" charset="0"/>
              </a:rPr>
              <a:t>week_no</a:t>
            </a:r>
            <a:r>
              <a:rPr lang="en-IN" sz="800" dirty="0">
                <a:solidFill>
                  <a:schemeClr val="bg1"/>
                </a:solidFill>
                <a:latin typeface="Cambria" panose="02040503050406030204" pitchFamily="18" charset="0"/>
                <a:ea typeface="Cambria" panose="02040503050406030204" pitchFamily="18" charset="0"/>
              </a:rPr>
              <a:t>)</a:t>
            </a:r>
            <a:endParaRPr lang="en-US" sz="800" dirty="0">
              <a:solidFill>
                <a:schemeClr val="bg1"/>
              </a:solidFill>
              <a:latin typeface="Cambria" panose="02040503050406030204" pitchFamily="18" charset="0"/>
              <a:ea typeface="Cambria" panose="02040503050406030204" pitchFamily="18" charset="0"/>
            </a:endParaRPr>
          </a:p>
        </p:txBody>
      </p:sp>
      <p:sp>
        <p:nvSpPr>
          <p:cNvPr id="32" name="Shape 30"/>
          <p:cNvSpPr/>
          <p:nvPr/>
        </p:nvSpPr>
        <p:spPr>
          <a:xfrm>
            <a:off x="434340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33" name="Shape 31"/>
          <p:cNvSpPr/>
          <p:nvPr/>
        </p:nvSpPr>
        <p:spPr>
          <a:xfrm>
            <a:off x="4544568" y="3913632"/>
            <a:ext cx="384048" cy="384048"/>
          </a:xfrm>
          <a:prstGeom prst="ellipse">
            <a:avLst/>
          </a:prstGeom>
          <a:solidFill>
            <a:srgbClr val="E8871E"/>
          </a:solidFill>
          <a:ln/>
        </p:spPr>
        <p:txBody>
          <a:bodyPr/>
          <a:lstStyle/>
          <a:p>
            <a:endParaRPr lang="en-IN"/>
          </a:p>
        </p:txBody>
      </p:sp>
      <p:sp>
        <p:nvSpPr>
          <p:cNvPr id="34" name="Text 32"/>
          <p:cNvSpPr/>
          <p:nvPr/>
        </p:nvSpPr>
        <p:spPr>
          <a:xfrm>
            <a:off x="454456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5" name="Text 33"/>
          <p:cNvSpPr/>
          <p:nvPr/>
        </p:nvSpPr>
        <p:spPr>
          <a:xfrm>
            <a:off x="5056632" y="3886200"/>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DSRN WoW Change %</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36" name="Text 34"/>
          <p:cNvSpPr/>
          <p:nvPr/>
        </p:nvSpPr>
        <p:spPr>
          <a:xfrm>
            <a:off x="4572000" y="4389120"/>
            <a:ext cx="3063240" cy="658368"/>
          </a:xfrm>
          <a:prstGeom prst="rect">
            <a:avLst/>
          </a:prstGeom>
          <a:noFill/>
          <a:ln/>
        </p:spPr>
        <p:txBody>
          <a:bodyPr wrap="square" rtlCol="0" anchor="ctr"/>
          <a:lstStyle/>
          <a:p>
            <a:r>
              <a:rPr lang="en-IN" sz="1000" dirty="0">
                <a:solidFill>
                  <a:schemeClr val="bg2">
                    <a:lumMod val="25000"/>
                  </a:schemeClr>
                </a:solidFill>
              </a:rPr>
              <a:t>Compares current week DSRN with the previous week to identify changes in daily sellable room nights.</a:t>
            </a:r>
            <a:endParaRPr lang="en-US" sz="1000" dirty="0">
              <a:solidFill>
                <a:schemeClr val="bg2">
                  <a:lumMod val="25000"/>
                </a:schemeClr>
              </a:solidFill>
            </a:endParaRPr>
          </a:p>
        </p:txBody>
      </p:sp>
      <p:sp>
        <p:nvSpPr>
          <p:cNvPr id="37" name="Shape 35"/>
          <p:cNvSpPr/>
          <p:nvPr/>
        </p:nvSpPr>
        <p:spPr>
          <a:xfrm>
            <a:off x="4572000" y="5312664"/>
            <a:ext cx="3063240" cy="274320"/>
          </a:xfrm>
          <a:prstGeom prst="roundRect">
            <a:avLst>
              <a:gd name="adj" fmla="val 13333"/>
            </a:avLst>
          </a:prstGeom>
          <a:solidFill>
            <a:srgbClr val="142850"/>
          </a:solidFill>
          <a:ln/>
        </p:spPr>
        <p:txBody>
          <a:bodyPr/>
          <a:lstStyle/>
          <a:p>
            <a:endParaRPr lang="en-IN"/>
          </a:p>
        </p:txBody>
      </p:sp>
      <p:sp>
        <p:nvSpPr>
          <p:cNvPr id="38" name="Text 36"/>
          <p:cNvSpPr/>
          <p:nvPr/>
        </p:nvSpPr>
        <p:spPr>
          <a:xfrm>
            <a:off x="4636008" y="5312664"/>
            <a:ext cx="2935224" cy="274320"/>
          </a:xfrm>
          <a:prstGeom prst="rect">
            <a:avLst/>
          </a:prstGeom>
          <a:noFill/>
          <a:ln/>
        </p:spPr>
        <p:txBody>
          <a:bodyPr wrap="square" rtlCol="0" anchor="ctr"/>
          <a:lstStyle/>
          <a:p>
            <a:r>
              <a:rPr lang="en-IN" sz="800" dirty="0">
                <a:solidFill>
                  <a:schemeClr val="bg1"/>
                </a:solidFill>
                <a:latin typeface="Cambria" panose="02040503050406030204" pitchFamily="18" charset="0"/>
                <a:ea typeface="Cambria" panose="02040503050406030204" pitchFamily="18" charset="0"/>
              </a:rPr>
              <a:t>LAG(DSRN) OVER (ORDER BY </a:t>
            </a:r>
            <a:r>
              <a:rPr lang="en-IN" sz="800" dirty="0" err="1">
                <a:solidFill>
                  <a:schemeClr val="bg1"/>
                </a:solidFill>
                <a:latin typeface="Cambria" panose="02040503050406030204" pitchFamily="18" charset="0"/>
                <a:ea typeface="Cambria" panose="02040503050406030204" pitchFamily="18" charset="0"/>
              </a:rPr>
              <a:t>week_no</a:t>
            </a:r>
            <a:r>
              <a:rPr lang="en-IN" sz="800" dirty="0">
                <a:solidFill>
                  <a:schemeClr val="bg1"/>
                </a:solidFill>
                <a:latin typeface="Cambria" panose="02040503050406030204" pitchFamily="18" charset="0"/>
                <a:ea typeface="Cambria" panose="02040503050406030204" pitchFamily="18" charset="0"/>
              </a:rPr>
              <a:t>)</a:t>
            </a:r>
            <a:endParaRPr lang="en-US" sz="800" dirty="0">
              <a:solidFill>
                <a:schemeClr val="bg1"/>
              </a:solidFill>
              <a:latin typeface="Cambria" panose="02040503050406030204" pitchFamily="18" charset="0"/>
              <a:ea typeface="Cambria" panose="02040503050406030204" pitchFamily="18" charset="0"/>
            </a:endParaRPr>
          </a:p>
        </p:txBody>
      </p:sp>
      <p:sp>
        <p:nvSpPr>
          <p:cNvPr id="39" name="Shape 37"/>
          <p:cNvSpPr/>
          <p:nvPr/>
        </p:nvSpPr>
        <p:spPr>
          <a:xfrm>
            <a:off x="8138160" y="3730752"/>
            <a:ext cx="3520440" cy="1965960"/>
          </a:xfrm>
          <a:prstGeom prst="roundRect">
            <a:avLst>
              <a:gd name="adj" fmla="val 3256"/>
            </a:avLst>
          </a:prstGeom>
          <a:solidFill>
            <a:srgbClr val="FFFFFF"/>
          </a:solidFill>
          <a:ln w="12700">
            <a:solidFill>
              <a:srgbClr val="E3E8EE"/>
            </a:solidFill>
            <a:prstDash val="solid"/>
          </a:ln>
          <a:effectLst>
            <a:outerShdw blurRad="76200" dist="25400" dir="5400000" algn="bl" rotWithShape="0">
              <a:srgbClr val="9AA5B1">
                <a:alpha val="20000"/>
              </a:srgbClr>
            </a:outerShdw>
          </a:effectLst>
        </p:spPr>
        <p:txBody>
          <a:bodyPr/>
          <a:lstStyle/>
          <a:p>
            <a:endParaRPr lang="en-IN"/>
          </a:p>
        </p:txBody>
      </p:sp>
      <p:sp>
        <p:nvSpPr>
          <p:cNvPr id="40" name="Shape 38"/>
          <p:cNvSpPr/>
          <p:nvPr/>
        </p:nvSpPr>
        <p:spPr>
          <a:xfrm>
            <a:off x="8339328" y="3913632"/>
            <a:ext cx="384048" cy="384048"/>
          </a:xfrm>
          <a:prstGeom prst="ellipse">
            <a:avLst/>
          </a:prstGeom>
          <a:solidFill>
            <a:srgbClr val="142850"/>
          </a:solidFill>
          <a:ln/>
        </p:spPr>
        <p:txBody>
          <a:bodyPr/>
          <a:lstStyle/>
          <a:p>
            <a:endParaRPr lang="en-IN"/>
          </a:p>
        </p:txBody>
      </p:sp>
      <p:sp>
        <p:nvSpPr>
          <p:cNvPr id="41" name="Text 39"/>
          <p:cNvSpPr/>
          <p:nvPr/>
        </p:nvSpPr>
        <p:spPr>
          <a:xfrm>
            <a:off x="8339328" y="3913632"/>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2" name="Text 40"/>
          <p:cNvSpPr/>
          <p:nvPr/>
        </p:nvSpPr>
        <p:spPr>
          <a:xfrm>
            <a:off x="8851392" y="3886200"/>
            <a:ext cx="2606040" cy="457200"/>
          </a:xfrm>
          <a:prstGeom prst="rect">
            <a:avLst/>
          </a:prstGeom>
          <a:noFill/>
          <a:ln/>
        </p:spPr>
        <p:txBody>
          <a:bodyPr wrap="square" rtlCol="0" anchor="ctr"/>
          <a:lstStyle/>
          <a:p>
            <a:r>
              <a:rPr lang="en-IN" sz="1300" b="1" dirty="0">
                <a:solidFill>
                  <a:schemeClr val="tx2">
                    <a:lumMod val="75000"/>
                  </a:schemeClr>
                </a:solidFill>
                <a:latin typeface="Cambria" panose="02040503050406030204" pitchFamily="18" charset="0"/>
                <a:ea typeface="Cambria" panose="02040503050406030204" pitchFamily="18" charset="0"/>
              </a:rPr>
              <a:t>SQL Function Used — LAG()</a:t>
            </a:r>
            <a:endParaRPr lang="en-US" sz="1300" b="1" dirty="0">
              <a:solidFill>
                <a:schemeClr val="tx2">
                  <a:lumMod val="75000"/>
                </a:schemeClr>
              </a:solidFill>
              <a:latin typeface="Cambria" panose="02040503050406030204" pitchFamily="18" charset="0"/>
              <a:ea typeface="Cambria" panose="02040503050406030204" pitchFamily="18" charset="0"/>
            </a:endParaRPr>
          </a:p>
        </p:txBody>
      </p:sp>
      <p:sp>
        <p:nvSpPr>
          <p:cNvPr id="43" name="Text 41"/>
          <p:cNvSpPr/>
          <p:nvPr/>
        </p:nvSpPr>
        <p:spPr>
          <a:xfrm>
            <a:off x="8366760" y="4389120"/>
            <a:ext cx="3063240" cy="658368"/>
          </a:xfrm>
          <a:prstGeom prst="rect">
            <a:avLst/>
          </a:prstGeom>
          <a:noFill/>
          <a:ln/>
        </p:spPr>
        <p:txBody>
          <a:bodyPr wrap="square" rtlCol="0" anchor="ctr"/>
          <a:lstStyle/>
          <a:p>
            <a:r>
              <a:rPr lang="en-IN" sz="1000" dirty="0">
                <a:solidFill>
                  <a:schemeClr val="bg2">
                    <a:lumMod val="25000"/>
                  </a:schemeClr>
                </a:solidFill>
              </a:rPr>
              <a:t>LAG() retrieves the previous week's value, which is used to calculate the Week-over-Week change percentage.</a:t>
            </a:r>
            <a:endParaRPr lang="en-US" sz="1000" dirty="0">
              <a:solidFill>
                <a:schemeClr val="bg2">
                  <a:lumMod val="25000"/>
                </a:schemeClr>
              </a:solidFill>
            </a:endParaRPr>
          </a:p>
        </p:txBody>
      </p:sp>
      <p:sp>
        <p:nvSpPr>
          <p:cNvPr id="44" name="Shape 42"/>
          <p:cNvSpPr/>
          <p:nvPr/>
        </p:nvSpPr>
        <p:spPr>
          <a:xfrm>
            <a:off x="8366760" y="5312664"/>
            <a:ext cx="3063240" cy="274320"/>
          </a:xfrm>
          <a:prstGeom prst="roundRect">
            <a:avLst>
              <a:gd name="adj" fmla="val 13333"/>
            </a:avLst>
          </a:prstGeom>
          <a:solidFill>
            <a:srgbClr val="142850"/>
          </a:solidFill>
          <a:ln/>
        </p:spPr>
        <p:txBody>
          <a:bodyPr/>
          <a:lstStyle/>
          <a:p>
            <a:endParaRPr lang="en-IN"/>
          </a:p>
        </p:txBody>
      </p:sp>
      <p:sp>
        <p:nvSpPr>
          <p:cNvPr id="45" name="Text 43"/>
          <p:cNvSpPr/>
          <p:nvPr/>
        </p:nvSpPr>
        <p:spPr>
          <a:xfrm>
            <a:off x="8430768" y="5312664"/>
            <a:ext cx="2935224" cy="274320"/>
          </a:xfrm>
          <a:prstGeom prst="rect">
            <a:avLst/>
          </a:prstGeom>
          <a:noFill/>
          <a:ln/>
        </p:spPr>
        <p:txBody>
          <a:bodyPr wrap="square" rtlCol="0" anchor="ctr"/>
          <a:lstStyle/>
          <a:p>
            <a:pPr marL="0" indent="0">
              <a:buNone/>
            </a:pPr>
            <a:r>
              <a:rPr lang="en-US" sz="800" dirty="0">
                <a:solidFill>
                  <a:srgbClr val="DCEEF0"/>
                </a:solidFill>
                <a:latin typeface="Courier New" pitchFamily="34" charset="0"/>
                <a:cs typeface="Courier New" pitchFamily="34" charset="-120"/>
              </a:rPr>
              <a:t>LAG()</a:t>
            </a:r>
            <a:endParaRPr lang="en-US" sz="800" dirty="0"/>
          </a:p>
        </p:txBody>
      </p:sp>
      <p:sp>
        <p:nvSpPr>
          <p:cNvPr id="46" name="Text 44"/>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47" name="Text 45"/>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TABLEAU DASHBOARD 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Hotel revenue and booking performance analysis</a:t>
            </a:r>
            <a:endParaRPr lang="en-US" sz="1300" i="1" dirty="0">
              <a:solidFill>
                <a:srgbClr val="0E7C86"/>
              </a:solidFill>
            </a:endParaRPr>
          </a:p>
        </p:txBody>
      </p:sp>
      <p:sp>
        <p:nvSpPr>
          <p:cNvPr id="7" name="PanelCard"/>
          <p:cNvSpPr/>
          <p:nvPr/>
        </p:nvSpPr>
        <p:spPr>
          <a:xfrm>
            <a:off x="8138160"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8412480"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8412480" y="2223135"/>
            <a:ext cx="91440" cy="91440"/>
          </a:xfrm>
          <a:prstGeom prst="ellipse">
            <a:avLst/>
          </a:prstGeom>
          <a:solidFill>
            <a:srgbClr val="E8871E"/>
          </a:solidFill>
          <a:ln/>
        </p:spPr>
        <p:txBody>
          <a:bodyPr/>
          <a:lstStyle/>
          <a:p>
            <a:endParaRPr lang="en-IN"/>
          </a:p>
        </p:txBody>
      </p:sp>
      <p:sp>
        <p:nvSpPr>
          <p:cNvPr id="10" name="Label0"/>
          <p:cNvSpPr/>
          <p:nvPr/>
        </p:nvSpPr>
        <p:spPr>
          <a:xfrm>
            <a:off x="8595360"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Cards</a:t>
            </a:r>
          </a:p>
          <a:p>
            <a:r>
              <a:rPr lang="en-IN" sz="1000" dirty="0"/>
              <a:t>Total Booking, Revenue Realized, Occupancy &amp; Cancellation Rate , Utilization Capacity</a:t>
            </a:r>
            <a:endParaRPr lang="en-US" sz="1000" dirty="0">
              <a:solidFill>
                <a:srgbClr val="4B5563"/>
              </a:solidFill>
              <a:latin typeface="Calibri" pitchFamily="34" charset="0"/>
            </a:endParaRPr>
          </a:p>
        </p:txBody>
      </p:sp>
      <p:sp>
        <p:nvSpPr>
          <p:cNvPr id="11" name="Dot1"/>
          <p:cNvSpPr/>
          <p:nvPr/>
        </p:nvSpPr>
        <p:spPr>
          <a:xfrm>
            <a:off x="8412480" y="2834640"/>
            <a:ext cx="91440" cy="91440"/>
          </a:xfrm>
          <a:prstGeom prst="ellipse">
            <a:avLst/>
          </a:prstGeom>
          <a:solidFill>
            <a:srgbClr val="0E7C86"/>
          </a:solidFill>
          <a:ln/>
        </p:spPr>
        <p:txBody>
          <a:bodyPr/>
          <a:lstStyle/>
          <a:p>
            <a:endParaRPr lang="en-IN"/>
          </a:p>
        </p:txBody>
      </p:sp>
      <p:sp>
        <p:nvSpPr>
          <p:cNvPr id="12" name="Label1"/>
          <p:cNvSpPr/>
          <p:nvPr/>
        </p:nvSpPr>
        <p:spPr>
          <a:xfrm>
            <a:off x="8595360" y="274320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 Line Combo</a:t>
            </a:r>
          </a:p>
          <a:p>
            <a:r>
              <a:rPr lang="en-IN" sz="1000" dirty="0"/>
              <a:t>Revenue, Total Booking and Occupancy weekly trend.</a:t>
            </a:r>
            <a:endParaRPr lang="en-US" sz="1000" dirty="0">
              <a:solidFill>
                <a:srgbClr val="4B5563"/>
              </a:solidFill>
              <a:latin typeface="Calibri" pitchFamily="34" charset="0"/>
            </a:endParaRPr>
          </a:p>
        </p:txBody>
      </p:sp>
      <p:sp>
        <p:nvSpPr>
          <p:cNvPr id="13" name="Dot2"/>
          <p:cNvSpPr/>
          <p:nvPr/>
        </p:nvSpPr>
        <p:spPr>
          <a:xfrm>
            <a:off x="8412480" y="3477387"/>
            <a:ext cx="91440" cy="91440"/>
          </a:xfrm>
          <a:prstGeom prst="ellipse">
            <a:avLst/>
          </a:prstGeom>
          <a:solidFill>
            <a:srgbClr val="142850"/>
          </a:solidFill>
          <a:ln/>
        </p:spPr>
        <p:txBody>
          <a:bodyPr/>
          <a:lstStyle/>
          <a:p>
            <a:endParaRPr lang="en-IN"/>
          </a:p>
        </p:txBody>
      </p:sp>
      <p:sp>
        <p:nvSpPr>
          <p:cNvPr id="14" name="Label2"/>
          <p:cNvSpPr/>
          <p:nvPr/>
        </p:nvSpPr>
        <p:spPr>
          <a:xfrm>
            <a:off x="8595360" y="338625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Donut Chart</a:t>
            </a:r>
          </a:p>
          <a:p>
            <a:r>
              <a:rPr lang="en-IN" sz="1000" dirty="0"/>
              <a:t>Booking Status Distribution — Checked Out, Cancelled &amp; No Show.</a:t>
            </a:r>
            <a:endParaRPr lang="en-US" sz="1000" dirty="0">
              <a:solidFill>
                <a:srgbClr val="4B5563"/>
              </a:solidFill>
              <a:latin typeface="Calibri" pitchFamily="34" charset="0"/>
            </a:endParaRPr>
          </a:p>
        </p:txBody>
      </p:sp>
      <p:sp>
        <p:nvSpPr>
          <p:cNvPr id="15" name="Dot3"/>
          <p:cNvSpPr/>
          <p:nvPr/>
        </p:nvSpPr>
        <p:spPr>
          <a:xfrm>
            <a:off x="8412480" y="4585335"/>
            <a:ext cx="91440" cy="91440"/>
          </a:xfrm>
          <a:prstGeom prst="ellipse">
            <a:avLst/>
          </a:prstGeom>
          <a:solidFill>
            <a:srgbClr val="E8871E"/>
          </a:solidFill>
          <a:ln/>
        </p:spPr>
        <p:txBody>
          <a:bodyPr/>
          <a:lstStyle/>
          <a:p>
            <a:endParaRPr lang="en-IN"/>
          </a:p>
        </p:txBody>
      </p:sp>
      <p:sp>
        <p:nvSpPr>
          <p:cNvPr id="16" name="Label3"/>
          <p:cNvSpPr/>
          <p:nvPr/>
        </p:nvSpPr>
        <p:spPr>
          <a:xfrm>
            <a:off x="8595360" y="402633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Chart</a:t>
            </a:r>
          </a:p>
          <a:p>
            <a:r>
              <a:rPr lang="en-IN" sz="1000" dirty="0"/>
              <a:t>Monthly Revenue Trend, Weekly Revenue Trend.</a:t>
            </a:r>
            <a:endParaRPr lang="en-US" sz="1000" dirty="0">
              <a:solidFill>
                <a:srgbClr val="4B5563"/>
              </a:solidFill>
              <a:latin typeface="Calibri" pitchFamily="34" charset="0"/>
            </a:endParaRPr>
          </a:p>
        </p:txBody>
      </p:sp>
      <p:sp>
        <p:nvSpPr>
          <p:cNvPr id="17" name="Dot4"/>
          <p:cNvSpPr/>
          <p:nvPr/>
        </p:nvSpPr>
        <p:spPr>
          <a:xfrm>
            <a:off x="8412480" y="5017770"/>
            <a:ext cx="91440" cy="91440"/>
          </a:xfrm>
          <a:prstGeom prst="ellipse">
            <a:avLst/>
          </a:prstGeom>
          <a:solidFill>
            <a:srgbClr val="0E7C86"/>
          </a:solidFill>
          <a:ln/>
        </p:spPr>
        <p:txBody>
          <a:bodyPr/>
          <a:lstStyle/>
          <a:p>
            <a:endParaRPr lang="en-IN"/>
          </a:p>
        </p:txBody>
      </p:sp>
      <p:sp>
        <p:nvSpPr>
          <p:cNvPr id="18" name="Label4"/>
          <p:cNvSpPr/>
          <p:nvPr/>
        </p:nvSpPr>
        <p:spPr>
          <a:xfrm>
            <a:off x="8595360" y="450060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r>
              <a:rPr lang="en-IN" sz="1000" dirty="0"/>
              <a:t>Top 5 Hotels by Revenue..</a:t>
            </a:r>
            <a:endParaRPr lang="en-US" sz="1000" dirty="0">
              <a:solidFill>
                <a:srgbClr val="4B5563"/>
              </a:solidFill>
              <a:latin typeface="Calibri" pitchFamily="34" charset="0"/>
            </a:endParaRPr>
          </a:p>
        </p:txBody>
      </p:sp>
      <p:sp>
        <p:nvSpPr>
          <p:cNvPr id="19" name="Dot5"/>
          <p:cNvSpPr/>
          <p:nvPr/>
        </p:nvSpPr>
        <p:spPr>
          <a:xfrm>
            <a:off x="8412480" y="5703570"/>
            <a:ext cx="91440" cy="91440"/>
          </a:xfrm>
          <a:prstGeom prst="ellipse">
            <a:avLst/>
          </a:prstGeom>
          <a:solidFill>
            <a:srgbClr val="142850"/>
          </a:solidFill>
          <a:ln/>
        </p:spPr>
        <p:txBody>
          <a:bodyPr/>
          <a:lstStyle/>
          <a:p>
            <a:endParaRPr lang="en-IN"/>
          </a:p>
        </p:txBody>
      </p:sp>
      <p:sp>
        <p:nvSpPr>
          <p:cNvPr id="20" name="Label5"/>
          <p:cNvSpPr/>
          <p:nvPr/>
        </p:nvSpPr>
        <p:spPr>
          <a:xfrm>
            <a:off x="8595360" y="562356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Slicers</a:t>
            </a:r>
          </a:p>
          <a:p>
            <a:r>
              <a:rPr lang="en-IN" sz="1000" dirty="0"/>
              <a:t>City, Room Class and Booking Status for interactive analysis.</a:t>
            </a:r>
            <a:endParaRPr lang="en-US" sz="1000" dirty="0">
              <a:solidFill>
                <a:srgbClr val="4B5563"/>
              </a:solidFill>
              <a:latin typeface="Calibri" pitchFamily="34" charset="0"/>
            </a:endParaRPr>
          </a:p>
        </p:txBody>
      </p:sp>
      <p:sp>
        <p:nvSpPr>
          <p:cNvPr id="5" name="Text 2"/>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
        <p:nvSpPr>
          <p:cNvPr id="22" name="Shape 0">
            <a:extLst>
              <a:ext uri="{FF2B5EF4-FFF2-40B4-BE49-F238E27FC236}">
                <a16:creationId xmlns:a16="http://schemas.microsoft.com/office/drawing/2014/main" id="{8E0ED4A5-9D69-C163-5631-7157D52E5E7A}"/>
              </a:ext>
            </a:extLst>
          </p:cNvPr>
          <p:cNvSpPr/>
          <p:nvPr/>
        </p:nvSpPr>
        <p:spPr>
          <a:xfrm>
            <a:off x="9966960" y="-1005840"/>
            <a:ext cx="3840480" cy="3840480"/>
          </a:xfrm>
          <a:prstGeom prst="ellipse">
            <a:avLst/>
          </a:prstGeom>
          <a:solidFill>
            <a:srgbClr val="0E7C86">
              <a:alpha val="22000"/>
            </a:srgbClr>
          </a:solidFill>
          <a:ln/>
        </p:spPr>
        <p:txBody>
          <a:bodyPr/>
          <a:lstStyle/>
          <a:p>
            <a:endParaRPr lang="en-IN"/>
          </a:p>
        </p:txBody>
      </p:sp>
      <p:sp>
        <p:nvSpPr>
          <p:cNvPr id="24" name="Shape 1">
            <a:extLst>
              <a:ext uri="{FF2B5EF4-FFF2-40B4-BE49-F238E27FC236}">
                <a16:creationId xmlns:a16="http://schemas.microsoft.com/office/drawing/2014/main" id="{2F626D5F-AC2C-2F84-4325-6EB5EED5CA6D}"/>
              </a:ext>
            </a:extLst>
          </p:cNvPr>
          <p:cNvSpPr/>
          <p:nvPr/>
        </p:nvSpPr>
        <p:spPr>
          <a:xfrm>
            <a:off x="10972800" y="4206240"/>
            <a:ext cx="2743200" cy="2743200"/>
          </a:xfrm>
          <a:prstGeom prst="ellipse">
            <a:avLst/>
          </a:prstGeom>
          <a:solidFill>
            <a:srgbClr val="E8871E">
              <a:alpha val="20000"/>
            </a:srgbClr>
          </a:solidFill>
          <a:ln/>
        </p:spPr>
        <p:txBody>
          <a:bodyPr/>
          <a:lstStyle/>
          <a:p>
            <a:endParaRPr lang="en-IN"/>
          </a:p>
        </p:txBody>
      </p:sp>
      <p:sp>
        <p:nvSpPr>
          <p:cNvPr id="26" name="Shape 2">
            <a:extLst>
              <a:ext uri="{FF2B5EF4-FFF2-40B4-BE49-F238E27FC236}">
                <a16:creationId xmlns:a16="http://schemas.microsoft.com/office/drawing/2014/main" id="{E38EFB1E-BB8F-431A-1A99-034BC0E670FE}"/>
              </a:ext>
            </a:extLst>
          </p:cNvPr>
          <p:cNvSpPr/>
          <p:nvPr/>
        </p:nvSpPr>
        <p:spPr>
          <a:xfrm>
            <a:off x="-1097280" y="5120640"/>
            <a:ext cx="3108960" cy="3108960"/>
          </a:xfrm>
          <a:prstGeom prst="ellipse">
            <a:avLst/>
          </a:prstGeom>
          <a:solidFill>
            <a:srgbClr val="0E7C86">
              <a:alpha val="18000"/>
            </a:srgbClr>
          </a:solidFill>
          <a:ln/>
        </p:spPr>
        <p:txBody>
          <a:bodyPr/>
          <a:lstStyle/>
          <a:p>
            <a:endParaRPr lang="en-IN"/>
          </a:p>
        </p:txBody>
      </p:sp>
      <p:sp>
        <p:nvSpPr>
          <p:cNvPr id="27" name="Label4">
            <a:extLst>
              <a:ext uri="{FF2B5EF4-FFF2-40B4-BE49-F238E27FC236}">
                <a16:creationId xmlns:a16="http://schemas.microsoft.com/office/drawing/2014/main" id="{DF8BB7A5-87E0-BEBD-0B79-1ABC9E5C07DB}"/>
              </a:ext>
            </a:extLst>
          </p:cNvPr>
          <p:cNvSpPr/>
          <p:nvPr/>
        </p:nvSpPr>
        <p:spPr>
          <a:xfrm>
            <a:off x="8595360" y="493776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Column Chart</a:t>
            </a:r>
          </a:p>
          <a:p>
            <a:r>
              <a:rPr lang="en-IN" sz="1000" dirty="0"/>
              <a:t>Weekday vs Weekend Revenue and Weekday vs Weekend Bookings, and Revenue Realized by room class</a:t>
            </a:r>
            <a:endParaRPr lang="en-US" sz="1000" dirty="0">
              <a:solidFill>
                <a:srgbClr val="4B5563"/>
              </a:solidFill>
              <a:latin typeface="Calibri" pitchFamily="34" charset="0"/>
            </a:endParaRPr>
          </a:p>
        </p:txBody>
      </p:sp>
      <p:sp>
        <p:nvSpPr>
          <p:cNvPr id="29" name="Dot4">
            <a:extLst>
              <a:ext uri="{FF2B5EF4-FFF2-40B4-BE49-F238E27FC236}">
                <a16:creationId xmlns:a16="http://schemas.microsoft.com/office/drawing/2014/main" id="{44C62DA0-D854-0A2E-C914-EA8DCC5274F5}"/>
              </a:ext>
            </a:extLst>
          </p:cNvPr>
          <p:cNvSpPr/>
          <p:nvPr/>
        </p:nvSpPr>
        <p:spPr>
          <a:xfrm>
            <a:off x="8412480" y="4140327"/>
            <a:ext cx="91440" cy="91440"/>
          </a:xfrm>
          <a:prstGeom prst="ellipse">
            <a:avLst/>
          </a:prstGeom>
          <a:solidFill>
            <a:srgbClr val="0E7C86"/>
          </a:solidFill>
          <a:ln/>
        </p:spPr>
        <p:txBody>
          <a:bodyPr/>
          <a:lstStyle/>
          <a:p>
            <a:endParaRPr lang="en-IN"/>
          </a:p>
        </p:txBody>
      </p:sp>
      <p:pic>
        <p:nvPicPr>
          <p:cNvPr id="28" name="Picture 27">
            <a:extLst>
              <a:ext uri="{FF2B5EF4-FFF2-40B4-BE49-F238E27FC236}">
                <a16:creationId xmlns:a16="http://schemas.microsoft.com/office/drawing/2014/main" id="{BAC583B7-B1EC-4AC4-1192-A0C75A6D61A5}"/>
              </a:ext>
            </a:extLst>
          </p:cNvPr>
          <p:cNvPicPr>
            <a:picLocks noChangeAspect="1"/>
          </p:cNvPicPr>
          <p:nvPr/>
        </p:nvPicPr>
        <p:blipFill>
          <a:blip r:embed="rId3"/>
          <a:stretch>
            <a:fillRect/>
          </a:stretch>
        </p:blipFill>
        <p:spPr>
          <a:xfrm>
            <a:off x="95250" y="1444752"/>
            <a:ext cx="7905750" cy="486460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POWER BI DASHBOARD II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400" i="1" dirty="0">
                <a:solidFill>
                  <a:srgbClr val="0E7C86"/>
                </a:solidFill>
              </a:rPr>
              <a:t>Hotel performance analysis with interactive filters</a:t>
            </a:r>
            <a:endParaRPr lang="en-US" sz="1300" i="1" dirty="0">
              <a:solidFill>
                <a:srgbClr val="0E7C86"/>
              </a:solidFill>
            </a:endParaRPr>
          </a:p>
        </p:txBody>
      </p:sp>
      <p:sp>
        <p:nvSpPr>
          <p:cNvPr id="7" name="PanelCard"/>
          <p:cNvSpPr/>
          <p:nvPr/>
        </p:nvSpPr>
        <p:spPr>
          <a:xfrm>
            <a:off x="487063"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761383"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761383" y="2194560"/>
            <a:ext cx="91440" cy="91440"/>
          </a:xfrm>
          <a:prstGeom prst="ellipse">
            <a:avLst/>
          </a:prstGeom>
          <a:solidFill>
            <a:srgbClr val="E8871E"/>
          </a:solidFill>
          <a:ln/>
        </p:spPr>
        <p:txBody>
          <a:bodyPr/>
          <a:lstStyle/>
          <a:p>
            <a:endParaRPr lang="en-IN"/>
          </a:p>
        </p:txBody>
      </p:sp>
      <p:sp>
        <p:nvSpPr>
          <p:cNvPr id="10" name="Label0"/>
          <p:cNvSpPr/>
          <p:nvPr/>
        </p:nvSpPr>
        <p:spPr>
          <a:xfrm>
            <a:off x="944263"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Cards</a:t>
            </a:r>
          </a:p>
          <a:p>
            <a:r>
              <a:rPr lang="en-IN" sz="1000" dirty="0">
                <a:solidFill>
                  <a:schemeClr val="tx1">
                    <a:lumMod val="65000"/>
                    <a:lumOff val="35000"/>
                  </a:schemeClr>
                </a:solidFill>
              </a:rPr>
              <a:t>Total Booking, Revenue Realized, Revenue Generated, Revenue Loss, Occupancy &amp; Cancellation Rate.</a:t>
            </a:r>
          </a:p>
        </p:txBody>
      </p:sp>
      <p:sp>
        <p:nvSpPr>
          <p:cNvPr id="11" name="Dot1"/>
          <p:cNvSpPr/>
          <p:nvPr/>
        </p:nvSpPr>
        <p:spPr>
          <a:xfrm>
            <a:off x="761383" y="2954274"/>
            <a:ext cx="91440" cy="91440"/>
          </a:xfrm>
          <a:prstGeom prst="ellipse">
            <a:avLst/>
          </a:prstGeom>
          <a:solidFill>
            <a:srgbClr val="0E7C86"/>
          </a:solidFill>
          <a:ln/>
        </p:spPr>
        <p:txBody>
          <a:bodyPr/>
          <a:lstStyle/>
          <a:p>
            <a:endParaRPr lang="en-IN"/>
          </a:p>
        </p:txBody>
      </p:sp>
      <p:sp>
        <p:nvSpPr>
          <p:cNvPr id="12" name="Label1"/>
          <p:cNvSpPr/>
          <p:nvPr/>
        </p:nvSpPr>
        <p:spPr>
          <a:xfrm>
            <a:off x="943646" y="2856432"/>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r>
              <a:rPr lang="en-IN" sz="1000" dirty="0">
                <a:solidFill>
                  <a:schemeClr val="tx1">
                    <a:lumMod val="65000"/>
                    <a:lumOff val="35000"/>
                  </a:schemeClr>
                </a:solidFill>
              </a:rPr>
              <a:t>Revenue Realized by Room Class.</a:t>
            </a:r>
            <a:endParaRPr lang="en-US" sz="1000" dirty="0">
              <a:solidFill>
                <a:schemeClr val="tx1">
                  <a:lumMod val="65000"/>
                  <a:lumOff val="35000"/>
                </a:schemeClr>
              </a:solidFill>
              <a:latin typeface="Calibri" pitchFamily="34" charset="0"/>
            </a:endParaRPr>
          </a:p>
        </p:txBody>
      </p:sp>
      <p:sp>
        <p:nvSpPr>
          <p:cNvPr id="13" name="Dot2"/>
          <p:cNvSpPr/>
          <p:nvPr/>
        </p:nvSpPr>
        <p:spPr>
          <a:xfrm>
            <a:off x="761383" y="3456432"/>
            <a:ext cx="91440" cy="91440"/>
          </a:xfrm>
          <a:prstGeom prst="ellipse">
            <a:avLst/>
          </a:prstGeom>
          <a:solidFill>
            <a:srgbClr val="142850"/>
          </a:solidFill>
          <a:ln/>
        </p:spPr>
        <p:txBody>
          <a:bodyPr/>
          <a:lstStyle/>
          <a:p>
            <a:endParaRPr lang="en-IN"/>
          </a:p>
        </p:txBody>
      </p:sp>
      <p:sp>
        <p:nvSpPr>
          <p:cNvPr id="14" name="Label2"/>
          <p:cNvSpPr/>
          <p:nvPr/>
        </p:nvSpPr>
        <p:spPr>
          <a:xfrm>
            <a:off x="944263" y="336141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chart</a:t>
            </a:r>
          </a:p>
          <a:p>
            <a:r>
              <a:rPr lang="en-IN" sz="1000" dirty="0"/>
              <a:t>Monthly Revenue Trend and Revenue by Hotels.</a:t>
            </a:r>
            <a:endParaRPr lang="en-US" sz="1000" dirty="0">
              <a:solidFill>
                <a:srgbClr val="4B5563"/>
              </a:solidFill>
              <a:latin typeface="Calibri" pitchFamily="34" charset="0"/>
            </a:endParaRPr>
          </a:p>
        </p:txBody>
      </p:sp>
      <p:sp>
        <p:nvSpPr>
          <p:cNvPr id="15" name="Dot3"/>
          <p:cNvSpPr/>
          <p:nvPr/>
        </p:nvSpPr>
        <p:spPr>
          <a:xfrm>
            <a:off x="761383" y="4004310"/>
            <a:ext cx="91440" cy="91440"/>
          </a:xfrm>
          <a:prstGeom prst="ellipse">
            <a:avLst/>
          </a:prstGeom>
          <a:solidFill>
            <a:srgbClr val="E8871E"/>
          </a:solidFill>
          <a:ln/>
        </p:spPr>
        <p:txBody>
          <a:bodyPr/>
          <a:lstStyle/>
          <a:p>
            <a:endParaRPr lang="en-IN"/>
          </a:p>
        </p:txBody>
      </p:sp>
      <p:sp>
        <p:nvSpPr>
          <p:cNvPr id="16" name="Label3"/>
          <p:cNvSpPr/>
          <p:nvPr/>
        </p:nvSpPr>
        <p:spPr>
          <a:xfrm>
            <a:off x="944263" y="3890925"/>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Column Charts</a:t>
            </a:r>
          </a:p>
          <a:p>
            <a:r>
              <a:rPr lang="en-IN" sz="1000" dirty="0">
                <a:solidFill>
                  <a:schemeClr val="tx1">
                    <a:lumMod val="65000"/>
                    <a:lumOff val="35000"/>
                  </a:schemeClr>
                </a:solidFill>
              </a:rPr>
              <a:t>Weekday vs Weekend Revenue and Weekday vs Weekend Bookings.</a:t>
            </a:r>
            <a:endParaRPr lang="en-US" sz="1000" dirty="0">
              <a:solidFill>
                <a:schemeClr val="tx1">
                  <a:lumMod val="65000"/>
                  <a:lumOff val="35000"/>
                </a:schemeClr>
              </a:solidFill>
              <a:latin typeface="Calibri" pitchFamily="34" charset="0"/>
            </a:endParaRPr>
          </a:p>
        </p:txBody>
      </p:sp>
      <p:sp>
        <p:nvSpPr>
          <p:cNvPr id="17" name="Dot4"/>
          <p:cNvSpPr/>
          <p:nvPr/>
        </p:nvSpPr>
        <p:spPr>
          <a:xfrm>
            <a:off x="760766" y="4636008"/>
            <a:ext cx="91440" cy="91440"/>
          </a:xfrm>
          <a:prstGeom prst="ellipse">
            <a:avLst/>
          </a:prstGeom>
          <a:solidFill>
            <a:srgbClr val="0E7C86"/>
          </a:solidFill>
          <a:ln/>
        </p:spPr>
        <p:txBody>
          <a:bodyPr/>
          <a:lstStyle/>
          <a:p>
            <a:endParaRPr lang="en-IN"/>
          </a:p>
        </p:txBody>
      </p:sp>
      <p:sp>
        <p:nvSpPr>
          <p:cNvPr id="18" name="Label4"/>
          <p:cNvSpPr/>
          <p:nvPr/>
        </p:nvSpPr>
        <p:spPr>
          <a:xfrm>
            <a:off x="944263" y="455295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Pie Chart</a:t>
            </a:r>
          </a:p>
          <a:p>
            <a:r>
              <a:rPr lang="en-IN" sz="1000" dirty="0">
                <a:solidFill>
                  <a:schemeClr val="tx1">
                    <a:lumMod val="65000"/>
                    <a:lumOff val="35000"/>
                  </a:schemeClr>
                </a:solidFill>
              </a:rPr>
              <a:t>Booking Status and Revenue by City..</a:t>
            </a:r>
            <a:endParaRPr lang="en-US" sz="1000" dirty="0">
              <a:solidFill>
                <a:schemeClr val="tx1">
                  <a:lumMod val="65000"/>
                  <a:lumOff val="35000"/>
                </a:schemeClr>
              </a:solidFill>
              <a:latin typeface="Calibri" pitchFamily="34" charset="0"/>
            </a:endParaRPr>
          </a:p>
        </p:txBody>
      </p:sp>
      <p:sp>
        <p:nvSpPr>
          <p:cNvPr id="19" name="Dot5"/>
          <p:cNvSpPr/>
          <p:nvPr/>
        </p:nvSpPr>
        <p:spPr>
          <a:xfrm>
            <a:off x="761383" y="5623560"/>
            <a:ext cx="91440" cy="91440"/>
          </a:xfrm>
          <a:prstGeom prst="ellipse">
            <a:avLst/>
          </a:prstGeom>
          <a:solidFill>
            <a:srgbClr val="142850"/>
          </a:solidFill>
          <a:ln/>
        </p:spPr>
        <p:txBody>
          <a:bodyPr/>
          <a:lstStyle/>
          <a:p>
            <a:endParaRPr lang="en-IN"/>
          </a:p>
        </p:txBody>
      </p:sp>
      <p:sp>
        <p:nvSpPr>
          <p:cNvPr id="20" name="Label5"/>
          <p:cNvSpPr/>
          <p:nvPr/>
        </p:nvSpPr>
        <p:spPr>
          <a:xfrm>
            <a:off x="944263" y="5532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Slicers</a:t>
            </a:r>
          </a:p>
          <a:p>
            <a:r>
              <a:rPr lang="en-IN" sz="1000" dirty="0">
                <a:solidFill>
                  <a:schemeClr val="tx1">
                    <a:lumMod val="65000"/>
                    <a:lumOff val="35000"/>
                  </a:schemeClr>
                </a:solidFill>
              </a:rPr>
              <a:t>City and </a:t>
            </a:r>
            <a:r>
              <a:rPr lang="en-IN" sz="1000" dirty="0" err="1">
                <a:solidFill>
                  <a:schemeClr val="tx1">
                    <a:lumMod val="65000"/>
                    <a:lumOff val="35000"/>
                  </a:schemeClr>
                </a:solidFill>
              </a:rPr>
              <a:t>booking_platform</a:t>
            </a:r>
            <a:r>
              <a:rPr lang="en-IN" sz="1000" dirty="0">
                <a:solidFill>
                  <a:schemeClr val="tx1">
                    <a:lumMod val="65000"/>
                    <a:lumOff val="35000"/>
                  </a:schemeClr>
                </a:solidFill>
              </a:rPr>
              <a:t>.</a:t>
            </a:r>
            <a:endParaRPr lang="en-US" sz="1000" dirty="0">
              <a:solidFill>
                <a:srgbClr val="4B5563"/>
              </a:solidFill>
              <a:latin typeface="Calibri" pitchFamily="34" charset="0"/>
            </a:endParaRPr>
          </a:p>
        </p:txBody>
      </p:sp>
      <p:sp>
        <p:nvSpPr>
          <p:cNvPr id="5" name="Text 2"/>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
        <p:nvSpPr>
          <p:cNvPr id="22" name="Shape 0">
            <a:extLst>
              <a:ext uri="{FF2B5EF4-FFF2-40B4-BE49-F238E27FC236}">
                <a16:creationId xmlns:a16="http://schemas.microsoft.com/office/drawing/2014/main" id="{B0045520-302A-1FE8-297B-3F2855D072A6}"/>
              </a:ext>
            </a:extLst>
          </p:cNvPr>
          <p:cNvSpPr/>
          <p:nvPr/>
        </p:nvSpPr>
        <p:spPr>
          <a:xfrm>
            <a:off x="-2196465" y="-2072640"/>
            <a:ext cx="3840480" cy="3840480"/>
          </a:xfrm>
          <a:prstGeom prst="ellipse">
            <a:avLst/>
          </a:prstGeom>
          <a:solidFill>
            <a:srgbClr val="0E7C86">
              <a:alpha val="22000"/>
            </a:srgbClr>
          </a:solidFill>
          <a:ln/>
        </p:spPr>
        <p:txBody>
          <a:bodyPr/>
          <a:lstStyle/>
          <a:p>
            <a:endParaRPr lang="en-IN"/>
          </a:p>
        </p:txBody>
      </p:sp>
      <p:sp>
        <p:nvSpPr>
          <p:cNvPr id="24" name="Shape 1">
            <a:extLst>
              <a:ext uri="{FF2B5EF4-FFF2-40B4-BE49-F238E27FC236}">
                <a16:creationId xmlns:a16="http://schemas.microsoft.com/office/drawing/2014/main" id="{7126AC91-01EA-897C-E9E1-496D0EE3B431}"/>
              </a:ext>
            </a:extLst>
          </p:cNvPr>
          <p:cNvSpPr/>
          <p:nvPr/>
        </p:nvSpPr>
        <p:spPr>
          <a:xfrm>
            <a:off x="-3636498" y="5425440"/>
            <a:ext cx="5274798" cy="5242560"/>
          </a:xfrm>
          <a:prstGeom prst="ellipse">
            <a:avLst/>
          </a:prstGeom>
          <a:solidFill>
            <a:srgbClr val="E8871E">
              <a:alpha val="20000"/>
            </a:srgbClr>
          </a:solidFill>
          <a:ln/>
        </p:spPr>
        <p:txBody>
          <a:bodyPr/>
          <a:lstStyle/>
          <a:p>
            <a:endParaRPr lang="en-IN"/>
          </a:p>
        </p:txBody>
      </p:sp>
      <p:sp>
        <p:nvSpPr>
          <p:cNvPr id="26" name="Shape 2">
            <a:extLst>
              <a:ext uri="{FF2B5EF4-FFF2-40B4-BE49-F238E27FC236}">
                <a16:creationId xmlns:a16="http://schemas.microsoft.com/office/drawing/2014/main" id="{2654BE9F-E519-0860-96B6-3E3E6608D6B5}"/>
              </a:ext>
            </a:extLst>
          </p:cNvPr>
          <p:cNvSpPr/>
          <p:nvPr/>
        </p:nvSpPr>
        <p:spPr>
          <a:xfrm>
            <a:off x="11247737" y="5669280"/>
            <a:ext cx="2631538" cy="2616591"/>
          </a:xfrm>
          <a:prstGeom prst="ellipse">
            <a:avLst/>
          </a:prstGeom>
          <a:solidFill>
            <a:srgbClr val="0E7C86">
              <a:alpha val="18000"/>
            </a:srgbClr>
          </a:solidFill>
          <a:ln/>
        </p:spPr>
        <p:txBody>
          <a:bodyPr/>
          <a:lstStyle/>
          <a:p>
            <a:endParaRPr lang="en-IN"/>
          </a:p>
        </p:txBody>
      </p:sp>
      <p:sp>
        <p:nvSpPr>
          <p:cNvPr id="27" name="Dot5">
            <a:extLst>
              <a:ext uri="{FF2B5EF4-FFF2-40B4-BE49-F238E27FC236}">
                <a16:creationId xmlns:a16="http://schemas.microsoft.com/office/drawing/2014/main" id="{41853A90-49A9-0CCD-F59A-1013703D6CF6}"/>
              </a:ext>
            </a:extLst>
          </p:cNvPr>
          <p:cNvSpPr/>
          <p:nvPr/>
        </p:nvSpPr>
        <p:spPr>
          <a:xfrm>
            <a:off x="760766" y="5148720"/>
            <a:ext cx="91440" cy="91440"/>
          </a:xfrm>
          <a:prstGeom prst="ellipse">
            <a:avLst/>
          </a:prstGeom>
          <a:solidFill>
            <a:schemeClr val="accent4">
              <a:lumMod val="75000"/>
            </a:schemeClr>
          </a:solidFill>
          <a:ln/>
        </p:spPr>
        <p:txBody>
          <a:bodyPr/>
          <a:lstStyle/>
          <a:p>
            <a:endParaRPr lang="en-IN"/>
          </a:p>
        </p:txBody>
      </p:sp>
      <p:sp>
        <p:nvSpPr>
          <p:cNvPr id="29" name="Label4">
            <a:extLst>
              <a:ext uri="{FF2B5EF4-FFF2-40B4-BE49-F238E27FC236}">
                <a16:creationId xmlns:a16="http://schemas.microsoft.com/office/drawing/2014/main" id="{F6BC5702-2327-F1AC-67A4-427BF74E955B}"/>
              </a:ext>
            </a:extLst>
          </p:cNvPr>
          <p:cNvSpPr/>
          <p:nvPr/>
        </p:nvSpPr>
        <p:spPr>
          <a:xfrm>
            <a:off x="943646" y="505488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Combo Chart</a:t>
            </a:r>
          </a:p>
          <a:p>
            <a:r>
              <a:rPr lang="en-IN" sz="1000" dirty="0">
                <a:solidFill>
                  <a:schemeClr val="tx1">
                    <a:lumMod val="65000"/>
                    <a:lumOff val="35000"/>
                  </a:schemeClr>
                </a:solidFill>
              </a:rPr>
              <a:t>Revenue, Total Booking and Occupancy trend.</a:t>
            </a:r>
            <a:endParaRPr lang="en-US" sz="1000" dirty="0">
              <a:solidFill>
                <a:schemeClr val="tx1">
                  <a:lumMod val="65000"/>
                  <a:lumOff val="35000"/>
                </a:schemeClr>
              </a:solidFill>
              <a:latin typeface="Calibri" pitchFamily="34" charset="0"/>
            </a:endParaRPr>
          </a:p>
        </p:txBody>
      </p:sp>
      <p:pic>
        <p:nvPicPr>
          <p:cNvPr id="21" name="Picture 20">
            <a:extLst>
              <a:ext uri="{FF2B5EF4-FFF2-40B4-BE49-F238E27FC236}">
                <a16:creationId xmlns:a16="http://schemas.microsoft.com/office/drawing/2014/main" id="{61DDC95C-66A6-8B8A-CF60-76B7314B505D}"/>
              </a:ext>
            </a:extLst>
          </p:cNvPr>
          <p:cNvPicPr>
            <a:picLocks noChangeAspect="1"/>
          </p:cNvPicPr>
          <p:nvPr/>
        </p:nvPicPr>
        <p:blipFill>
          <a:blip r:embed="rId3"/>
          <a:stretch>
            <a:fillRect/>
          </a:stretch>
        </p:blipFill>
        <p:spPr>
          <a:xfrm>
            <a:off x="4144045" y="1417321"/>
            <a:ext cx="7834595" cy="489159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EXCEL DASHBOARD III</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Hotel performance overview — revenue, bookings &amp; occupancy</a:t>
            </a:r>
            <a:endParaRPr lang="en-US" sz="1300" i="1" dirty="0">
              <a:solidFill>
                <a:srgbClr val="0E7C86"/>
              </a:solidFill>
            </a:endParaRPr>
          </a:p>
        </p:txBody>
      </p:sp>
      <p:sp>
        <p:nvSpPr>
          <p:cNvPr id="7" name="PanelCard"/>
          <p:cNvSpPr/>
          <p:nvPr/>
        </p:nvSpPr>
        <p:spPr>
          <a:xfrm>
            <a:off x="8138160" y="1417320"/>
            <a:ext cx="3474720" cy="4892040"/>
          </a:xfrm>
          <a:prstGeom prst="roundRect">
            <a:avLst>
              <a:gd name="adj" fmla="val 4500"/>
            </a:avLst>
          </a:prstGeom>
          <a:solidFill>
            <a:srgbClr val="F7F9FC"/>
          </a:solidFill>
          <a:ln w="9525">
            <a:solidFill>
              <a:srgbClr val="E2E8F0"/>
            </a:solidFill>
          </a:ln>
          <a:effectLst>
            <a:outerShdw blurRad="90000" dist="30000" dir="5400000" rotWithShape="0">
              <a:srgbClr val="142850">
                <a:alpha val="14000"/>
              </a:srgbClr>
            </a:outerShdw>
          </a:effectLst>
        </p:spPr>
        <p:txBody>
          <a:bodyPr/>
          <a:lstStyle/>
          <a:p>
            <a:endParaRPr lang="en-US"/>
          </a:p>
        </p:txBody>
      </p:sp>
      <p:sp>
        <p:nvSpPr>
          <p:cNvPr id="8" name="PanelTitle"/>
          <p:cNvSpPr/>
          <p:nvPr/>
        </p:nvSpPr>
        <p:spPr>
          <a:xfrm>
            <a:off x="8412480" y="1691640"/>
            <a:ext cx="2926080" cy="320040"/>
          </a:xfrm>
          <a:prstGeom prst="rect">
            <a:avLst/>
          </a:prstGeom>
          <a:noFill/>
          <a:ln/>
        </p:spPr>
        <p:txBody>
          <a:bodyPr wrap="square" rtlCol="0" anchor="ctr"/>
          <a:lstStyle/>
          <a:p>
            <a:pPr marL="0" indent="0">
              <a:buNone/>
            </a:pPr>
            <a:r>
              <a:rPr lang="en-US" sz="1400" b="1" dirty="0">
                <a:solidFill>
                  <a:srgbClr val="142850"/>
                </a:solidFill>
                <a:latin typeface="Cambria" pitchFamily="34" charset="0"/>
              </a:rPr>
              <a:t>Visualizations Used</a:t>
            </a:r>
          </a:p>
        </p:txBody>
      </p:sp>
      <p:sp>
        <p:nvSpPr>
          <p:cNvPr id="9" name="Dot0"/>
          <p:cNvSpPr/>
          <p:nvPr/>
        </p:nvSpPr>
        <p:spPr>
          <a:xfrm>
            <a:off x="8412480" y="2194560"/>
            <a:ext cx="91440" cy="91440"/>
          </a:xfrm>
          <a:prstGeom prst="ellipse">
            <a:avLst/>
          </a:prstGeom>
          <a:solidFill>
            <a:srgbClr val="E8871E"/>
          </a:solidFill>
          <a:ln/>
        </p:spPr>
        <p:txBody>
          <a:bodyPr/>
          <a:lstStyle/>
          <a:p>
            <a:endParaRPr lang="en-IN"/>
          </a:p>
        </p:txBody>
      </p:sp>
      <p:sp>
        <p:nvSpPr>
          <p:cNvPr id="10" name="Label0"/>
          <p:cNvSpPr/>
          <p:nvPr/>
        </p:nvSpPr>
        <p:spPr>
          <a:xfrm>
            <a:off x="8595360" y="2103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KPI Cards</a:t>
            </a:r>
          </a:p>
          <a:p>
            <a:r>
              <a:rPr lang="en-IN" sz="1000" dirty="0">
                <a:solidFill>
                  <a:schemeClr val="tx1">
                    <a:lumMod val="65000"/>
                    <a:lumOff val="35000"/>
                  </a:schemeClr>
                </a:solidFill>
              </a:rPr>
              <a:t>Total Revenue, Occupancy, Cancellation Rate, Total Booking &amp; Utilization Capacity.</a:t>
            </a:r>
            <a:endParaRPr lang="en-US" sz="1000" dirty="0">
              <a:solidFill>
                <a:schemeClr val="tx1">
                  <a:lumMod val="65000"/>
                  <a:lumOff val="35000"/>
                </a:schemeClr>
              </a:solidFill>
              <a:latin typeface="Calibri" pitchFamily="34" charset="0"/>
            </a:endParaRPr>
          </a:p>
        </p:txBody>
      </p:sp>
      <p:sp>
        <p:nvSpPr>
          <p:cNvPr id="11" name="Dot1"/>
          <p:cNvSpPr/>
          <p:nvPr/>
        </p:nvSpPr>
        <p:spPr>
          <a:xfrm>
            <a:off x="8412480" y="2880360"/>
            <a:ext cx="91440" cy="91440"/>
          </a:xfrm>
          <a:prstGeom prst="ellipse">
            <a:avLst/>
          </a:prstGeom>
          <a:solidFill>
            <a:srgbClr val="0E7C86"/>
          </a:solidFill>
          <a:ln/>
        </p:spPr>
        <p:txBody>
          <a:bodyPr/>
          <a:lstStyle/>
          <a:p>
            <a:endParaRPr lang="en-IN"/>
          </a:p>
        </p:txBody>
      </p:sp>
      <p:sp>
        <p:nvSpPr>
          <p:cNvPr id="12" name="Label1"/>
          <p:cNvSpPr/>
          <p:nvPr/>
        </p:nvSpPr>
        <p:spPr>
          <a:xfrm>
            <a:off x="8595360" y="27889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Bar Chart</a:t>
            </a:r>
          </a:p>
          <a:p>
            <a:r>
              <a:rPr lang="en-IN" sz="1000" dirty="0">
                <a:solidFill>
                  <a:schemeClr val="tx1">
                    <a:lumMod val="65000"/>
                    <a:lumOff val="35000"/>
                  </a:schemeClr>
                </a:solidFill>
              </a:rPr>
              <a:t>Revenue by Room Class.</a:t>
            </a:r>
            <a:endParaRPr lang="en-US" sz="1000" dirty="0">
              <a:solidFill>
                <a:schemeClr val="tx1">
                  <a:lumMod val="65000"/>
                  <a:lumOff val="35000"/>
                </a:schemeClr>
              </a:solidFill>
              <a:latin typeface="Calibri" pitchFamily="34" charset="0"/>
            </a:endParaRPr>
          </a:p>
        </p:txBody>
      </p:sp>
      <p:sp>
        <p:nvSpPr>
          <p:cNvPr id="13" name="Dot2"/>
          <p:cNvSpPr/>
          <p:nvPr/>
        </p:nvSpPr>
        <p:spPr>
          <a:xfrm>
            <a:off x="8412480" y="3566160"/>
            <a:ext cx="91440" cy="91440"/>
          </a:xfrm>
          <a:prstGeom prst="ellipse">
            <a:avLst/>
          </a:prstGeom>
          <a:solidFill>
            <a:srgbClr val="142850"/>
          </a:solidFill>
          <a:ln/>
        </p:spPr>
        <p:txBody>
          <a:bodyPr/>
          <a:lstStyle/>
          <a:p>
            <a:endParaRPr lang="en-IN"/>
          </a:p>
        </p:txBody>
      </p:sp>
      <p:sp>
        <p:nvSpPr>
          <p:cNvPr id="14" name="Label2"/>
          <p:cNvSpPr/>
          <p:nvPr/>
        </p:nvSpPr>
        <p:spPr>
          <a:xfrm>
            <a:off x="8595360" y="34747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Line Chart</a:t>
            </a:r>
          </a:p>
          <a:p>
            <a:r>
              <a:rPr lang="en-IN" sz="1000" dirty="0">
                <a:solidFill>
                  <a:schemeClr val="tx1">
                    <a:lumMod val="65000"/>
                    <a:lumOff val="35000"/>
                  </a:schemeClr>
                </a:solidFill>
              </a:rPr>
              <a:t>Revenue by Hotels and Weekly Revenue Trend.</a:t>
            </a:r>
          </a:p>
        </p:txBody>
      </p:sp>
      <p:sp>
        <p:nvSpPr>
          <p:cNvPr id="15" name="Dot3"/>
          <p:cNvSpPr/>
          <p:nvPr/>
        </p:nvSpPr>
        <p:spPr>
          <a:xfrm>
            <a:off x="8412480" y="4251960"/>
            <a:ext cx="91440" cy="91440"/>
          </a:xfrm>
          <a:prstGeom prst="ellipse">
            <a:avLst/>
          </a:prstGeom>
          <a:solidFill>
            <a:srgbClr val="E8871E"/>
          </a:solidFill>
          <a:ln/>
        </p:spPr>
        <p:txBody>
          <a:bodyPr/>
          <a:lstStyle/>
          <a:p>
            <a:endParaRPr lang="en-IN"/>
          </a:p>
        </p:txBody>
      </p:sp>
      <p:sp>
        <p:nvSpPr>
          <p:cNvPr id="16" name="Label3"/>
          <p:cNvSpPr/>
          <p:nvPr/>
        </p:nvSpPr>
        <p:spPr>
          <a:xfrm>
            <a:off x="8595360" y="41605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Pie Chart</a:t>
            </a:r>
          </a:p>
          <a:p>
            <a:r>
              <a:rPr lang="en-IN" sz="1000" dirty="0">
                <a:solidFill>
                  <a:schemeClr val="tx1">
                    <a:lumMod val="65000"/>
                    <a:lumOff val="35000"/>
                  </a:schemeClr>
                </a:solidFill>
              </a:rPr>
              <a:t>Booking Status and Revenue by City.</a:t>
            </a:r>
            <a:endParaRPr lang="en-US" sz="1000" dirty="0">
              <a:solidFill>
                <a:schemeClr val="tx1">
                  <a:lumMod val="65000"/>
                  <a:lumOff val="35000"/>
                </a:schemeClr>
              </a:solidFill>
              <a:latin typeface="Calibri" pitchFamily="34" charset="0"/>
            </a:endParaRPr>
          </a:p>
        </p:txBody>
      </p:sp>
      <p:sp>
        <p:nvSpPr>
          <p:cNvPr id="17" name="Dot4"/>
          <p:cNvSpPr/>
          <p:nvPr/>
        </p:nvSpPr>
        <p:spPr>
          <a:xfrm>
            <a:off x="8412480" y="4937760"/>
            <a:ext cx="91440" cy="91440"/>
          </a:xfrm>
          <a:prstGeom prst="ellipse">
            <a:avLst/>
          </a:prstGeom>
          <a:solidFill>
            <a:srgbClr val="0E7C86"/>
          </a:solidFill>
          <a:ln/>
        </p:spPr>
        <p:txBody>
          <a:bodyPr/>
          <a:lstStyle/>
          <a:p>
            <a:endParaRPr lang="en-IN"/>
          </a:p>
        </p:txBody>
      </p:sp>
      <p:sp>
        <p:nvSpPr>
          <p:cNvPr id="18" name="Label4"/>
          <p:cNvSpPr/>
          <p:nvPr/>
        </p:nvSpPr>
        <p:spPr>
          <a:xfrm>
            <a:off x="8595360" y="48463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Column Chart</a:t>
            </a:r>
          </a:p>
          <a:p>
            <a:r>
              <a:rPr lang="en-IN" sz="1000" dirty="0">
                <a:solidFill>
                  <a:schemeClr val="tx1">
                    <a:lumMod val="65000"/>
                    <a:lumOff val="35000"/>
                  </a:schemeClr>
                </a:solidFill>
              </a:rPr>
              <a:t>Weekday vs Weekend Booking and Revenue</a:t>
            </a:r>
            <a:r>
              <a:rPr lang="en-IN" sz="1000" dirty="0"/>
              <a:t>.</a:t>
            </a:r>
            <a:endParaRPr lang="en-US" sz="1000" dirty="0">
              <a:solidFill>
                <a:srgbClr val="4B5563"/>
              </a:solidFill>
              <a:latin typeface="Calibri" pitchFamily="34" charset="0"/>
            </a:endParaRPr>
          </a:p>
        </p:txBody>
      </p:sp>
      <p:sp>
        <p:nvSpPr>
          <p:cNvPr id="19" name="Dot5"/>
          <p:cNvSpPr/>
          <p:nvPr/>
        </p:nvSpPr>
        <p:spPr>
          <a:xfrm>
            <a:off x="8412480" y="5623560"/>
            <a:ext cx="91440" cy="91440"/>
          </a:xfrm>
          <a:prstGeom prst="ellipse">
            <a:avLst/>
          </a:prstGeom>
          <a:solidFill>
            <a:srgbClr val="142850"/>
          </a:solidFill>
          <a:ln/>
        </p:spPr>
        <p:txBody>
          <a:bodyPr/>
          <a:lstStyle/>
          <a:p>
            <a:endParaRPr lang="en-IN"/>
          </a:p>
        </p:txBody>
      </p:sp>
      <p:sp>
        <p:nvSpPr>
          <p:cNvPr id="20" name="Label5"/>
          <p:cNvSpPr/>
          <p:nvPr/>
        </p:nvSpPr>
        <p:spPr>
          <a:xfrm>
            <a:off x="8595360" y="5532120"/>
            <a:ext cx="2834640" cy="600000"/>
          </a:xfrm>
          <a:prstGeom prst="rect">
            <a:avLst/>
          </a:prstGeom>
          <a:noFill/>
          <a:ln/>
        </p:spPr>
        <p:txBody>
          <a:bodyPr wrap="square" rtlCol="0" anchor="t"/>
          <a:lstStyle/>
          <a:p>
            <a:pPr marL="0" indent="0">
              <a:buNone/>
            </a:pPr>
            <a:r>
              <a:rPr lang="en-US" sz="1150" b="1" dirty="0">
                <a:solidFill>
                  <a:srgbClr val="1F2937"/>
                </a:solidFill>
                <a:latin typeface="Calibri" pitchFamily="34" charset="0"/>
              </a:rPr>
              <a:t>Combo Chart</a:t>
            </a:r>
          </a:p>
          <a:p>
            <a:r>
              <a:rPr lang="en-IN" sz="1000" dirty="0">
                <a:solidFill>
                  <a:schemeClr val="tx1">
                    <a:lumMod val="65000"/>
                    <a:lumOff val="35000"/>
                  </a:schemeClr>
                </a:solidFill>
              </a:rPr>
              <a:t>Weekly Revenue/Booking with Occupancy trend</a:t>
            </a:r>
            <a:r>
              <a:rPr lang="en-IN" sz="1000" dirty="0">
                <a:solidFill>
                  <a:schemeClr val="tx1">
                    <a:lumMod val="50000"/>
                    <a:lumOff val="50000"/>
                  </a:schemeClr>
                </a:solidFill>
              </a:rPr>
              <a:t>.</a:t>
            </a:r>
            <a:endParaRPr lang="en-US" sz="1000" dirty="0">
              <a:solidFill>
                <a:schemeClr val="tx1">
                  <a:lumMod val="50000"/>
                  <a:lumOff val="50000"/>
                </a:schemeClr>
              </a:solidFill>
              <a:latin typeface="Calibri" pitchFamily="34" charset="0"/>
            </a:endParaRPr>
          </a:p>
        </p:txBody>
      </p:sp>
      <p:sp>
        <p:nvSpPr>
          <p:cNvPr id="5" name="Text 2"/>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6" name="Text 3"/>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
        <p:nvSpPr>
          <p:cNvPr id="22" name="Shape 0">
            <a:extLst>
              <a:ext uri="{FF2B5EF4-FFF2-40B4-BE49-F238E27FC236}">
                <a16:creationId xmlns:a16="http://schemas.microsoft.com/office/drawing/2014/main" id="{7746E19C-4C7C-E476-1836-7F72AA2BC5D6}"/>
              </a:ext>
            </a:extLst>
          </p:cNvPr>
          <p:cNvSpPr/>
          <p:nvPr/>
        </p:nvSpPr>
        <p:spPr>
          <a:xfrm>
            <a:off x="9966960" y="-1005840"/>
            <a:ext cx="3840480" cy="3840480"/>
          </a:xfrm>
          <a:prstGeom prst="ellipse">
            <a:avLst/>
          </a:prstGeom>
          <a:solidFill>
            <a:srgbClr val="0E7C86">
              <a:alpha val="22000"/>
            </a:srgbClr>
          </a:solidFill>
          <a:ln/>
        </p:spPr>
        <p:txBody>
          <a:bodyPr/>
          <a:lstStyle/>
          <a:p>
            <a:endParaRPr lang="en-IN"/>
          </a:p>
        </p:txBody>
      </p:sp>
      <p:sp>
        <p:nvSpPr>
          <p:cNvPr id="24" name="Shape 1">
            <a:extLst>
              <a:ext uri="{FF2B5EF4-FFF2-40B4-BE49-F238E27FC236}">
                <a16:creationId xmlns:a16="http://schemas.microsoft.com/office/drawing/2014/main" id="{1AB28FBD-7C51-47BA-6A90-98298CE0397E}"/>
              </a:ext>
            </a:extLst>
          </p:cNvPr>
          <p:cNvSpPr/>
          <p:nvPr/>
        </p:nvSpPr>
        <p:spPr>
          <a:xfrm>
            <a:off x="10972800" y="4206240"/>
            <a:ext cx="2743200" cy="2743200"/>
          </a:xfrm>
          <a:prstGeom prst="ellipse">
            <a:avLst/>
          </a:prstGeom>
          <a:solidFill>
            <a:srgbClr val="E8871E">
              <a:alpha val="20000"/>
            </a:srgbClr>
          </a:solidFill>
          <a:ln/>
        </p:spPr>
        <p:txBody>
          <a:bodyPr/>
          <a:lstStyle/>
          <a:p>
            <a:endParaRPr lang="en-IN" dirty="0"/>
          </a:p>
        </p:txBody>
      </p:sp>
      <p:sp>
        <p:nvSpPr>
          <p:cNvPr id="26" name="Shape 2">
            <a:extLst>
              <a:ext uri="{FF2B5EF4-FFF2-40B4-BE49-F238E27FC236}">
                <a16:creationId xmlns:a16="http://schemas.microsoft.com/office/drawing/2014/main" id="{C60BB828-B8AE-EC01-F925-85177C98B1CB}"/>
              </a:ext>
            </a:extLst>
          </p:cNvPr>
          <p:cNvSpPr/>
          <p:nvPr/>
        </p:nvSpPr>
        <p:spPr>
          <a:xfrm>
            <a:off x="-1097280" y="5120640"/>
            <a:ext cx="3108960" cy="3108960"/>
          </a:xfrm>
          <a:prstGeom prst="ellipse">
            <a:avLst/>
          </a:prstGeom>
          <a:solidFill>
            <a:srgbClr val="0E7C86">
              <a:alpha val="18000"/>
            </a:srgbClr>
          </a:solidFill>
          <a:ln/>
        </p:spPr>
        <p:txBody>
          <a:bodyPr/>
          <a:lstStyle/>
          <a:p>
            <a:endParaRPr lang="en-IN"/>
          </a:p>
        </p:txBody>
      </p:sp>
      <p:pic>
        <p:nvPicPr>
          <p:cNvPr id="21" name="Picture 20">
            <a:extLst>
              <a:ext uri="{FF2B5EF4-FFF2-40B4-BE49-F238E27FC236}">
                <a16:creationId xmlns:a16="http://schemas.microsoft.com/office/drawing/2014/main" id="{86D5BDA7-56D0-1B91-C079-5AC01786A20C}"/>
              </a:ext>
            </a:extLst>
          </p:cNvPr>
          <p:cNvPicPr>
            <a:picLocks noChangeAspect="1"/>
          </p:cNvPicPr>
          <p:nvPr/>
        </p:nvPicPr>
        <p:blipFill>
          <a:blip r:embed="rId3"/>
          <a:stretch>
            <a:fillRect/>
          </a:stretch>
        </p:blipFill>
        <p:spPr>
          <a:xfrm>
            <a:off x="128723" y="1417320"/>
            <a:ext cx="7826557" cy="48920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cs typeface="Cambria" pitchFamily="34" charset="-120"/>
              </a:rPr>
              <a:t>KEY INSIGHTS</a:t>
            </a:r>
            <a:endParaRPr lang="en-US" sz="3000" dirty="0"/>
          </a:p>
        </p:txBody>
      </p:sp>
      <p:sp>
        <p:nvSpPr>
          <p:cNvPr id="3" name="Text 1"/>
          <p:cNvSpPr/>
          <p:nvPr/>
        </p:nvSpPr>
        <p:spPr>
          <a:xfrm>
            <a:off x="548640" y="896112"/>
            <a:ext cx="11064240" cy="320040"/>
          </a:xfrm>
          <a:prstGeom prst="rect">
            <a:avLst/>
          </a:prstGeom>
          <a:noFill/>
          <a:ln/>
        </p:spPr>
        <p:txBody>
          <a:bodyPr wrap="square" rtlCol="0" anchor="ctr"/>
          <a:lstStyle/>
          <a:p>
            <a:r>
              <a:rPr lang="en-IN" sz="1300" i="1" dirty="0">
                <a:solidFill>
                  <a:srgbClr val="0E7C86"/>
                </a:solidFill>
              </a:rPr>
              <a:t>Hotel Performance &amp; Revenue Analysis </a:t>
            </a:r>
            <a:r>
              <a:rPr lang="en-US" sz="1300" i="1" dirty="0">
                <a:solidFill>
                  <a:srgbClr val="0E7C86"/>
                </a:solidFill>
                <a:ea typeface="Calibri" pitchFamily="34" charset="-122"/>
                <a:cs typeface="Calibri" pitchFamily="34" charset="-120"/>
              </a:rPr>
              <a:t>| May - July</a:t>
            </a:r>
            <a:endParaRPr lang="en-US" sz="1300" i="1" dirty="0">
              <a:solidFill>
                <a:srgbClr val="0E7C86"/>
              </a:solidFill>
            </a:endParaRPr>
          </a:p>
        </p:txBody>
      </p:sp>
      <p:sp>
        <p:nvSpPr>
          <p:cNvPr id="4" name="Shape 2"/>
          <p:cNvSpPr/>
          <p:nvPr/>
        </p:nvSpPr>
        <p:spPr>
          <a:xfrm>
            <a:off x="548640" y="1463040"/>
            <a:ext cx="2103120" cy="914400"/>
          </a:xfrm>
          <a:prstGeom prst="roundRect">
            <a:avLst>
              <a:gd name="adj" fmla="val 6000"/>
            </a:avLst>
          </a:prstGeom>
          <a:solidFill>
            <a:srgbClr val="0E7C86"/>
          </a:solidFill>
          <a:ln/>
        </p:spPr>
        <p:txBody>
          <a:bodyPr/>
          <a:lstStyle/>
          <a:p>
            <a:endParaRPr lang="en-IN"/>
          </a:p>
        </p:txBody>
      </p:sp>
      <p:sp>
        <p:nvSpPr>
          <p:cNvPr id="5" name="Text 3"/>
          <p:cNvSpPr/>
          <p:nvPr/>
        </p:nvSpPr>
        <p:spPr>
          <a:xfrm>
            <a:off x="548640"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1.71B</a:t>
            </a:r>
            <a:endParaRPr lang="en-US" sz="2100" dirty="0"/>
          </a:p>
        </p:txBody>
      </p:sp>
      <p:sp>
        <p:nvSpPr>
          <p:cNvPr id="6" name="Text 4"/>
          <p:cNvSpPr/>
          <p:nvPr/>
        </p:nvSpPr>
        <p:spPr>
          <a:xfrm>
            <a:off x="548640"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REVENUE</a:t>
            </a:r>
            <a:endParaRPr lang="en-US" sz="1000" dirty="0"/>
          </a:p>
        </p:txBody>
      </p:sp>
      <p:sp>
        <p:nvSpPr>
          <p:cNvPr id="7" name="Shape 5"/>
          <p:cNvSpPr/>
          <p:nvPr/>
        </p:nvSpPr>
        <p:spPr>
          <a:xfrm>
            <a:off x="2816352" y="1463040"/>
            <a:ext cx="2103120" cy="914400"/>
          </a:xfrm>
          <a:prstGeom prst="roundRect">
            <a:avLst>
              <a:gd name="adj" fmla="val 6000"/>
            </a:avLst>
          </a:prstGeom>
          <a:solidFill>
            <a:srgbClr val="142850"/>
          </a:solidFill>
          <a:ln/>
        </p:spPr>
        <p:txBody>
          <a:bodyPr/>
          <a:lstStyle/>
          <a:p>
            <a:endParaRPr lang="en-IN"/>
          </a:p>
        </p:txBody>
      </p:sp>
      <p:sp>
        <p:nvSpPr>
          <p:cNvPr id="8" name="Text 6"/>
          <p:cNvSpPr/>
          <p:nvPr/>
        </p:nvSpPr>
        <p:spPr>
          <a:xfrm>
            <a:off x="2816352"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135K</a:t>
            </a:r>
            <a:endParaRPr lang="en-US" sz="2100" dirty="0"/>
          </a:p>
        </p:txBody>
      </p:sp>
      <p:sp>
        <p:nvSpPr>
          <p:cNvPr id="9" name="Text 7"/>
          <p:cNvSpPr/>
          <p:nvPr/>
        </p:nvSpPr>
        <p:spPr>
          <a:xfrm>
            <a:off x="2816352"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BOOKING</a:t>
            </a:r>
            <a:endParaRPr lang="en-US" sz="1000" dirty="0"/>
          </a:p>
        </p:txBody>
      </p:sp>
      <p:sp>
        <p:nvSpPr>
          <p:cNvPr id="10" name="Shape 8"/>
          <p:cNvSpPr/>
          <p:nvPr/>
        </p:nvSpPr>
        <p:spPr>
          <a:xfrm>
            <a:off x="5084064" y="1463040"/>
            <a:ext cx="2103120" cy="914400"/>
          </a:xfrm>
          <a:prstGeom prst="roundRect">
            <a:avLst>
              <a:gd name="adj" fmla="val 6000"/>
            </a:avLst>
          </a:prstGeom>
          <a:solidFill>
            <a:srgbClr val="E8871E"/>
          </a:solidFill>
          <a:ln/>
        </p:spPr>
        <p:txBody>
          <a:bodyPr/>
          <a:lstStyle/>
          <a:p>
            <a:endParaRPr lang="en-IN"/>
          </a:p>
        </p:txBody>
      </p:sp>
      <p:sp>
        <p:nvSpPr>
          <p:cNvPr id="11" name="Text 9"/>
          <p:cNvSpPr/>
          <p:nvPr/>
        </p:nvSpPr>
        <p:spPr>
          <a:xfrm>
            <a:off x="5084064"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rPr>
              <a:t>57.87%</a:t>
            </a:r>
            <a:endParaRPr lang="en-US" sz="2100" dirty="0"/>
          </a:p>
        </p:txBody>
      </p:sp>
      <p:sp>
        <p:nvSpPr>
          <p:cNvPr id="12" name="Text 10"/>
          <p:cNvSpPr/>
          <p:nvPr/>
        </p:nvSpPr>
        <p:spPr>
          <a:xfrm>
            <a:off x="5084064"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OCCUPANCY %</a:t>
            </a:r>
            <a:endParaRPr lang="en-US" sz="1000" dirty="0"/>
          </a:p>
        </p:txBody>
      </p:sp>
      <p:sp>
        <p:nvSpPr>
          <p:cNvPr id="13" name="Shape 11"/>
          <p:cNvSpPr/>
          <p:nvPr/>
        </p:nvSpPr>
        <p:spPr>
          <a:xfrm>
            <a:off x="7351776" y="1463040"/>
            <a:ext cx="2103120" cy="914400"/>
          </a:xfrm>
          <a:prstGeom prst="roundRect">
            <a:avLst>
              <a:gd name="adj" fmla="val 6000"/>
            </a:avLst>
          </a:prstGeom>
          <a:solidFill>
            <a:srgbClr val="0E7C86"/>
          </a:solidFill>
          <a:ln/>
        </p:spPr>
        <p:txBody>
          <a:bodyPr/>
          <a:lstStyle/>
          <a:p>
            <a:endParaRPr lang="en-IN"/>
          </a:p>
        </p:txBody>
      </p:sp>
      <p:sp>
        <p:nvSpPr>
          <p:cNvPr id="14" name="Text 12"/>
          <p:cNvSpPr/>
          <p:nvPr/>
        </p:nvSpPr>
        <p:spPr>
          <a:xfrm>
            <a:off x="7351776"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25%</a:t>
            </a:r>
            <a:endParaRPr lang="en-US" sz="2100" dirty="0"/>
          </a:p>
        </p:txBody>
      </p:sp>
      <p:sp>
        <p:nvSpPr>
          <p:cNvPr id="15" name="Text 13"/>
          <p:cNvSpPr/>
          <p:nvPr/>
        </p:nvSpPr>
        <p:spPr>
          <a:xfrm>
            <a:off x="7351776" y="2039112"/>
            <a:ext cx="21031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CANCELLATION RATE</a:t>
            </a:r>
            <a:endParaRPr lang="en-US" sz="1000" dirty="0"/>
          </a:p>
        </p:txBody>
      </p:sp>
      <p:sp>
        <p:nvSpPr>
          <p:cNvPr id="16" name="Shape 14"/>
          <p:cNvSpPr/>
          <p:nvPr/>
        </p:nvSpPr>
        <p:spPr>
          <a:xfrm>
            <a:off x="9619488" y="1463040"/>
            <a:ext cx="2103120" cy="914400"/>
          </a:xfrm>
          <a:prstGeom prst="roundRect">
            <a:avLst>
              <a:gd name="adj" fmla="val 6000"/>
            </a:avLst>
          </a:prstGeom>
          <a:solidFill>
            <a:srgbClr val="142850"/>
          </a:solidFill>
          <a:ln/>
        </p:spPr>
        <p:txBody>
          <a:bodyPr/>
          <a:lstStyle/>
          <a:p>
            <a:endParaRPr lang="en-IN"/>
          </a:p>
        </p:txBody>
      </p:sp>
      <p:sp>
        <p:nvSpPr>
          <p:cNvPr id="17" name="Text 15"/>
          <p:cNvSpPr/>
          <p:nvPr/>
        </p:nvSpPr>
        <p:spPr>
          <a:xfrm>
            <a:off x="9619488" y="1536192"/>
            <a:ext cx="2103120" cy="50292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rPr>
              <a:t>1026</a:t>
            </a:r>
            <a:endParaRPr lang="en-US" sz="2100" dirty="0"/>
          </a:p>
        </p:txBody>
      </p:sp>
      <p:sp>
        <p:nvSpPr>
          <p:cNvPr id="18" name="Text 16"/>
          <p:cNvSpPr/>
          <p:nvPr/>
        </p:nvSpPr>
        <p:spPr>
          <a:xfrm>
            <a:off x="9619488" y="2039112"/>
            <a:ext cx="2103120" cy="274320"/>
          </a:xfrm>
          <a:prstGeom prst="rect">
            <a:avLst/>
          </a:prstGeom>
          <a:noFill/>
          <a:ln/>
        </p:spPr>
        <p:txBody>
          <a:bodyPr wrap="square" rtlCol="0" anchor="ctr"/>
          <a:lstStyle/>
          <a:p>
            <a:pPr marL="0" indent="0" algn="ctr">
              <a:buNone/>
            </a:pPr>
            <a:r>
              <a:rPr lang="en-US" sz="1000" dirty="0">
                <a:solidFill>
                  <a:schemeClr val="bg1"/>
                </a:solidFill>
              </a:rPr>
              <a:t>UTILIZATION CAPACITY</a:t>
            </a:r>
          </a:p>
        </p:txBody>
      </p:sp>
      <p:sp>
        <p:nvSpPr>
          <p:cNvPr id="19" name="Shape 17"/>
          <p:cNvSpPr/>
          <p:nvPr/>
        </p:nvSpPr>
        <p:spPr>
          <a:xfrm>
            <a:off x="548640" y="2606040"/>
            <a:ext cx="3611880" cy="1417320"/>
          </a:xfrm>
          <a:prstGeom prst="roundRect">
            <a:avLst>
              <a:gd name="adj" fmla="val 3871"/>
            </a:avLst>
          </a:prstGeom>
          <a:solidFill>
            <a:srgbClr val="F5F7FA"/>
          </a:solidFill>
          <a:ln/>
        </p:spPr>
        <p:txBody>
          <a:bodyPr/>
          <a:lstStyle/>
          <a:p>
            <a:endParaRPr lang="en-IN"/>
          </a:p>
        </p:txBody>
      </p:sp>
      <p:sp>
        <p:nvSpPr>
          <p:cNvPr id="20" name="Shape 18"/>
          <p:cNvSpPr/>
          <p:nvPr/>
        </p:nvSpPr>
        <p:spPr>
          <a:xfrm>
            <a:off x="731520" y="2770632"/>
            <a:ext cx="365760" cy="365760"/>
          </a:xfrm>
          <a:prstGeom prst="ellipse">
            <a:avLst/>
          </a:prstGeom>
          <a:solidFill>
            <a:srgbClr val="0E7C86"/>
          </a:solidFill>
          <a:ln/>
        </p:spPr>
        <p:txBody>
          <a:bodyPr/>
          <a:lstStyle/>
          <a:p>
            <a:endParaRPr lang="en-IN"/>
          </a:p>
        </p:txBody>
      </p:sp>
      <p:sp>
        <p:nvSpPr>
          <p:cNvPr id="21" name="Text 19"/>
          <p:cNvSpPr/>
          <p:nvPr/>
        </p:nvSpPr>
        <p:spPr>
          <a:xfrm>
            <a:off x="73152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2" name="Text 20"/>
          <p:cNvSpPr/>
          <p:nvPr/>
        </p:nvSpPr>
        <p:spPr>
          <a:xfrm>
            <a:off x="1234440" y="27340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Revenue Performance</a:t>
            </a:r>
            <a:endParaRPr lang="en-US" sz="1250" b="1" dirty="0">
              <a:solidFill>
                <a:schemeClr val="tx2"/>
              </a:solidFill>
              <a:latin typeface="Cambria" panose="02040503050406030204" pitchFamily="18" charset="0"/>
              <a:ea typeface="Cambria" panose="02040503050406030204" pitchFamily="18" charset="0"/>
            </a:endParaRPr>
          </a:p>
        </p:txBody>
      </p:sp>
      <p:sp>
        <p:nvSpPr>
          <p:cNvPr id="23" name="Text 21"/>
          <p:cNvSpPr/>
          <p:nvPr/>
        </p:nvSpPr>
        <p:spPr>
          <a:xfrm>
            <a:off x="749808" y="3172968"/>
            <a:ext cx="3200400" cy="777240"/>
          </a:xfrm>
          <a:prstGeom prst="rect">
            <a:avLst/>
          </a:prstGeom>
          <a:noFill/>
          <a:ln/>
        </p:spPr>
        <p:txBody>
          <a:bodyPr wrap="square" rtlCol="0" anchor="ctr"/>
          <a:lstStyle/>
          <a:p>
            <a:r>
              <a:rPr lang="en-IN" sz="1000" dirty="0">
                <a:solidFill>
                  <a:schemeClr val="bg1">
                    <a:lumMod val="50000"/>
                  </a:schemeClr>
                </a:solidFill>
              </a:rPr>
              <a:t>Revenue helps us understand the overall financial performance of the hotels , like how much money the hotels are earning.</a:t>
            </a:r>
            <a:endParaRPr lang="en-US" sz="1000" dirty="0">
              <a:solidFill>
                <a:schemeClr val="bg1">
                  <a:lumMod val="50000"/>
                </a:schemeClr>
              </a:solidFill>
            </a:endParaRPr>
          </a:p>
        </p:txBody>
      </p:sp>
      <p:sp>
        <p:nvSpPr>
          <p:cNvPr id="24" name="Shape 22"/>
          <p:cNvSpPr/>
          <p:nvPr/>
        </p:nvSpPr>
        <p:spPr>
          <a:xfrm>
            <a:off x="4343400" y="2606040"/>
            <a:ext cx="3611880" cy="1417320"/>
          </a:xfrm>
          <a:prstGeom prst="roundRect">
            <a:avLst>
              <a:gd name="adj" fmla="val 3871"/>
            </a:avLst>
          </a:prstGeom>
          <a:solidFill>
            <a:srgbClr val="F5F7FA"/>
          </a:solidFill>
          <a:ln/>
        </p:spPr>
        <p:txBody>
          <a:bodyPr/>
          <a:lstStyle/>
          <a:p>
            <a:endParaRPr lang="en-IN"/>
          </a:p>
        </p:txBody>
      </p:sp>
      <p:sp>
        <p:nvSpPr>
          <p:cNvPr id="25" name="Shape 23"/>
          <p:cNvSpPr/>
          <p:nvPr/>
        </p:nvSpPr>
        <p:spPr>
          <a:xfrm>
            <a:off x="4526280" y="2770632"/>
            <a:ext cx="365760" cy="365760"/>
          </a:xfrm>
          <a:prstGeom prst="ellipse">
            <a:avLst/>
          </a:prstGeom>
          <a:solidFill>
            <a:srgbClr val="E8871E"/>
          </a:solidFill>
          <a:ln/>
        </p:spPr>
        <p:txBody>
          <a:bodyPr/>
          <a:lstStyle/>
          <a:p>
            <a:endParaRPr lang="en-IN"/>
          </a:p>
        </p:txBody>
      </p:sp>
      <p:sp>
        <p:nvSpPr>
          <p:cNvPr id="26" name="Text 24"/>
          <p:cNvSpPr/>
          <p:nvPr/>
        </p:nvSpPr>
        <p:spPr>
          <a:xfrm>
            <a:off x="452628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7" name="Text 25"/>
          <p:cNvSpPr/>
          <p:nvPr/>
        </p:nvSpPr>
        <p:spPr>
          <a:xfrm>
            <a:off x="5029200" y="27340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Occupancy</a:t>
            </a:r>
            <a:endParaRPr lang="en-US" sz="1250" b="1" dirty="0">
              <a:solidFill>
                <a:schemeClr val="tx2"/>
              </a:solidFill>
              <a:latin typeface="Cambria" panose="02040503050406030204" pitchFamily="18" charset="0"/>
              <a:ea typeface="Cambria" panose="02040503050406030204" pitchFamily="18" charset="0"/>
            </a:endParaRPr>
          </a:p>
        </p:txBody>
      </p:sp>
      <p:sp>
        <p:nvSpPr>
          <p:cNvPr id="28" name="Text 26"/>
          <p:cNvSpPr/>
          <p:nvPr/>
        </p:nvSpPr>
        <p:spPr>
          <a:xfrm>
            <a:off x="4544568" y="3172968"/>
            <a:ext cx="3200400" cy="777240"/>
          </a:xfrm>
          <a:prstGeom prst="rect">
            <a:avLst/>
          </a:prstGeom>
          <a:noFill/>
          <a:ln/>
        </p:spPr>
        <p:txBody>
          <a:bodyPr wrap="square" rtlCol="0" anchor="ctr"/>
          <a:lstStyle/>
          <a:p>
            <a:r>
              <a:rPr lang="en-IN" sz="1000" dirty="0">
                <a:solidFill>
                  <a:schemeClr val="bg1">
                    <a:lumMod val="50000"/>
                  </a:schemeClr>
                </a:solidFill>
              </a:rPr>
              <a:t>Occupancy shows how many available rooms are occupied.</a:t>
            </a:r>
            <a:endParaRPr lang="en-US" sz="980" dirty="0">
              <a:solidFill>
                <a:schemeClr val="bg1">
                  <a:lumMod val="50000"/>
                </a:schemeClr>
              </a:solidFill>
            </a:endParaRPr>
          </a:p>
        </p:txBody>
      </p:sp>
      <p:sp>
        <p:nvSpPr>
          <p:cNvPr id="29" name="Shape 27"/>
          <p:cNvSpPr/>
          <p:nvPr/>
        </p:nvSpPr>
        <p:spPr>
          <a:xfrm>
            <a:off x="8138160" y="2606040"/>
            <a:ext cx="3611880" cy="1417320"/>
          </a:xfrm>
          <a:prstGeom prst="roundRect">
            <a:avLst>
              <a:gd name="adj" fmla="val 3871"/>
            </a:avLst>
          </a:prstGeom>
          <a:solidFill>
            <a:srgbClr val="F5F7FA"/>
          </a:solidFill>
          <a:ln/>
        </p:spPr>
        <p:txBody>
          <a:bodyPr/>
          <a:lstStyle/>
          <a:p>
            <a:endParaRPr lang="en-IN"/>
          </a:p>
        </p:txBody>
      </p:sp>
      <p:sp>
        <p:nvSpPr>
          <p:cNvPr id="30" name="Shape 28"/>
          <p:cNvSpPr/>
          <p:nvPr/>
        </p:nvSpPr>
        <p:spPr>
          <a:xfrm>
            <a:off x="8321040" y="2734056"/>
            <a:ext cx="365760" cy="365760"/>
          </a:xfrm>
          <a:prstGeom prst="ellipse">
            <a:avLst/>
          </a:prstGeom>
          <a:solidFill>
            <a:srgbClr val="142850"/>
          </a:solidFill>
          <a:ln/>
        </p:spPr>
        <p:txBody>
          <a:bodyPr/>
          <a:lstStyle/>
          <a:p>
            <a:endParaRPr lang="en-IN"/>
          </a:p>
        </p:txBody>
      </p:sp>
      <p:sp>
        <p:nvSpPr>
          <p:cNvPr id="31" name="Text 29"/>
          <p:cNvSpPr/>
          <p:nvPr/>
        </p:nvSpPr>
        <p:spPr>
          <a:xfrm>
            <a:off x="8321040" y="27706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2" name="Text 30"/>
          <p:cNvSpPr/>
          <p:nvPr/>
        </p:nvSpPr>
        <p:spPr>
          <a:xfrm>
            <a:off x="8823960" y="27340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Booking Performance</a:t>
            </a:r>
            <a:endParaRPr lang="en-US" sz="1250" b="1" dirty="0">
              <a:solidFill>
                <a:schemeClr val="tx2"/>
              </a:solidFill>
              <a:latin typeface="Cambria" panose="02040503050406030204" pitchFamily="18" charset="0"/>
              <a:ea typeface="Cambria" panose="02040503050406030204" pitchFamily="18" charset="0"/>
            </a:endParaRPr>
          </a:p>
        </p:txBody>
      </p:sp>
      <p:sp>
        <p:nvSpPr>
          <p:cNvPr id="33" name="Text 31"/>
          <p:cNvSpPr/>
          <p:nvPr/>
        </p:nvSpPr>
        <p:spPr>
          <a:xfrm>
            <a:off x="8339328" y="3172968"/>
            <a:ext cx="3200400" cy="777240"/>
          </a:xfrm>
          <a:prstGeom prst="rect">
            <a:avLst/>
          </a:prstGeom>
          <a:noFill/>
          <a:ln/>
        </p:spPr>
        <p:txBody>
          <a:bodyPr wrap="square" rtlCol="0" anchor="ctr"/>
          <a:lstStyle/>
          <a:p>
            <a:r>
              <a:rPr lang="en-IN" sz="1000" dirty="0">
                <a:solidFill>
                  <a:schemeClr val="bg1">
                    <a:lumMod val="50000"/>
                  </a:schemeClr>
                </a:solidFill>
              </a:rPr>
              <a:t>Total bookings help us understand customer demand , it show how many bookings the hotels received.</a:t>
            </a:r>
            <a:endParaRPr lang="en-US" sz="980" dirty="0">
              <a:solidFill>
                <a:schemeClr val="bg1">
                  <a:lumMod val="50000"/>
                </a:schemeClr>
              </a:solidFill>
            </a:endParaRPr>
          </a:p>
        </p:txBody>
      </p:sp>
      <p:sp>
        <p:nvSpPr>
          <p:cNvPr id="34" name="Shape 32"/>
          <p:cNvSpPr/>
          <p:nvPr/>
        </p:nvSpPr>
        <p:spPr>
          <a:xfrm>
            <a:off x="548640" y="4206240"/>
            <a:ext cx="3611880" cy="1417320"/>
          </a:xfrm>
          <a:prstGeom prst="roundRect">
            <a:avLst>
              <a:gd name="adj" fmla="val 3871"/>
            </a:avLst>
          </a:prstGeom>
          <a:solidFill>
            <a:srgbClr val="F5F7FA"/>
          </a:solidFill>
          <a:ln/>
        </p:spPr>
        <p:txBody>
          <a:bodyPr/>
          <a:lstStyle/>
          <a:p>
            <a:endParaRPr lang="en-IN"/>
          </a:p>
        </p:txBody>
      </p:sp>
      <p:sp>
        <p:nvSpPr>
          <p:cNvPr id="35" name="Shape 33"/>
          <p:cNvSpPr/>
          <p:nvPr/>
        </p:nvSpPr>
        <p:spPr>
          <a:xfrm>
            <a:off x="731520" y="4370832"/>
            <a:ext cx="365760" cy="365760"/>
          </a:xfrm>
          <a:prstGeom prst="ellipse">
            <a:avLst/>
          </a:prstGeom>
          <a:solidFill>
            <a:srgbClr val="0E7C86"/>
          </a:solidFill>
          <a:ln/>
        </p:spPr>
        <p:txBody>
          <a:bodyPr/>
          <a:lstStyle/>
          <a:p>
            <a:endParaRPr lang="en-IN"/>
          </a:p>
        </p:txBody>
      </p:sp>
      <p:sp>
        <p:nvSpPr>
          <p:cNvPr id="36" name="Text 34"/>
          <p:cNvSpPr/>
          <p:nvPr/>
        </p:nvSpPr>
        <p:spPr>
          <a:xfrm>
            <a:off x="73152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37" name="Text 35"/>
          <p:cNvSpPr/>
          <p:nvPr/>
        </p:nvSpPr>
        <p:spPr>
          <a:xfrm>
            <a:off x="1234440" y="43342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Cancellation</a:t>
            </a:r>
            <a:endParaRPr lang="en-US" sz="1250" b="1" dirty="0">
              <a:solidFill>
                <a:schemeClr val="tx2"/>
              </a:solidFill>
              <a:latin typeface="Cambria" panose="02040503050406030204" pitchFamily="18" charset="0"/>
              <a:ea typeface="Cambria" panose="02040503050406030204" pitchFamily="18" charset="0"/>
            </a:endParaRPr>
          </a:p>
        </p:txBody>
      </p:sp>
      <p:sp>
        <p:nvSpPr>
          <p:cNvPr id="38" name="Text 36"/>
          <p:cNvSpPr/>
          <p:nvPr/>
        </p:nvSpPr>
        <p:spPr>
          <a:xfrm>
            <a:off x="749808" y="4773168"/>
            <a:ext cx="3200400" cy="777240"/>
          </a:xfrm>
          <a:prstGeom prst="rect">
            <a:avLst/>
          </a:prstGeom>
          <a:noFill/>
          <a:ln/>
        </p:spPr>
        <p:txBody>
          <a:bodyPr wrap="square" rtlCol="0" anchor="ctr"/>
          <a:lstStyle/>
          <a:p>
            <a:r>
              <a:rPr lang="en-IN" sz="1000" dirty="0">
                <a:solidFill>
                  <a:schemeClr val="bg1">
                    <a:lumMod val="50000"/>
                  </a:schemeClr>
                </a:solidFill>
              </a:rPr>
              <a:t>Cancellation rate helps identify the level of booking cancellations , such as  it shows how many bookings were cancelled.</a:t>
            </a:r>
            <a:endParaRPr lang="en-US" sz="980" dirty="0">
              <a:solidFill>
                <a:schemeClr val="bg1">
                  <a:lumMod val="50000"/>
                </a:schemeClr>
              </a:solidFill>
            </a:endParaRPr>
          </a:p>
        </p:txBody>
      </p:sp>
      <p:sp>
        <p:nvSpPr>
          <p:cNvPr id="39" name="Shape 37"/>
          <p:cNvSpPr/>
          <p:nvPr/>
        </p:nvSpPr>
        <p:spPr>
          <a:xfrm>
            <a:off x="4343400" y="4206240"/>
            <a:ext cx="3611880" cy="1417320"/>
          </a:xfrm>
          <a:prstGeom prst="roundRect">
            <a:avLst>
              <a:gd name="adj" fmla="val 3871"/>
            </a:avLst>
          </a:prstGeom>
          <a:solidFill>
            <a:srgbClr val="F5F7FA"/>
          </a:solidFill>
          <a:ln/>
        </p:spPr>
        <p:txBody>
          <a:bodyPr/>
          <a:lstStyle/>
          <a:p>
            <a:endParaRPr lang="en-IN"/>
          </a:p>
        </p:txBody>
      </p:sp>
      <p:sp>
        <p:nvSpPr>
          <p:cNvPr id="40" name="Shape 38"/>
          <p:cNvSpPr/>
          <p:nvPr/>
        </p:nvSpPr>
        <p:spPr>
          <a:xfrm>
            <a:off x="4526280" y="4370832"/>
            <a:ext cx="365760" cy="365760"/>
          </a:xfrm>
          <a:prstGeom prst="ellipse">
            <a:avLst/>
          </a:prstGeom>
          <a:solidFill>
            <a:srgbClr val="E8871E"/>
          </a:solidFill>
          <a:ln/>
        </p:spPr>
        <p:txBody>
          <a:bodyPr/>
          <a:lstStyle/>
          <a:p>
            <a:endParaRPr lang="en-IN"/>
          </a:p>
        </p:txBody>
      </p:sp>
      <p:sp>
        <p:nvSpPr>
          <p:cNvPr id="41" name="Text 39"/>
          <p:cNvSpPr/>
          <p:nvPr/>
        </p:nvSpPr>
        <p:spPr>
          <a:xfrm>
            <a:off x="452628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42" name="Text 40"/>
          <p:cNvSpPr/>
          <p:nvPr/>
        </p:nvSpPr>
        <p:spPr>
          <a:xfrm>
            <a:off x="5029200" y="43342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Weekly Trend</a:t>
            </a:r>
            <a:endParaRPr lang="en-US" sz="1250" b="1" dirty="0">
              <a:solidFill>
                <a:schemeClr val="tx2"/>
              </a:solidFill>
              <a:latin typeface="Cambria" panose="02040503050406030204" pitchFamily="18" charset="0"/>
              <a:ea typeface="Cambria" panose="02040503050406030204" pitchFamily="18" charset="0"/>
            </a:endParaRPr>
          </a:p>
        </p:txBody>
      </p:sp>
      <p:sp>
        <p:nvSpPr>
          <p:cNvPr id="43" name="Text 41"/>
          <p:cNvSpPr/>
          <p:nvPr/>
        </p:nvSpPr>
        <p:spPr>
          <a:xfrm>
            <a:off x="4544568" y="4773168"/>
            <a:ext cx="3200400" cy="777240"/>
          </a:xfrm>
          <a:prstGeom prst="rect">
            <a:avLst/>
          </a:prstGeom>
          <a:noFill/>
          <a:ln/>
        </p:spPr>
        <p:txBody>
          <a:bodyPr wrap="square" rtlCol="0" anchor="ctr"/>
          <a:lstStyle/>
          <a:p>
            <a:r>
              <a:rPr lang="en-IN" sz="1000" dirty="0">
                <a:solidFill>
                  <a:schemeClr val="bg1">
                    <a:lumMod val="50000"/>
                  </a:schemeClr>
                </a:solidFill>
              </a:rPr>
              <a:t>Weekly trends show how hotel performance changes each week.</a:t>
            </a:r>
            <a:endParaRPr lang="en-US" sz="980" dirty="0">
              <a:solidFill>
                <a:schemeClr val="bg1">
                  <a:lumMod val="50000"/>
                </a:schemeClr>
              </a:solidFill>
            </a:endParaRPr>
          </a:p>
        </p:txBody>
      </p:sp>
      <p:sp>
        <p:nvSpPr>
          <p:cNvPr id="44" name="Shape 42"/>
          <p:cNvSpPr/>
          <p:nvPr/>
        </p:nvSpPr>
        <p:spPr>
          <a:xfrm>
            <a:off x="8138160" y="4206240"/>
            <a:ext cx="3611880" cy="1417320"/>
          </a:xfrm>
          <a:prstGeom prst="roundRect">
            <a:avLst>
              <a:gd name="adj" fmla="val 3871"/>
            </a:avLst>
          </a:prstGeom>
          <a:solidFill>
            <a:srgbClr val="F5F7FA"/>
          </a:solidFill>
          <a:ln/>
        </p:spPr>
        <p:txBody>
          <a:bodyPr/>
          <a:lstStyle/>
          <a:p>
            <a:endParaRPr lang="en-IN"/>
          </a:p>
        </p:txBody>
      </p:sp>
      <p:sp>
        <p:nvSpPr>
          <p:cNvPr id="45" name="Shape 43"/>
          <p:cNvSpPr/>
          <p:nvPr/>
        </p:nvSpPr>
        <p:spPr>
          <a:xfrm>
            <a:off x="8321040" y="4370832"/>
            <a:ext cx="365760" cy="365760"/>
          </a:xfrm>
          <a:prstGeom prst="ellipse">
            <a:avLst/>
          </a:prstGeom>
          <a:solidFill>
            <a:srgbClr val="142850"/>
          </a:solidFill>
          <a:ln/>
        </p:spPr>
        <p:txBody>
          <a:bodyPr/>
          <a:lstStyle/>
          <a:p>
            <a:endParaRPr lang="en-IN"/>
          </a:p>
        </p:txBody>
      </p:sp>
      <p:sp>
        <p:nvSpPr>
          <p:cNvPr id="46" name="Text 44"/>
          <p:cNvSpPr/>
          <p:nvPr/>
        </p:nvSpPr>
        <p:spPr>
          <a:xfrm>
            <a:off x="8321040" y="4370832"/>
            <a:ext cx="365760" cy="365760"/>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47" name="Text 45"/>
          <p:cNvSpPr/>
          <p:nvPr/>
        </p:nvSpPr>
        <p:spPr>
          <a:xfrm>
            <a:off x="8823960" y="4334256"/>
            <a:ext cx="2743200" cy="365760"/>
          </a:xfrm>
          <a:prstGeom prst="rect">
            <a:avLst/>
          </a:prstGeom>
          <a:noFill/>
          <a:ln/>
        </p:spPr>
        <p:txBody>
          <a:bodyPr wrap="square" rtlCol="0" anchor="ctr"/>
          <a:lstStyle/>
          <a:p>
            <a:r>
              <a:rPr lang="en-IN" sz="1250" b="1" dirty="0">
                <a:solidFill>
                  <a:schemeClr val="tx2"/>
                </a:solidFill>
                <a:latin typeface="Cambria" panose="02040503050406030204" pitchFamily="18" charset="0"/>
                <a:ea typeface="Cambria" panose="02040503050406030204" pitchFamily="18" charset="0"/>
              </a:rPr>
              <a:t>Room Class</a:t>
            </a:r>
            <a:endParaRPr lang="en-US" sz="1250" b="1" dirty="0">
              <a:solidFill>
                <a:schemeClr val="tx2"/>
              </a:solidFill>
              <a:latin typeface="Cambria" panose="02040503050406030204" pitchFamily="18" charset="0"/>
              <a:ea typeface="Cambria" panose="02040503050406030204" pitchFamily="18" charset="0"/>
            </a:endParaRPr>
          </a:p>
        </p:txBody>
      </p:sp>
      <p:sp>
        <p:nvSpPr>
          <p:cNvPr id="48" name="Text 46"/>
          <p:cNvSpPr/>
          <p:nvPr/>
        </p:nvSpPr>
        <p:spPr>
          <a:xfrm>
            <a:off x="8339328" y="4773168"/>
            <a:ext cx="3200400" cy="777240"/>
          </a:xfrm>
          <a:prstGeom prst="rect">
            <a:avLst/>
          </a:prstGeom>
          <a:noFill/>
          <a:ln/>
        </p:spPr>
        <p:txBody>
          <a:bodyPr wrap="square" rtlCol="0" anchor="ctr"/>
          <a:lstStyle/>
          <a:p>
            <a:r>
              <a:rPr lang="en-IN" sz="1000" dirty="0">
                <a:solidFill>
                  <a:schemeClr val="bg1">
                    <a:lumMod val="50000"/>
                  </a:schemeClr>
                </a:solidFill>
              </a:rPr>
              <a:t>Room class analysis shows which room category earns more revenue.</a:t>
            </a:r>
            <a:endParaRPr lang="en-US" sz="980" dirty="0">
              <a:solidFill>
                <a:schemeClr val="bg1">
                  <a:lumMod val="50000"/>
                </a:schemeClr>
              </a:solidFill>
            </a:endParaRPr>
          </a:p>
        </p:txBody>
      </p:sp>
      <p:sp>
        <p:nvSpPr>
          <p:cNvPr id="49" name="Text 47"/>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50" name="Text 48"/>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6C74F4A-DF76-DF51-1D76-4C683ADB3DFD}"/>
              </a:ext>
            </a:extLst>
          </p:cNvPr>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rPr>
              <a:t>What We Observe</a:t>
            </a:r>
            <a:endParaRPr lang="en-US" sz="3000" dirty="0"/>
          </a:p>
        </p:txBody>
      </p:sp>
      <p:sp>
        <p:nvSpPr>
          <p:cNvPr id="5" name="Shape 2">
            <a:extLst>
              <a:ext uri="{FF2B5EF4-FFF2-40B4-BE49-F238E27FC236}">
                <a16:creationId xmlns:a16="http://schemas.microsoft.com/office/drawing/2014/main" id="{4EC280A0-3996-4001-4363-7952976382EA}"/>
              </a:ext>
            </a:extLst>
          </p:cNvPr>
          <p:cNvSpPr/>
          <p:nvPr/>
        </p:nvSpPr>
        <p:spPr>
          <a:xfrm>
            <a:off x="548639" y="1417321"/>
            <a:ext cx="10433491" cy="4227700"/>
          </a:xfrm>
          <a:prstGeom prst="roundRect">
            <a:avLst>
              <a:gd name="adj" fmla="val 1237"/>
            </a:avLst>
          </a:prstGeom>
          <a:solidFill>
            <a:srgbClr val="F5F7FA"/>
          </a:solidFill>
          <a:ln/>
          <a:effectLst>
            <a:outerShdw blurRad="50800" dist="38100" dir="2700000" algn="tl" rotWithShape="0">
              <a:prstClr val="black">
                <a:alpha val="40000"/>
              </a:prstClr>
            </a:outerShdw>
          </a:effectLst>
        </p:spPr>
        <p:txBody>
          <a:bodyPr/>
          <a:lstStyle/>
          <a:p>
            <a:endParaRPr lang="en-IN" dirty="0"/>
          </a:p>
        </p:txBody>
      </p:sp>
      <p:sp>
        <p:nvSpPr>
          <p:cNvPr id="2" name="TextBox 1">
            <a:extLst>
              <a:ext uri="{FF2B5EF4-FFF2-40B4-BE49-F238E27FC236}">
                <a16:creationId xmlns:a16="http://schemas.microsoft.com/office/drawing/2014/main" id="{A055D67C-2988-E84C-2775-DB2DE7DF8ADA}"/>
              </a:ext>
            </a:extLst>
          </p:cNvPr>
          <p:cNvSpPr txBox="1"/>
          <p:nvPr/>
        </p:nvSpPr>
        <p:spPr>
          <a:xfrm>
            <a:off x="774441" y="1651518"/>
            <a:ext cx="9293290" cy="3775329"/>
          </a:xfrm>
          <a:prstGeom prst="rect">
            <a:avLst/>
          </a:prstGeom>
          <a:noFill/>
        </p:spPr>
        <p:txBody>
          <a:bodyPr wrap="square" rtlCol="0">
            <a:spAutoFit/>
          </a:bodyPr>
          <a:lstStyle/>
          <a:p>
            <a:pPr>
              <a:lnSpc>
                <a:spcPct val="250000"/>
              </a:lnSpc>
            </a:pPr>
            <a:r>
              <a:rPr lang="en-US" sz="1400" b="1" dirty="0"/>
              <a:t>1. Occupancy is 58% which is less</a:t>
            </a:r>
          </a:p>
          <a:p>
            <a:pPr>
              <a:lnSpc>
                <a:spcPct val="250000"/>
              </a:lnSpc>
            </a:pPr>
            <a:r>
              <a:rPr lang="en-US" sz="1400" b="1" dirty="0"/>
              <a:t>2. Cancellation is 25% which is more</a:t>
            </a:r>
          </a:p>
          <a:p>
            <a:pPr>
              <a:lnSpc>
                <a:spcPct val="250000"/>
              </a:lnSpc>
            </a:pPr>
            <a:r>
              <a:rPr lang="en-US" sz="1400" b="1" dirty="0"/>
              <a:t>3. Revenue is dropping every alternate week</a:t>
            </a:r>
          </a:p>
          <a:p>
            <a:pPr>
              <a:lnSpc>
                <a:spcPct val="250000"/>
              </a:lnSpc>
            </a:pPr>
            <a:r>
              <a:rPr lang="en-US" sz="1400" b="1" dirty="0"/>
              <a:t>4. </a:t>
            </a:r>
            <a:r>
              <a:rPr lang="en-US" sz="1400" b="1" dirty="0" err="1"/>
              <a:t>Atliq</a:t>
            </a:r>
            <a:r>
              <a:rPr lang="en-US" sz="1400" b="1" dirty="0"/>
              <a:t> is the lowest (Too low)</a:t>
            </a:r>
          </a:p>
          <a:p>
            <a:pPr>
              <a:lnSpc>
                <a:spcPct val="250000"/>
              </a:lnSpc>
            </a:pPr>
            <a:r>
              <a:rPr lang="en-US" sz="1400" b="1" dirty="0"/>
              <a:t>5. Average rating 3.6</a:t>
            </a:r>
          </a:p>
          <a:p>
            <a:pPr>
              <a:lnSpc>
                <a:spcPct val="250000"/>
              </a:lnSpc>
            </a:pPr>
            <a:r>
              <a:rPr lang="en-US" sz="1400" b="1" dirty="0"/>
              <a:t>6. </a:t>
            </a:r>
            <a:r>
              <a:rPr lang="en-US" sz="1400" b="1" dirty="0" err="1"/>
              <a:t>Atliq</a:t>
            </a:r>
            <a:r>
              <a:rPr lang="en-US" sz="1400" b="1" dirty="0"/>
              <a:t> Exotica &amp; </a:t>
            </a:r>
            <a:r>
              <a:rPr lang="en-US" sz="1400" b="1" dirty="0" err="1"/>
              <a:t>Atliq</a:t>
            </a:r>
            <a:r>
              <a:rPr lang="en-US" sz="1400" b="1" dirty="0"/>
              <a:t> Palace are top 2 contributors in *cancellation* . </a:t>
            </a:r>
            <a:r>
              <a:rPr lang="en-US" sz="1400" b="1" dirty="0" err="1"/>
              <a:t>Atliq</a:t>
            </a:r>
            <a:r>
              <a:rPr lang="en-US" sz="1400" b="1" dirty="0"/>
              <a:t> Exotica from Mumbai is 12% is the contributor</a:t>
            </a:r>
          </a:p>
          <a:p>
            <a:pPr>
              <a:lnSpc>
                <a:spcPct val="250000"/>
              </a:lnSpc>
            </a:pPr>
            <a:r>
              <a:rPr lang="en-US" sz="1400" b="1" dirty="0"/>
              <a:t>7. </a:t>
            </a:r>
            <a:r>
              <a:rPr lang="en-US" sz="1400" b="1" dirty="0" err="1"/>
              <a:t>Atliq</a:t>
            </a:r>
            <a:r>
              <a:rPr lang="en-US" sz="1400" b="1" dirty="0"/>
              <a:t> Season, Mum is the *least average rating* with 2.3, Followed by Exotica, </a:t>
            </a:r>
            <a:r>
              <a:rPr lang="en-US" sz="1400" b="1" dirty="0" err="1"/>
              <a:t>Hyd</a:t>
            </a:r>
            <a:r>
              <a:rPr lang="en-US" sz="1400" b="1" dirty="0"/>
              <a:t> with 2.3</a:t>
            </a:r>
            <a:endParaRPr lang="en-IN" sz="1400" b="1" dirty="0"/>
          </a:p>
        </p:txBody>
      </p:sp>
      <p:sp>
        <p:nvSpPr>
          <p:cNvPr id="4" name="TextBox 3">
            <a:extLst>
              <a:ext uri="{FF2B5EF4-FFF2-40B4-BE49-F238E27FC236}">
                <a16:creationId xmlns:a16="http://schemas.microsoft.com/office/drawing/2014/main" id="{2AB3DAE7-2E3A-8AC1-1A8F-CC83C1E6ED11}"/>
              </a:ext>
            </a:extLst>
          </p:cNvPr>
          <p:cNvSpPr txBox="1"/>
          <p:nvPr/>
        </p:nvSpPr>
        <p:spPr>
          <a:xfrm>
            <a:off x="579120" y="920218"/>
            <a:ext cx="2313992" cy="292388"/>
          </a:xfrm>
          <a:prstGeom prst="rect">
            <a:avLst/>
          </a:prstGeom>
          <a:noFill/>
        </p:spPr>
        <p:txBody>
          <a:bodyPr wrap="square" rtlCol="0">
            <a:spAutoFit/>
          </a:bodyPr>
          <a:lstStyle/>
          <a:p>
            <a:r>
              <a:rPr lang="en-IN" sz="1300" i="1" dirty="0">
                <a:solidFill>
                  <a:schemeClr val="accent5">
                    <a:lumMod val="75000"/>
                  </a:schemeClr>
                </a:solidFill>
              </a:rPr>
              <a:t>What we found from the data</a:t>
            </a:r>
          </a:p>
        </p:txBody>
      </p:sp>
      <p:sp>
        <p:nvSpPr>
          <p:cNvPr id="8" name="Shape 0">
            <a:extLst>
              <a:ext uri="{FF2B5EF4-FFF2-40B4-BE49-F238E27FC236}">
                <a16:creationId xmlns:a16="http://schemas.microsoft.com/office/drawing/2014/main" id="{8DB1B95A-D883-EC0F-AF06-3D5EA243E7F4}"/>
              </a:ext>
            </a:extLst>
          </p:cNvPr>
          <p:cNvSpPr/>
          <p:nvPr/>
        </p:nvSpPr>
        <p:spPr>
          <a:xfrm>
            <a:off x="9843135" y="-605276"/>
            <a:ext cx="3840480" cy="3840480"/>
          </a:xfrm>
          <a:prstGeom prst="ellipse">
            <a:avLst/>
          </a:prstGeom>
          <a:solidFill>
            <a:srgbClr val="0E7C86">
              <a:alpha val="22000"/>
            </a:srgbClr>
          </a:solidFill>
          <a:ln/>
        </p:spPr>
        <p:txBody>
          <a:bodyPr/>
          <a:lstStyle/>
          <a:p>
            <a:endParaRPr lang="en-IN"/>
          </a:p>
        </p:txBody>
      </p:sp>
      <p:sp>
        <p:nvSpPr>
          <p:cNvPr id="10" name="Shape 1">
            <a:extLst>
              <a:ext uri="{FF2B5EF4-FFF2-40B4-BE49-F238E27FC236}">
                <a16:creationId xmlns:a16="http://schemas.microsoft.com/office/drawing/2014/main" id="{C6EE1A82-663F-6075-8476-288C1074C395}"/>
              </a:ext>
            </a:extLst>
          </p:cNvPr>
          <p:cNvSpPr/>
          <p:nvPr/>
        </p:nvSpPr>
        <p:spPr>
          <a:xfrm>
            <a:off x="11207932" y="4273421"/>
            <a:ext cx="2743200" cy="2743200"/>
          </a:xfrm>
          <a:prstGeom prst="ellipse">
            <a:avLst/>
          </a:prstGeom>
          <a:solidFill>
            <a:srgbClr val="E8871E">
              <a:alpha val="20000"/>
            </a:srgbClr>
          </a:solidFill>
          <a:ln/>
        </p:spPr>
        <p:txBody>
          <a:bodyPr/>
          <a:lstStyle/>
          <a:p>
            <a:endParaRPr lang="en-IN" dirty="0"/>
          </a:p>
        </p:txBody>
      </p:sp>
      <p:sp>
        <p:nvSpPr>
          <p:cNvPr id="12" name="Text 32">
            <a:extLst>
              <a:ext uri="{FF2B5EF4-FFF2-40B4-BE49-F238E27FC236}">
                <a16:creationId xmlns:a16="http://schemas.microsoft.com/office/drawing/2014/main" id="{16D24944-41B6-C361-AD70-FB7AC34719BE}"/>
              </a:ext>
            </a:extLst>
          </p:cNvPr>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Tree>
    <p:extLst>
      <p:ext uri="{BB962C8B-B14F-4D97-AF65-F5344CB8AC3E}">
        <p14:creationId xmlns:p14="http://schemas.microsoft.com/office/powerpoint/2010/main" val="3568653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10CD3F-8518-FEA1-4CFB-CFC5E3E797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B5B01C-7D3C-65CD-AAEF-B3085E8A8EC3}"/>
              </a:ext>
            </a:extLst>
          </p:cNvPr>
          <p:cNvSpPr/>
          <p:nvPr/>
        </p:nvSpPr>
        <p:spPr>
          <a:xfrm>
            <a:off x="548640" y="38404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rPr>
              <a:t>CHALLENGES WE FACE</a:t>
            </a:r>
            <a:endParaRPr lang="en-US" sz="3000" dirty="0"/>
          </a:p>
        </p:txBody>
      </p:sp>
      <p:sp>
        <p:nvSpPr>
          <p:cNvPr id="3" name="Text 1">
            <a:extLst>
              <a:ext uri="{FF2B5EF4-FFF2-40B4-BE49-F238E27FC236}">
                <a16:creationId xmlns:a16="http://schemas.microsoft.com/office/drawing/2014/main" id="{CF3E5BCA-ADD6-C90C-901E-C1DD8CAEB69A}"/>
              </a:ext>
            </a:extLst>
          </p:cNvPr>
          <p:cNvSpPr/>
          <p:nvPr/>
        </p:nvSpPr>
        <p:spPr>
          <a:xfrm>
            <a:off x="594360" y="876611"/>
            <a:ext cx="11064240" cy="320040"/>
          </a:xfrm>
          <a:prstGeom prst="rect">
            <a:avLst/>
          </a:prstGeom>
          <a:noFill/>
          <a:ln/>
        </p:spPr>
        <p:txBody>
          <a:bodyPr wrap="square" rtlCol="0" anchor="ctr"/>
          <a:lstStyle/>
          <a:p>
            <a:r>
              <a:rPr lang="en-IN" sz="1300" i="1" dirty="0">
                <a:solidFill>
                  <a:schemeClr val="accent5">
                    <a:lumMod val="75000"/>
                  </a:schemeClr>
                </a:solidFill>
              </a:rPr>
              <a:t>Main challenges during our project</a:t>
            </a:r>
            <a:endParaRPr lang="en-US" sz="1300" i="1" dirty="0">
              <a:solidFill>
                <a:schemeClr val="accent5">
                  <a:lumMod val="75000"/>
                </a:schemeClr>
              </a:solidFill>
            </a:endParaRPr>
          </a:p>
        </p:txBody>
      </p:sp>
      <p:sp>
        <p:nvSpPr>
          <p:cNvPr id="4" name="Shape 2">
            <a:extLst>
              <a:ext uri="{FF2B5EF4-FFF2-40B4-BE49-F238E27FC236}">
                <a16:creationId xmlns:a16="http://schemas.microsoft.com/office/drawing/2014/main" id="{A06F4B83-E79D-681C-4448-D68E5162F095}"/>
              </a:ext>
            </a:extLst>
          </p:cNvPr>
          <p:cNvSpPr/>
          <p:nvPr/>
        </p:nvSpPr>
        <p:spPr>
          <a:xfrm>
            <a:off x="548640" y="1508760"/>
            <a:ext cx="3520440" cy="1965960"/>
          </a:xfrm>
          <a:prstGeom prst="roundRect">
            <a:avLst>
              <a:gd name="adj" fmla="val 3256"/>
            </a:avLst>
          </a:prstGeom>
          <a:solidFill>
            <a:srgbClr val="E3E6ED"/>
          </a:solidFill>
          <a:ln/>
          <a:effectLst>
            <a:outerShdw blurRad="50800" dist="38100" dir="2700000" algn="tl" rotWithShape="0">
              <a:prstClr val="black">
                <a:alpha val="40000"/>
              </a:prstClr>
            </a:outerShdw>
          </a:effectLst>
        </p:spPr>
        <p:txBody>
          <a:bodyPr/>
          <a:lstStyle/>
          <a:p>
            <a:endParaRPr lang="en-IN"/>
          </a:p>
        </p:txBody>
      </p:sp>
      <p:sp>
        <p:nvSpPr>
          <p:cNvPr id="5" name="Shape 3">
            <a:extLst>
              <a:ext uri="{FF2B5EF4-FFF2-40B4-BE49-F238E27FC236}">
                <a16:creationId xmlns:a16="http://schemas.microsoft.com/office/drawing/2014/main" id="{147E084F-939A-2E24-37F1-A1E5F515F08C}"/>
              </a:ext>
            </a:extLst>
          </p:cNvPr>
          <p:cNvSpPr/>
          <p:nvPr/>
        </p:nvSpPr>
        <p:spPr>
          <a:xfrm>
            <a:off x="777240" y="1737360"/>
            <a:ext cx="457200" cy="457200"/>
          </a:xfrm>
          <a:prstGeom prst="ellipse">
            <a:avLst/>
          </a:prstGeom>
          <a:solidFill>
            <a:srgbClr val="0E7C86"/>
          </a:solidFill>
          <a:ln/>
        </p:spPr>
        <p:txBody>
          <a:bodyPr/>
          <a:lstStyle/>
          <a:p>
            <a:endParaRPr lang="en-IN"/>
          </a:p>
        </p:txBody>
      </p:sp>
      <p:sp>
        <p:nvSpPr>
          <p:cNvPr id="6" name="Text 4">
            <a:extLst>
              <a:ext uri="{FF2B5EF4-FFF2-40B4-BE49-F238E27FC236}">
                <a16:creationId xmlns:a16="http://schemas.microsoft.com/office/drawing/2014/main" id="{33C20468-F8AC-697D-6576-34306122AE6B}"/>
              </a:ext>
            </a:extLst>
          </p:cNvPr>
          <p:cNvSpPr/>
          <p:nvPr/>
        </p:nvSpPr>
        <p:spPr>
          <a:xfrm>
            <a:off x="77724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a:extLst>
              <a:ext uri="{FF2B5EF4-FFF2-40B4-BE49-F238E27FC236}">
                <a16:creationId xmlns:a16="http://schemas.microsoft.com/office/drawing/2014/main" id="{7B454ACF-CDFE-1609-A735-FB41D86464F3}"/>
              </a:ext>
            </a:extLst>
          </p:cNvPr>
          <p:cNvSpPr/>
          <p:nvPr/>
        </p:nvSpPr>
        <p:spPr>
          <a:xfrm>
            <a:off x="1371600" y="1810512"/>
            <a:ext cx="3063240" cy="320040"/>
          </a:xfrm>
          <a:prstGeom prst="rect">
            <a:avLst/>
          </a:prstGeom>
          <a:noFill/>
          <a:ln/>
        </p:spPr>
        <p:txBody>
          <a:bodyPr wrap="square" rtlCol="0" anchor="ctr"/>
          <a:lstStyle/>
          <a:p>
            <a:r>
              <a:rPr lang="en-IN" sz="1400" b="1" dirty="0">
                <a:solidFill>
                  <a:schemeClr val="tx2">
                    <a:lumMod val="50000"/>
                  </a:schemeClr>
                </a:solidFill>
                <a:latin typeface="Cambria" panose="02040503050406030204" pitchFamily="18" charset="0"/>
                <a:ea typeface="Cambria" panose="02040503050406030204" pitchFamily="18" charset="0"/>
              </a:rPr>
              <a:t>Lack of Communication</a:t>
            </a:r>
            <a:endParaRPr lang="en-US" sz="1400" b="1" dirty="0">
              <a:solidFill>
                <a:schemeClr val="tx2">
                  <a:lumMod val="50000"/>
                </a:schemeClr>
              </a:solidFill>
              <a:latin typeface="Cambria" panose="02040503050406030204" pitchFamily="18" charset="0"/>
              <a:ea typeface="Cambria" panose="02040503050406030204" pitchFamily="18" charset="0"/>
            </a:endParaRPr>
          </a:p>
        </p:txBody>
      </p:sp>
      <p:sp>
        <p:nvSpPr>
          <p:cNvPr id="8" name="Text 6">
            <a:extLst>
              <a:ext uri="{FF2B5EF4-FFF2-40B4-BE49-F238E27FC236}">
                <a16:creationId xmlns:a16="http://schemas.microsoft.com/office/drawing/2014/main" id="{8B152860-29B2-2344-DDC7-9EF3CC622E6D}"/>
              </a:ext>
            </a:extLst>
          </p:cNvPr>
          <p:cNvSpPr/>
          <p:nvPr/>
        </p:nvSpPr>
        <p:spPr>
          <a:xfrm>
            <a:off x="777240" y="2404872"/>
            <a:ext cx="3063240" cy="731520"/>
          </a:xfrm>
          <a:prstGeom prst="rect">
            <a:avLst/>
          </a:prstGeom>
          <a:noFill/>
          <a:ln/>
        </p:spPr>
        <p:txBody>
          <a:bodyPr wrap="square" rtlCol="0" anchor="ctr"/>
          <a:lstStyle/>
          <a:p>
            <a:r>
              <a:rPr lang="en-IN" sz="1100" dirty="0">
                <a:solidFill>
                  <a:schemeClr val="tx2">
                    <a:lumMod val="75000"/>
                  </a:schemeClr>
                </a:solidFill>
              </a:rPr>
              <a:t>In the beginning, there was some communication gap in our team.</a:t>
            </a:r>
            <a:br>
              <a:rPr lang="en-IN" sz="1100" dirty="0">
                <a:solidFill>
                  <a:schemeClr val="tx2">
                    <a:lumMod val="75000"/>
                  </a:schemeClr>
                </a:solidFill>
              </a:rPr>
            </a:br>
            <a:r>
              <a:rPr lang="en-IN" sz="1100" dirty="0">
                <a:solidFill>
                  <a:schemeClr val="tx2">
                    <a:lumMod val="75000"/>
                  </a:schemeClr>
                </a:solidFill>
              </a:rPr>
              <a:t>Later, we discussed things properly and worked together.</a:t>
            </a:r>
            <a:endParaRPr lang="en-US" sz="1100" dirty="0">
              <a:solidFill>
                <a:schemeClr val="tx2">
                  <a:lumMod val="75000"/>
                </a:schemeClr>
              </a:solidFill>
            </a:endParaRPr>
          </a:p>
        </p:txBody>
      </p:sp>
      <p:sp>
        <p:nvSpPr>
          <p:cNvPr id="9" name="Shape 7">
            <a:extLst>
              <a:ext uri="{FF2B5EF4-FFF2-40B4-BE49-F238E27FC236}">
                <a16:creationId xmlns:a16="http://schemas.microsoft.com/office/drawing/2014/main" id="{D89127BA-E793-CC6C-41FC-18FEDB34D811}"/>
              </a:ext>
            </a:extLst>
          </p:cNvPr>
          <p:cNvSpPr/>
          <p:nvPr/>
        </p:nvSpPr>
        <p:spPr>
          <a:xfrm>
            <a:off x="4343400" y="1508760"/>
            <a:ext cx="3520440" cy="1965960"/>
          </a:xfrm>
          <a:prstGeom prst="roundRect">
            <a:avLst>
              <a:gd name="adj" fmla="val 3256"/>
            </a:avLst>
          </a:prstGeom>
          <a:solidFill>
            <a:schemeClr val="accent4">
              <a:lumMod val="20000"/>
              <a:lumOff val="80000"/>
            </a:schemeClr>
          </a:solidFill>
          <a:ln/>
          <a:effectLst>
            <a:outerShdw blurRad="50800" dist="38100" dir="2700000" algn="tl" rotWithShape="0">
              <a:prstClr val="black">
                <a:alpha val="40000"/>
              </a:prstClr>
            </a:outerShdw>
          </a:effectLst>
        </p:spPr>
        <p:txBody>
          <a:bodyPr/>
          <a:lstStyle/>
          <a:p>
            <a:endParaRPr lang="en-IN"/>
          </a:p>
        </p:txBody>
      </p:sp>
      <p:sp>
        <p:nvSpPr>
          <p:cNvPr id="10" name="Shape 8">
            <a:extLst>
              <a:ext uri="{FF2B5EF4-FFF2-40B4-BE49-F238E27FC236}">
                <a16:creationId xmlns:a16="http://schemas.microsoft.com/office/drawing/2014/main" id="{5EA76E5D-49BF-2293-A503-73B70AF0F0C0}"/>
              </a:ext>
            </a:extLst>
          </p:cNvPr>
          <p:cNvSpPr/>
          <p:nvPr/>
        </p:nvSpPr>
        <p:spPr>
          <a:xfrm>
            <a:off x="4572000" y="1737360"/>
            <a:ext cx="457200" cy="457200"/>
          </a:xfrm>
          <a:prstGeom prst="ellipse">
            <a:avLst/>
          </a:prstGeom>
          <a:solidFill>
            <a:srgbClr val="E8871E"/>
          </a:solidFill>
          <a:ln/>
        </p:spPr>
        <p:txBody>
          <a:bodyPr/>
          <a:lstStyle/>
          <a:p>
            <a:endParaRPr lang="en-IN"/>
          </a:p>
        </p:txBody>
      </p:sp>
      <p:sp>
        <p:nvSpPr>
          <p:cNvPr id="11" name="Text 9">
            <a:extLst>
              <a:ext uri="{FF2B5EF4-FFF2-40B4-BE49-F238E27FC236}">
                <a16:creationId xmlns:a16="http://schemas.microsoft.com/office/drawing/2014/main" id="{9C5F2350-ABD2-9615-637D-FEEB3C4E8468}"/>
              </a:ext>
            </a:extLst>
          </p:cNvPr>
          <p:cNvSpPr/>
          <p:nvPr/>
        </p:nvSpPr>
        <p:spPr>
          <a:xfrm>
            <a:off x="457200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a:extLst>
              <a:ext uri="{FF2B5EF4-FFF2-40B4-BE49-F238E27FC236}">
                <a16:creationId xmlns:a16="http://schemas.microsoft.com/office/drawing/2014/main" id="{B70898C6-F5E9-7775-F408-97D876EF9ACD}"/>
              </a:ext>
            </a:extLst>
          </p:cNvPr>
          <p:cNvSpPr/>
          <p:nvPr/>
        </p:nvSpPr>
        <p:spPr>
          <a:xfrm>
            <a:off x="5166360" y="1792224"/>
            <a:ext cx="3063240" cy="320040"/>
          </a:xfrm>
          <a:prstGeom prst="rect">
            <a:avLst/>
          </a:prstGeom>
          <a:noFill/>
          <a:ln/>
        </p:spPr>
        <p:txBody>
          <a:bodyPr wrap="square" rtlCol="0" anchor="ctr"/>
          <a:lstStyle/>
          <a:p>
            <a:r>
              <a:rPr lang="en-IN" sz="1400" b="1" dirty="0">
                <a:solidFill>
                  <a:schemeClr val="tx2">
                    <a:lumMod val="75000"/>
                  </a:schemeClr>
                </a:solidFill>
                <a:latin typeface="Cambria" panose="02040503050406030204" pitchFamily="18" charset="0"/>
                <a:ea typeface="Cambria" panose="02040503050406030204" pitchFamily="18" charset="0"/>
              </a:rPr>
              <a:t>Unclear Goals</a:t>
            </a:r>
            <a:endParaRPr lang="en-US" sz="1400" b="1" dirty="0">
              <a:solidFill>
                <a:schemeClr val="tx2">
                  <a:lumMod val="75000"/>
                </a:schemeClr>
              </a:solidFill>
              <a:latin typeface="Cambria" panose="02040503050406030204" pitchFamily="18" charset="0"/>
              <a:ea typeface="Cambria" panose="02040503050406030204" pitchFamily="18" charset="0"/>
            </a:endParaRPr>
          </a:p>
        </p:txBody>
      </p:sp>
      <p:sp>
        <p:nvSpPr>
          <p:cNvPr id="13" name="Text 11">
            <a:extLst>
              <a:ext uri="{FF2B5EF4-FFF2-40B4-BE49-F238E27FC236}">
                <a16:creationId xmlns:a16="http://schemas.microsoft.com/office/drawing/2014/main" id="{9EAE6629-4784-55B5-A4BA-611862F0A599}"/>
              </a:ext>
            </a:extLst>
          </p:cNvPr>
          <p:cNvSpPr/>
          <p:nvPr/>
        </p:nvSpPr>
        <p:spPr>
          <a:xfrm>
            <a:off x="4572000" y="2406738"/>
            <a:ext cx="3063240" cy="731520"/>
          </a:xfrm>
          <a:prstGeom prst="rect">
            <a:avLst/>
          </a:prstGeom>
          <a:noFill/>
          <a:ln/>
        </p:spPr>
        <p:txBody>
          <a:bodyPr wrap="square" rtlCol="0" anchor="ctr"/>
          <a:lstStyle/>
          <a:p>
            <a:r>
              <a:rPr lang="en-IN" sz="1100" dirty="0">
                <a:solidFill>
                  <a:schemeClr val="tx2">
                    <a:lumMod val="75000"/>
                  </a:schemeClr>
                </a:solidFill>
              </a:rPr>
              <a:t>At first, we were not fully clear about what we needed to do.</a:t>
            </a:r>
            <a:br>
              <a:rPr lang="en-IN" sz="1100" dirty="0">
                <a:solidFill>
                  <a:schemeClr val="tx2">
                    <a:lumMod val="75000"/>
                  </a:schemeClr>
                </a:solidFill>
              </a:rPr>
            </a:br>
            <a:r>
              <a:rPr lang="en-IN" sz="1100" dirty="0">
                <a:solidFill>
                  <a:schemeClr val="tx2">
                    <a:lumMod val="75000"/>
                  </a:schemeClr>
                </a:solidFill>
              </a:rPr>
              <a:t>After discussing the requirements, our goals became clear.</a:t>
            </a:r>
            <a:endParaRPr lang="en-US" sz="1100" dirty="0">
              <a:solidFill>
                <a:schemeClr val="tx2">
                  <a:lumMod val="75000"/>
                </a:schemeClr>
              </a:solidFill>
            </a:endParaRPr>
          </a:p>
        </p:txBody>
      </p:sp>
      <p:sp>
        <p:nvSpPr>
          <p:cNvPr id="14" name="Shape 12">
            <a:extLst>
              <a:ext uri="{FF2B5EF4-FFF2-40B4-BE49-F238E27FC236}">
                <a16:creationId xmlns:a16="http://schemas.microsoft.com/office/drawing/2014/main" id="{A831A83C-5997-28D5-8E47-EE1BD1594807}"/>
              </a:ext>
            </a:extLst>
          </p:cNvPr>
          <p:cNvSpPr/>
          <p:nvPr/>
        </p:nvSpPr>
        <p:spPr>
          <a:xfrm>
            <a:off x="8138160" y="1508760"/>
            <a:ext cx="3520440" cy="1965960"/>
          </a:xfrm>
          <a:prstGeom prst="roundRect">
            <a:avLst>
              <a:gd name="adj" fmla="val 3256"/>
            </a:avLst>
          </a:prstGeom>
          <a:solidFill>
            <a:schemeClr val="accent6">
              <a:lumMod val="20000"/>
              <a:lumOff val="80000"/>
            </a:schemeClr>
          </a:solidFill>
          <a:ln/>
          <a:effectLst>
            <a:outerShdw blurRad="50800" dist="38100" dir="2700000" algn="tl" rotWithShape="0">
              <a:prstClr val="black">
                <a:alpha val="40000"/>
              </a:prstClr>
            </a:outerShdw>
          </a:effectLst>
        </p:spPr>
        <p:txBody>
          <a:bodyPr/>
          <a:lstStyle/>
          <a:p>
            <a:endParaRPr lang="en-IN"/>
          </a:p>
        </p:txBody>
      </p:sp>
      <p:sp>
        <p:nvSpPr>
          <p:cNvPr id="15" name="Shape 13">
            <a:extLst>
              <a:ext uri="{FF2B5EF4-FFF2-40B4-BE49-F238E27FC236}">
                <a16:creationId xmlns:a16="http://schemas.microsoft.com/office/drawing/2014/main" id="{C10F2F44-6C21-ADFA-73B4-B6BA02B3FE20}"/>
              </a:ext>
            </a:extLst>
          </p:cNvPr>
          <p:cNvSpPr/>
          <p:nvPr/>
        </p:nvSpPr>
        <p:spPr>
          <a:xfrm>
            <a:off x="8366760" y="1737360"/>
            <a:ext cx="457200" cy="457200"/>
          </a:xfrm>
          <a:prstGeom prst="ellipse">
            <a:avLst/>
          </a:prstGeom>
          <a:solidFill>
            <a:srgbClr val="0E7C86"/>
          </a:solidFill>
          <a:ln/>
        </p:spPr>
        <p:txBody>
          <a:bodyPr/>
          <a:lstStyle/>
          <a:p>
            <a:endParaRPr lang="en-IN"/>
          </a:p>
        </p:txBody>
      </p:sp>
      <p:sp>
        <p:nvSpPr>
          <p:cNvPr id="16" name="Text 14">
            <a:extLst>
              <a:ext uri="{FF2B5EF4-FFF2-40B4-BE49-F238E27FC236}">
                <a16:creationId xmlns:a16="http://schemas.microsoft.com/office/drawing/2014/main" id="{6B124257-9C6B-931B-E280-4448C3918DB5}"/>
              </a:ext>
            </a:extLst>
          </p:cNvPr>
          <p:cNvSpPr/>
          <p:nvPr/>
        </p:nvSpPr>
        <p:spPr>
          <a:xfrm>
            <a:off x="8366760" y="17373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a:extLst>
              <a:ext uri="{FF2B5EF4-FFF2-40B4-BE49-F238E27FC236}">
                <a16:creationId xmlns:a16="http://schemas.microsoft.com/office/drawing/2014/main" id="{57013604-5883-FF16-804F-61291D96FC1F}"/>
              </a:ext>
            </a:extLst>
          </p:cNvPr>
          <p:cNvSpPr/>
          <p:nvPr/>
        </p:nvSpPr>
        <p:spPr>
          <a:xfrm>
            <a:off x="8961120" y="1810512"/>
            <a:ext cx="3063240" cy="320040"/>
          </a:xfrm>
          <a:prstGeom prst="rect">
            <a:avLst/>
          </a:prstGeom>
          <a:noFill/>
          <a:ln/>
        </p:spPr>
        <p:txBody>
          <a:bodyPr wrap="square" rtlCol="0" anchor="ctr"/>
          <a:lstStyle/>
          <a:p>
            <a:r>
              <a:rPr lang="en-IN" sz="1400" b="1" dirty="0">
                <a:solidFill>
                  <a:schemeClr val="tx2">
                    <a:lumMod val="75000"/>
                  </a:schemeClr>
                </a:solidFill>
                <a:latin typeface="Cambria" panose="02040503050406030204" pitchFamily="18" charset="0"/>
                <a:ea typeface="Cambria" panose="02040503050406030204" pitchFamily="18" charset="0"/>
              </a:rPr>
              <a:t>Responsibility Distribution</a:t>
            </a:r>
            <a:endParaRPr lang="en-US" sz="1400" b="1" dirty="0">
              <a:solidFill>
                <a:schemeClr val="tx2">
                  <a:lumMod val="75000"/>
                </a:schemeClr>
              </a:solidFill>
              <a:latin typeface="Cambria" panose="02040503050406030204" pitchFamily="18" charset="0"/>
              <a:ea typeface="Cambria" panose="02040503050406030204" pitchFamily="18" charset="0"/>
            </a:endParaRPr>
          </a:p>
        </p:txBody>
      </p:sp>
      <p:sp>
        <p:nvSpPr>
          <p:cNvPr id="18" name="Text 16">
            <a:extLst>
              <a:ext uri="{FF2B5EF4-FFF2-40B4-BE49-F238E27FC236}">
                <a16:creationId xmlns:a16="http://schemas.microsoft.com/office/drawing/2014/main" id="{1AC5FF37-101A-A974-E71D-B2EA46F99E13}"/>
              </a:ext>
            </a:extLst>
          </p:cNvPr>
          <p:cNvSpPr/>
          <p:nvPr/>
        </p:nvSpPr>
        <p:spPr>
          <a:xfrm>
            <a:off x="8366760" y="2423160"/>
            <a:ext cx="3063240" cy="731520"/>
          </a:xfrm>
          <a:prstGeom prst="rect">
            <a:avLst/>
          </a:prstGeom>
          <a:noFill/>
          <a:ln/>
        </p:spPr>
        <p:txBody>
          <a:bodyPr wrap="square" rtlCol="0" anchor="ctr"/>
          <a:lstStyle/>
          <a:p>
            <a:r>
              <a:rPr lang="en-IN" sz="1100" dirty="0">
                <a:solidFill>
                  <a:schemeClr val="tx2">
                    <a:lumMod val="75000"/>
                  </a:schemeClr>
                </a:solidFill>
              </a:rPr>
              <a:t>Dividing the work among team members was a little difficult.</a:t>
            </a:r>
            <a:br>
              <a:rPr lang="en-IN" sz="1100" dirty="0">
                <a:solidFill>
                  <a:schemeClr val="tx2">
                    <a:lumMod val="75000"/>
                  </a:schemeClr>
                </a:solidFill>
              </a:rPr>
            </a:br>
            <a:r>
              <a:rPr lang="en-IN" sz="1100" dirty="0">
                <a:solidFill>
                  <a:schemeClr val="tx2">
                    <a:lumMod val="75000"/>
                  </a:schemeClr>
                </a:solidFill>
              </a:rPr>
              <a:t>We later divided the tasks based on each person's work.</a:t>
            </a:r>
            <a:endParaRPr lang="en-US" sz="1100" dirty="0">
              <a:solidFill>
                <a:schemeClr val="tx2">
                  <a:lumMod val="75000"/>
                </a:schemeClr>
              </a:solidFill>
            </a:endParaRPr>
          </a:p>
        </p:txBody>
      </p:sp>
      <p:sp>
        <p:nvSpPr>
          <p:cNvPr id="19" name="Shape 17">
            <a:extLst>
              <a:ext uri="{FF2B5EF4-FFF2-40B4-BE49-F238E27FC236}">
                <a16:creationId xmlns:a16="http://schemas.microsoft.com/office/drawing/2014/main" id="{79642D65-6AD4-E0FC-2632-52E374ABDC7A}"/>
              </a:ext>
            </a:extLst>
          </p:cNvPr>
          <p:cNvSpPr/>
          <p:nvPr/>
        </p:nvSpPr>
        <p:spPr>
          <a:xfrm>
            <a:off x="548640" y="3730752"/>
            <a:ext cx="3520440" cy="1965960"/>
          </a:xfrm>
          <a:prstGeom prst="roundRect">
            <a:avLst>
              <a:gd name="adj" fmla="val 3256"/>
            </a:avLst>
          </a:prstGeom>
          <a:solidFill>
            <a:srgbClr val="FCE6CC"/>
          </a:solidFill>
          <a:ln/>
          <a:effectLst>
            <a:outerShdw blurRad="50800" dist="38100" dir="2700000" algn="tl" rotWithShape="0">
              <a:prstClr val="black">
                <a:alpha val="40000"/>
              </a:prstClr>
            </a:outerShdw>
          </a:effectLst>
        </p:spPr>
        <p:txBody>
          <a:bodyPr/>
          <a:lstStyle/>
          <a:p>
            <a:endParaRPr lang="en-IN"/>
          </a:p>
        </p:txBody>
      </p:sp>
      <p:sp>
        <p:nvSpPr>
          <p:cNvPr id="20" name="Shape 18">
            <a:extLst>
              <a:ext uri="{FF2B5EF4-FFF2-40B4-BE49-F238E27FC236}">
                <a16:creationId xmlns:a16="http://schemas.microsoft.com/office/drawing/2014/main" id="{E2753FCB-8FE4-C49E-161E-2208774E3890}"/>
              </a:ext>
            </a:extLst>
          </p:cNvPr>
          <p:cNvSpPr/>
          <p:nvPr/>
        </p:nvSpPr>
        <p:spPr>
          <a:xfrm>
            <a:off x="777240" y="3959352"/>
            <a:ext cx="457200" cy="457200"/>
          </a:xfrm>
          <a:prstGeom prst="ellipse">
            <a:avLst/>
          </a:prstGeom>
          <a:solidFill>
            <a:srgbClr val="E8871E"/>
          </a:solidFill>
          <a:ln/>
        </p:spPr>
        <p:txBody>
          <a:bodyPr/>
          <a:lstStyle/>
          <a:p>
            <a:endParaRPr lang="en-IN"/>
          </a:p>
        </p:txBody>
      </p:sp>
      <p:sp>
        <p:nvSpPr>
          <p:cNvPr id="21" name="Text 19">
            <a:extLst>
              <a:ext uri="{FF2B5EF4-FFF2-40B4-BE49-F238E27FC236}">
                <a16:creationId xmlns:a16="http://schemas.microsoft.com/office/drawing/2014/main" id="{58CC5F1E-D010-AEFF-C425-04E4FDCC3813}"/>
              </a:ext>
            </a:extLst>
          </p:cNvPr>
          <p:cNvSpPr/>
          <p:nvPr/>
        </p:nvSpPr>
        <p:spPr>
          <a:xfrm>
            <a:off x="77724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a:extLst>
              <a:ext uri="{FF2B5EF4-FFF2-40B4-BE49-F238E27FC236}">
                <a16:creationId xmlns:a16="http://schemas.microsoft.com/office/drawing/2014/main" id="{D592BEBE-9E09-52E1-B3DA-5FB0A23B90A3}"/>
              </a:ext>
            </a:extLst>
          </p:cNvPr>
          <p:cNvSpPr/>
          <p:nvPr/>
        </p:nvSpPr>
        <p:spPr>
          <a:xfrm>
            <a:off x="1371600" y="4032504"/>
            <a:ext cx="3063240" cy="320040"/>
          </a:xfrm>
          <a:prstGeom prst="rect">
            <a:avLst/>
          </a:prstGeom>
          <a:noFill/>
          <a:ln/>
        </p:spPr>
        <p:txBody>
          <a:bodyPr wrap="square" rtlCol="0" anchor="ctr"/>
          <a:lstStyle/>
          <a:p>
            <a:r>
              <a:rPr lang="en-IN" sz="1400" b="1" dirty="0">
                <a:solidFill>
                  <a:schemeClr val="tx2">
                    <a:lumMod val="75000"/>
                  </a:schemeClr>
                </a:solidFill>
                <a:latin typeface="Cambria" panose="02040503050406030204" pitchFamily="18" charset="0"/>
                <a:ea typeface="Cambria" panose="02040503050406030204" pitchFamily="18" charset="0"/>
              </a:rPr>
              <a:t>Report Accuracy</a:t>
            </a:r>
            <a:endParaRPr lang="en-US" sz="1400" b="1" dirty="0">
              <a:solidFill>
                <a:schemeClr val="tx2">
                  <a:lumMod val="75000"/>
                </a:schemeClr>
              </a:solidFill>
              <a:latin typeface="Cambria" panose="02040503050406030204" pitchFamily="18" charset="0"/>
              <a:ea typeface="Cambria" panose="02040503050406030204" pitchFamily="18" charset="0"/>
            </a:endParaRPr>
          </a:p>
        </p:txBody>
      </p:sp>
      <p:sp>
        <p:nvSpPr>
          <p:cNvPr id="23" name="Text 21">
            <a:extLst>
              <a:ext uri="{FF2B5EF4-FFF2-40B4-BE49-F238E27FC236}">
                <a16:creationId xmlns:a16="http://schemas.microsoft.com/office/drawing/2014/main" id="{480E65B8-FAE1-BEC8-07F6-18A38E94644A}"/>
              </a:ext>
            </a:extLst>
          </p:cNvPr>
          <p:cNvSpPr/>
          <p:nvPr/>
        </p:nvSpPr>
        <p:spPr>
          <a:xfrm>
            <a:off x="777240" y="4672584"/>
            <a:ext cx="3063240" cy="731520"/>
          </a:xfrm>
          <a:prstGeom prst="rect">
            <a:avLst/>
          </a:prstGeom>
          <a:noFill/>
          <a:ln/>
        </p:spPr>
        <p:txBody>
          <a:bodyPr wrap="square" rtlCol="0" anchor="ctr"/>
          <a:lstStyle/>
          <a:p>
            <a:r>
              <a:rPr lang="en-IN" sz="1100" dirty="0">
                <a:solidFill>
                  <a:schemeClr val="tx2">
                    <a:lumMod val="75000"/>
                  </a:schemeClr>
                </a:solidFill>
              </a:rPr>
              <a:t>We had to make sure that all the numbers and KPIs were correct.</a:t>
            </a:r>
            <a:br>
              <a:rPr lang="en-IN" sz="1100" dirty="0">
                <a:solidFill>
                  <a:schemeClr val="tx2">
                    <a:lumMod val="75000"/>
                  </a:schemeClr>
                </a:solidFill>
              </a:rPr>
            </a:br>
            <a:r>
              <a:rPr lang="en-IN" sz="1100" dirty="0">
                <a:solidFill>
                  <a:schemeClr val="tx2">
                    <a:lumMod val="75000"/>
                  </a:schemeClr>
                </a:solidFill>
              </a:rPr>
              <a:t>So, we checked the report results with the original data.</a:t>
            </a:r>
            <a:endParaRPr lang="en-US" sz="1100" dirty="0">
              <a:solidFill>
                <a:schemeClr val="tx2">
                  <a:lumMod val="75000"/>
                </a:schemeClr>
              </a:solidFill>
            </a:endParaRPr>
          </a:p>
        </p:txBody>
      </p:sp>
      <p:sp>
        <p:nvSpPr>
          <p:cNvPr id="24" name="Shape 22">
            <a:extLst>
              <a:ext uri="{FF2B5EF4-FFF2-40B4-BE49-F238E27FC236}">
                <a16:creationId xmlns:a16="http://schemas.microsoft.com/office/drawing/2014/main" id="{097EF3E8-CD20-333F-5B5D-0FD9EA409FF7}"/>
              </a:ext>
            </a:extLst>
          </p:cNvPr>
          <p:cNvSpPr/>
          <p:nvPr/>
        </p:nvSpPr>
        <p:spPr>
          <a:xfrm>
            <a:off x="4343400" y="3730752"/>
            <a:ext cx="3520440" cy="1965960"/>
          </a:xfrm>
          <a:prstGeom prst="roundRect">
            <a:avLst>
              <a:gd name="adj" fmla="val 3256"/>
            </a:avLst>
          </a:prstGeom>
          <a:solidFill>
            <a:srgbClr val="DCEEF0"/>
          </a:solidFill>
          <a:ln/>
          <a:effectLst>
            <a:outerShdw blurRad="50800" dist="38100" dir="2700000" algn="tl" rotWithShape="0">
              <a:prstClr val="black">
                <a:alpha val="40000"/>
              </a:prstClr>
            </a:outerShdw>
          </a:effectLst>
        </p:spPr>
        <p:txBody>
          <a:bodyPr/>
          <a:lstStyle/>
          <a:p>
            <a:endParaRPr lang="en-IN"/>
          </a:p>
        </p:txBody>
      </p:sp>
      <p:sp>
        <p:nvSpPr>
          <p:cNvPr id="25" name="Shape 23">
            <a:extLst>
              <a:ext uri="{FF2B5EF4-FFF2-40B4-BE49-F238E27FC236}">
                <a16:creationId xmlns:a16="http://schemas.microsoft.com/office/drawing/2014/main" id="{F2F109F6-0F5B-A796-B15E-547CC9CA01A4}"/>
              </a:ext>
            </a:extLst>
          </p:cNvPr>
          <p:cNvSpPr/>
          <p:nvPr/>
        </p:nvSpPr>
        <p:spPr>
          <a:xfrm>
            <a:off x="4572000" y="3959352"/>
            <a:ext cx="457200" cy="457200"/>
          </a:xfrm>
          <a:prstGeom prst="ellipse">
            <a:avLst/>
          </a:prstGeom>
          <a:solidFill>
            <a:srgbClr val="0E7C86"/>
          </a:solidFill>
          <a:ln/>
        </p:spPr>
        <p:txBody>
          <a:bodyPr/>
          <a:lstStyle/>
          <a:p>
            <a:endParaRPr lang="en-IN"/>
          </a:p>
        </p:txBody>
      </p:sp>
      <p:sp>
        <p:nvSpPr>
          <p:cNvPr id="26" name="Text 24">
            <a:extLst>
              <a:ext uri="{FF2B5EF4-FFF2-40B4-BE49-F238E27FC236}">
                <a16:creationId xmlns:a16="http://schemas.microsoft.com/office/drawing/2014/main" id="{F75E4F18-DB05-9127-DA93-8B39C3B3782C}"/>
              </a:ext>
            </a:extLst>
          </p:cNvPr>
          <p:cNvSpPr/>
          <p:nvPr/>
        </p:nvSpPr>
        <p:spPr>
          <a:xfrm>
            <a:off x="457200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a:extLst>
              <a:ext uri="{FF2B5EF4-FFF2-40B4-BE49-F238E27FC236}">
                <a16:creationId xmlns:a16="http://schemas.microsoft.com/office/drawing/2014/main" id="{0C79C712-A29C-FD30-0073-FDF5B9B393B1}"/>
              </a:ext>
            </a:extLst>
          </p:cNvPr>
          <p:cNvSpPr/>
          <p:nvPr/>
        </p:nvSpPr>
        <p:spPr>
          <a:xfrm>
            <a:off x="5166360" y="4032504"/>
            <a:ext cx="3063240" cy="320040"/>
          </a:xfrm>
          <a:prstGeom prst="rect">
            <a:avLst/>
          </a:prstGeom>
          <a:noFill/>
          <a:ln/>
        </p:spPr>
        <p:txBody>
          <a:bodyPr wrap="square" rtlCol="0" anchor="ctr"/>
          <a:lstStyle/>
          <a:p>
            <a:r>
              <a:rPr lang="en-IN" sz="1400" b="1" dirty="0">
                <a:solidFill>
                  <a:schemeClr val="tx2">
                    <a:lumMod val="75000"/>
                  </a:schemeClr>
                </a:solidFill>
                <a:latin typeface="Cambria" panose="02040503050406030204" pitchFamily="18" charset="0"/>
                <a:ea typeface="Cambria" panose="02040503050406030204" pitchFamily="18" charset="0"/>
              </a:rPr>
              <a:t>Loading Tables to SQL</a:t>
            </a:r>
            <a:endParaRPr lang="en-US" sz="1400" b="1" dirty="0">
              <a:solidFill>
                <a:schemeClr val="tx2">
                  <a:lumMod val="75000"/>
                </a:schemeClr>
              </a:solidFill>
              <a:latin typeface="Cambria" panose="02040503050406030204" pitchFamily="18" charset="0"/>
              <a:ea typeface="Cambria" panose="02040503050406030204" pitchFamily="18" charset="0"/>
            </a:endParaRPr>
          </a:p>
        </p:txBody>
      </p:sp>
      <p:sp>
        <p:nvSpPr>
          <p:cNvPr id="28" name="Text 26">
            <a:extLst>
              <a:ext uri="{FF2B5EF4-FFF2-40B4-BE49-F238E27FC236}">
                <a16:creationId xmlns:a16="http://schemas.microsoft.com/office/drawing/2014/main" id="{31EBA696-11D7-20DA-D4FC-04546AA3E89A}"/>
              </a:ext>
            </a:extLst>
          </p:cNvPr>
          <p:cNvSpPr/>
          <p:nvPr/>
        </p:nvSpPr>
        <p:spPr>
          <a:xfrm>
            <a:off x="4572000" y="4657468"/>
            <a:ext cx="3063240" cy="731520"/>
          </a:xfrm>
          <a:prstGeom prst="rect">
            <a:avLst/>
          </a:prstGeom>
          <a:noFill/>
          <a:ln/>
        </p:spPr>
        <p:txBody>
          <a:bodyPr wrap="square" rtlCol="0" anchor="ctr"/>
          <a:lstStyle/>
          <a:p>
            <a:r>
              <a:rPr lang="en-IN" sz="1100" dirty="0">
                <a:solidFill>
                  <a:schemeClr val="tx2">
                    <a:lumMod val="75000"/>
                  </a:schemeClr>
                </a:solidFill>
              </a:rPr>
              <a:t>While loading the tables into SQL, we faced some data type issues.</a:t>
            </a:r>
            <a:br>
              <a:rPr lang="en-IN" sz="1100" dirty="0">
                <a:solidFill>
                  <a:schemeClr val="tx2">
                    <a:lumMod val="75000"/>
                  </a:schemeClr>
                </a:solidFill>
              </a:rPr>
            </a:br>
            <a:r>
              <a:rPr lang="en-IN" sz="1100" dirty="0">
                <a:solidFill>
                  <a:schemeClr val="tx2">
                    <a:lumMod val="75000"/>
                  </a:schemeClr>
                </a:solidFill>
              </a:rPr>
              <a:t>We checked and corrected the data types before loading the data.</a:t>
            </a:r>
            <a:endParaRPr lang="en-US" sz="1100" dirty="0">
              <a:solidFill>
                <a:schemeClr val="tx2">
                  <a:lumMod val="75000"/>
                </a:schemeClr>
              </a:solidFill>
            </a:endParaRPr>
          </a:p>
        </p:txBody>
      </p:sp>
      <p:sp>
        <p:nvSpPr>
          <p:cNvPr id="29" name="Shape 27">
            <a:extLst>
              <a:ext uri="{FF2B5EF4-FFF2-40B4-BE49-F238E27FC236}">
                <a16:creationId xmlns:a16="http://schemas.microsoft.com/office/drawing/2014/main" id="{254181C8-05B6-C4C7-32CE-E5D707FD5F95}"/>
              </a:ext>
            </a:extLst>
          </p:cNvPr>
          <p:cNvSpPr/>
          <p:nvPr/>
        </p:nvSpPr>
        <p:spPr>
          <a:xfrm>
            <a:off x="8138160" y="3730752"/>
            <a:ext cx="3520440" cy="1965960"/>
          </a:xfrm>
          <a:prstGeom prst="roundRect">
            <a:avLst>
              <a:gd name="adj" fmla="val 3256"/>
            </a:avLst>
          </a:prstGeom>
          <a:solidFill>
            <a:srgbClr val="FCE6CC"/>
          </a:solidFill>
          <a:ln/>
          <a:effectLst>
            <a:outerShdw blurRad="50800" dist="38100" dir="2700000" algn="tl" rotWithShape="0">
              <a:prstClr val="black">
                <a:alpha val="40000"/>
              </a:prstClr>
            </a:outerShdw>
          </a:effectLst>
        </p:spPr>
        <p:txBody>
          <a:bodyPr/>
          <a:lstStyle/>
          <a:p>
            <a:endParaRPr lang="en-IN"/>
          </a:p>
        </p:txBody>
      </p:sp>
      <p:sp>
        <p:nvSpPr>
          <p:cNvPr id="30" name="Shape 28">
            <a:extLst>
              <a:ext uri="{FF2B5EF4-FFF2-40B4-BE49-F238E27FC236}">
                <a16:creationId xmlns:a16="http://schemas.microsoft.com/office/drawing/2014/main" id="{6A06094F-F453-81A2-503D-1D30C78386A7}"/>
              </a:ext>
            </a:extLst>
          </p:cNvPr>
          <p:cNvSpPr/>
          <p:nvPr/>
        </p:nvSpPr>
        <p:spPr>
          <a:xfrm>
            <a:off x="8366760" y="3959352"/>
            <a:ext cx="457200" cy="457200"/>
          </a:xfrm>
          <a:prstGeom prst="ellipse">
            <a:avLst/>
          </a:prstGeom>
          <a:solidFill>
            <a:srgbClr val="E8871E"/>
          </a:solidFill>
          <a:ln/>
        </p:spPr>
        <p:txBody>
          <a:bodyPr/>
          <a:lstStyle/>
          <a:p>
            <a:endParaRPr lang="en-IN"/>
          </a:p>
        </p:txBody>
      </p:sp>
      <p:sp>
        <p:nvSpPr>
          <p:cNvPr id="31" name="Text 29">
            <a:extLst>
              <a:ext uri="{FF2B5EF4-FFF2-40B4-BE49-F238E27FC236}">
                <a16:creationId xmlns:a16="http://schemas.microsoft.com/office/drawing/2014/main" id="{2D296A1A-1079-8A11-E308-F29674596C26}"/>
              </a:ext>
            </a:extLst>
          </p:cNvPr>
          <p:cNvSpPr/>
          <p:nvPr/>
        </p:nvSpPr>
        <p:spPr>
          <a:xfrm>
            <a:off x="8366760" y="3959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a:extLst>
              <a:ext uri="{FF2B5EF4-FFF2-40B4-BE49-F238E27FC236}">
                <a16:creationId xmlns:a16="http://schemas.microsoft.com/office/drawing/2014/main" id="{BCE027D0-9179-FDEE-C9CB-15BD6D1865EB}"/>
              </a:ext>
            </a:extLst>
          </p:cNvPr>
          <p:cNvSpPr/>
          <p:nvPr/>
        </p:nvSpPr>
        <p:spPr>
          <a:xfrm>
            <a:off x="8961120" y="4032504"/>
            <a:ext cx="3063240" cy="320040"/>
          </a:xfrm>
          <a:prstGeom prst="rect">
            <a:avLst/>
          </a:prstGeom>
          <a:noFill/>
          <a:ln/>
        </p:spPr>
        <p:txBody>
          <a:bodyPr wrap="square" rtlCol="0" anchor="ctr"/>
          <a:lstStyle/>
          <a:p>
            <a:r>
              <a:rPr lang="en-IN" sz="1400" b="1" dirty="0">
                <a:solidFill>
                  <a:schemeClr val="tx2">
                    <a:lumMod val="75000"/>
                  </a:schemeClr>
                </a:solidFill>
                <a:latin typeface="Cambria" panose="02040503050406030204" pitchFamily="18" charset="0"/>
                <a:ea typeface="Cambria" panose="02040503050406030204" pitchFamily="18" charset="0"/>
              </a:rPr>
              <a:t>Choosing the Right Visual</a:t>
            </a:r>
            <a:endParaRPr lang="en-US" sz="1400" b="1" dirty="0">
              <a:solidFill>
                <a:schemeClr val="tx2">
                  <a:lumMod val="75000"/>
                </a:schemeClr>
              </a:solidFill>
              <a:latin typeface="Cambria" panose="02040503050406030204" pitchFamily="18" charset="0"/>
              <a:ea typeface="Cambria" panose="02040503050406030204" pitchFamily="18" charset="0"/>
            </a:endParaRPr>
          </a:p>
        </p:txBody>
      </p:sp>
      <p:sp>
        <p:nvSpPr>
          <p:cNvPr id="33" name="Text 31">
            <a:extLst>
              <a:ext uri="{FF2B5EF4-FFF2-40B4-BE49-F238E27FC236}">
                <a16:creationId xmlns:a16="http://schemas.microsoft.com/office/drawing/2014/main" id="{B4564BF7-D041-0918-99C5-59C570B86268}"/>
              </a:ext>
            </a:extLst>
          </p:cNvPr>
          <p:cNvSpPr/>
          <p:nvPr/>
        </p:nvSpPr>
        <p:spPr>
          <a:xfrm>
            <a:off x="8366760" y="4675756"/>
            <a:ext cx="3063240" cy="731520"/>
          </a:xfrm>
          <a:prstGeom prst="rect">
            <a:avLst/>
          </a:prstGeom>
          <a:noFill/>
          <a:ln/>
        </p:spPr>
        <p:txBody>
          <a:bodyPr wrap="square" rtlCol="0" anchor="ctr"/>
          <a:lstStyle/>
          <a:p>
            <a:r>
              <a:rPr lang="en-IN" sz="1100" dirty="0">
                <a:solidFill>
                  <a:schemeClr val="tx2">
                    <a:lumMod val="75000"/>
                  </a:schemeClr>
                </a:solidFill>
              </a:rPr>
              <a:t>Choosing the right visual for each KPI was also a challenge.</a:t>
            </a:r>
            <a:br>
              <a:rPr lang="en-IN" sz="1100" dirty="0">
                <a:solidFill>
                  <a:schemeClr val="tx2">
                    <a:lumMod val="75000"/>
                  </a:schemeClr>
                </a:solidFill>
              </a:rPr>
            </a:br>
            <a:r>
              <a:rPr lang="en-IN" sz="1100" dirty="0">
                <a:solidFill>
                  <a:schemeClr val="tx2">
                    <a:lumMod val="75000"/>
                  </a:schemeClr>
                </a:solidFill>
              </a:rPr>
              <a:t>We selected visuals that made the data easy to understand.</a:t>
            </a:r>
            <a:endParaRPr lang="en-US" sz="1100" dirty="0">
              <a:solidFill>
                <a:schemeClr val="tx2">
                  <a:lumMod val="75000"/>
                </a:schemeClr>
              </a:solidFill>
            </a:endParaRPr>
          </a:p>
        </p:txBody>
      </p:sp>
      <p:sp>
        <p:nvSpPr>
          <p:cNvPr id="34" name="Text 32">
            <a:extLst>
              <a:ext uri="{FF2B5EF4-FFF2-40B4-BE49-F238E27FC236}">
                <a16:creationId xmlns:a16="http://schemas.microsoft.com/office/drawing/2014/main" id="{A3CE0B4B-3A8B-293C-1743-E9736F7380B9}"/>
              </a:ext>
            </a:extLst>
          </p:cNvPr>
          <p:cNvSpPr/>
          <p:nvPr/>
        </p:nvSpPr>
        <p:spPr>
          <a:xfrm>
            <a:off x="457200" y="6537960"/>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
        <p:nvSpPr>
          <p:cNvPr id="35" name="Text 33">
            <a:extLst>
              <a:ext uri="{FF2B5EF4-FFF2-40B4-BE49-F238E27FC236}">
                <a16:creationId xmlns:a16="http://schemas.microsoft.com/office/drawing/2014/main" id="{0D3C774A-A4AE-A607-5362-7746DA13BF54}"/>
              </a:ext>
            </a:extLst>
          </p:cNvPr>
          <p:cNvSpPr/>
          <p:nvPr/>
        </p:nvSpPr>
        <p:spPr>
          <a:xfrm>
            <a:off x="11521440" y="6537960"/>
            <a:ext cx="457200" cy="274320"/>
          </a:xfrm>
          <a:prstGeom prst="rect">
            <a:avLst/>
          </a:prstGeom>
          <a:noFill/>
          <a:ln/>
        </p:spPr>
        <p:txBody>
          <a:bodyPr wrap="square"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extLst>
      <p:ext uri="{BB962C8B-B14F-4D97-AF65-F5344CB8AC3E}">
        <p14:creationId xmlns:p14="http://schemas.microsoft.com/office/powerpoint/2010/main" val="2810934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FAA1533-9B64-9A36-AB22-AD52F3EB7BEE}"/>
              </a:ext>
            </a:extLst>
          </p:cNvPr>
          <p:cNvSpPr/>
          <p:nvPr/>
        </p:nvSpPr>
        <p:spPr>
          <a:xfrm>
            <a:off x="548640" y="109728"/>
            <a:ext cx="11064240" cy="548640"/>
          </a:xfrm>
          <a:prstGeom prst="rect">
            <a:avLst/>
          </a:prstGeom>
          <a:noFill/>
          <a:ln/>
        </p:spPr>
        <p:txBody>
          <a:bodyPr wrap="square" rtlCol="0" anchor="ctr"/>
          <a:lstStyle/>
          <a:p>
            <a:pPr marL="0" indent="0">
              <a:buNone/>
            </a:pPr>
            <a:r>
              <a:rPr lang="en-US" sz="3000" b="1" dirty="0">
                <a:solidFill>
                  <a:srgbClr val="142850"/>
                </a:solidFill>
                <a:latin typeface="Cambria" pitchFamily="34" charset="0"/>
                <a:ea typeface="Cambria" pitchFamily="34" charset="-122"/>
              </a:rPr>
              <a:t>RECOMMENDATIONS</a:t>
            </a:r>
            <a:endParaRPr lang="en-US" sz="3000" dirty="0"/>
          </a:p>
        </p:txBody>
      </p:sp>
      <p:sp>
        <p:nvSpPr>
          <p:cNvPr id="2" name="Rectangle 1">
            <a:extLst>
              <a:ext uri="{FF2B5EF4-FFF2-40B4-BE49-F238E27FC236}">
                <a16:creationId xmlns:a16="http://schemas.microsoft.com/office/drawing/2014/main" id="{BF01D467-FE5F-4D11-F92C-884C0207DB67}"/>
              </a:ext>
            </a:extLst>
          </p:cNvPr>
          <p:cNvSpPr/>
          <p:nvPr/>
        </p:nvSpPr>
        <p:spPr>
          <a:xfrm>
            <a:off x="653143" y="1073020"/>
            <a:ext cx="10366310" cy="5314138"/>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8A6867F6-79E7-B9BF-B435-FD123ECB1BA6}"/>
              </a:ext>
            </a:extLst>
          </p:cNvPr>
          <p:cNvSpPr/>
          <p:nvPr/>
        </p:nvSpPr>
        <p:spPr>
          <a:xfrm>
            <a:off x="970384" y="1240971"/>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1.</a:t>
            </a:r>
          </a:p>
        </p:txBody>
      </p:sp>
      <p:sp>
        <p:nvSpPr>
          <p:cNvPr id="7" name="Oval 6">
            <a:extLst>
              <a:ext uri="{FF2B5EF4-FFF2-40B4-BE49-F238E27FC236}">
                <a16:creationId xmlns:a16="http://schemas.microsoft.com/office/drawing/2014/main" id="{6623CF87-3DA4-1833-2EDE-4592F108005A}"/>
              </a:ext>
            </a:extLst>
          </p:cNvPr>
          <p:cNvSpPr/>
          <p:nvPr/>
        </p:nvSpPr>
        <p:spPr>
          <a:xfrm>
            <a:off x="970384" y="1885156"/>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2.</a:t>
            </a:r>
          </a:p>
        </p:txBody>
      </p:sp>
      <p:sp>
        <p:nvSpPr>
          <p:cNvPr id="9" name="Oval 8">
            <a:extLst>
              <a:ext uri="{FF2B5EF4-FFF2-40B4-BE49-F238E27FC236}">
                <a16:creationId xmlns:a16="http://schemas.microsoft.com/office/drawing/2014/main" id="{7F0220F3-C5B5-F10D-9D84-046670B297A7}"/>
              </a:ext>
            </a:extLst>
          </p:cNvPr>
          <p:cNvSpPr/>
          <p:nvPr/>
        </p:nvSpPr>
        <p:spPr>
          <a:xfrm>
            <a:off x="970384" y="2532888"/>
            <a:ext cx="541175" cy="500306"/>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3.</a:t>
            </a:r>
          </a:p>
        </p:txBody>
      </p:sp>
      <p:sp>
        <p:nvSpPr>
          <p:cNvPr id="11" name="Oval 10">
            <a:extLst>
              <a:ext uri="{FF2B5EF4-FFF2-40B4-BE49-F238E27FC236}">
                <a16:creationId xmlns:a16="http://schemas.microsoft.com/office/drawing/2014/main" id="{0047662C-12EC-9D13-3855-20EA381A265F}"/>
              </a:ext>
            </a:extLst>
          </p:cNvPr>
          <p:cNvSpPr/>
          <p:nvPr/>
        </p:nvSpPr>
        <p:spPr>
          <a:xfrm>
            <a:off x="970384" y="3177073"/>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4.</a:t>
            </a:r>
          </a:p>
        </p:txBody>
      </p:sp>
      <p:sp>
        <p:nvSpPr>
          <p:cNvPr id="13" name="Oval 12">
            <a:extLst>
              <a:ext uri="{FF2B5EF4-FFF2-40B4-BE49-F238E27FC236}">
                <a16:creationId xmlns:a16="http://schemas.microsoft.com/office/drawing/2014/main" id="{8F038A4C-B8DA-5431-FD1F-C6BC2470786F}"/>
              </a:ext>
            </a:extLst>
          </p:cNvPr>
          <p:cNvSpPr/>
          <p:nvPr/>
        </p:nvSpPr>
        <p:spPr>
          <a:xfrm>
            <a:off x="970384" y="3821258"/>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5.</a:t>
            </a:r>
          </a:p>
        </p:txBody>
      </p:sp>
      <p:sp>
        <p:nvSpPr>
          <p:cNvPr id="15" name="Oval 14">
            <a:extLst>
              <a:ext uri="{FF2B5EF4-FFF2-40B4-BE49-F238E27FC236}">
                <a16:creationId xmlns:a16="http://schemas.microsoft.com/office/drawing/2014/main" id="{03FCF612-B3CE-90BC-6278-C7CFA9BA4D44}"/>
              </a:ext>
            </a:extLst>
          </p:cNvPr>
          <p:cNvSpPr/>
          <p:nvPr/>
        </p:nvSpPr>
        <p:spPr>
          <a:xfrm>
            <a:off x="970383" y="4465443"/>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6.</a:t>
            </a:r>
          </a:p>
        </p:txBody>
      </p:sp>
      <p:sp>
        <p:nvSpPr>
          <p:cNvPr id="17" name="Oval 16">
            <a:extLst>
              <a:ext uri="{FF2B5EF4-FFF2-40B4-BE49-F238E27FC236}">
                <a16:creationId xmlns:a16="http://schemas.microsoft.com/office/drawing/2014/main" id="{B97CB80A-5100-5148-B958-0D88A8A7A0CD}"/>
              </a:ext>
            </a:extLst>
          </p:cNvPr>
          <p:cNvSpPr/>
          <p:nvPr/>
        </p:nvSpPr>
        <p:spPr>
          <a:xfrm>
            <a:off x="970382" y="5113176"/>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7.</a:t>
            </a:r>
          </a:p>
        </p:txBody>
      </p:sp>
      <p:sp>
        <p:nvSpPr>
          <p:cNvPr id="19" name="Oval 18">
            <a:extLst>
              <a:ext uri="{FF2B5EF4-FFF2-40B4-BE49-F238E27FC236}">
                <a16:creationId xmlns:a16="http://schemas.microsoft.com/office/drawing/2014/main" id="{84F26325-7949-6BEE-23AE-21F5022F0292}"/>
              </a:ext>
            </a:extLst>
          </p:cNvPr>
          <p:cNvSpPr/>
          <p:nvPr/>
        </p:nvSpPr>
        <p:spPr>
          <a:xfrm>
            <a:off x="970384" y="5753813"/>
            <a:ext cx="541175" cy="503853"/>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8.</a:t>
            </a:r>
          </a:p>
        </p:txBody>
      </p:sp>
      <p:sp>
        <p:nvSpPr>
          <p:cNvPr id="20" name="TextBox 19">
            <a:extLst>
              <a:ext uri="{FF2B5EF4-FFF2-40B4-BE49-F238E27FC236}">
                <a16:creationId xmlns:a16="http://schemas.microsoft.com/office/drawing/2014/main" id="{1E272775-9B58-E66D-8407-FCA3D4D24D4A}"/>
              </a:ext>
            </a:extLst>
          </p:cNvPr>
          <p:cNvSpPr txBox="1"/>
          <p:nvPr/>
        </p:nvSpPr>
        <p:spPr>
          <a:xfrm>
            <a:off x="1698171" y="1346703"/>
            <a:ext cx="6568751" cy="292388"/>
          </a:xfrm>
          <a:prstGeom prst="rect">
            <a:avLst/>
          </a:prstGeom>
          <a:noFill/>
        </p:spPr>
        <p:txBody>
          <a:bodyPr wrap="square" rtlCol="0">
            <a:spAutoFit/>
          </a:bodyPr>
          <a:lstStyle/>
          <a:p>
            <a:r>
              <a:rPr lang="en-US" sz="1300" b="1" dirty="0">
                <a:solidFill>
                  <a:schemeClr val="tx2">
                    <a:lumMod val="75000"/>
                  </a:schemeClr>
                </a:solidFill>
              </a:rPr>
              <a:t>Improve Occupancy : </a:t>
            </a:r>
            <a:r>
              <a:rPr lang="en-US" sz="1300" dirty="0">
                <a:solidFill>
                  <a:schemeClr val="tx2">
                    <a:lumMod val="75000"/>
                  </a:schemeClr>
                </a:solidFill>
              </a:rPr>
              <a:t>Give offers and discounts when occupancy is low.</a:t>
            </a:r>
            <a:endParaRPr lang="en-IN" sz="1300" dirty="0">
              <a:solidFill>
                <a:schemeClr val="tx2">
                  <a:lumMod val="75000"/>
                </a:schemeClr>
              </a:solidFill>
            </a:endParaRPr>
          </a:p>
        </p:txBody>
      </p:sp>
      <p:sp>
        <p:nvSpPr>
          <p:cNvPr id="22" name="TextBox 21">
            <a:extLst>
              <a:ext uri="{FF2B5EF4-FFF2-40B4-BE49-F238E27FC236}">
                <a16:creationId xmlns:a16="http://schemas.microsoft.com/office/drawing/2014/main" id="{BA0D2331-29DD-3BE6-0E17-6E7C8DFE1530}"/>
              </a:ext>
            </a:extLst>
          </p:cNvPr>
          <p:cNvSpPr txBox="1"/>
          <p:nvPr/>
        </p:nvSpPr>
        <p:spPr>
          <a:xfrm>
            <a:off x="1698171" y="1990888"/>
            <a:ext cx="6568751" cy="292388"/>
          </a:xfrm>
          <a:prstGeom prst="rect">
            <a:avLst/>
          </a:prstGeom>
          <a:noFill/>
        </p:spPr>
        <p:txBody>
          <a:bodyPr wrap="square" rtlCol="0">
            <a:spAutoFit/>
          </a:bodyPr>
          <a:lstStyle/>
          <a:p>
            <a:r>
              <a:rPr lang="en-US" sz="1300" b="1" dirty="0">
                <a:solidFill>
                  <a:schemeClr val="tx2">
                    <a:lumMod val="75000"/>
                  </a:schemeClr>
                </a:solidFill>
              </a:rPr>
              <a:t>Optimize Room Pricing : </a:t>
            </a:r>
            <a:r>
              <a:rPr lang="en-US" sz="1300" dirty="0">
                <a:solidFill>
                  <a:schemeClr val="tx2">
                    <a:lumMod val="75000"/>
                  </a:schemeClr>
                </a:solidFill>
              </a:rPr>
              <a:t>Change room prices based on demand and performance.</a:t>
            </a:r>
            <a:endParaRPr lang="en-IN" sz="1300" dirty="0">
              <a:solidFill>
                <a:schemeClr val="tx2">
                  <a:lumMod val="75000"/>
                </a:schemeClr>
              </a:solidFill>
            </a:endParaRPr>
          </a:p>
        </p:txBody>
      </p:sp>
      <p:sp>
        <p:nvSpPr>
          <p:cNvPr id="24" name="TextBox 23">
            <a:extLst>
              <a:ext uri="{FF2B5EF4-FFF2-40B4-BE49-F238E27FC236}">
                <a16:creationId xmlns:a16="http://schemas.microsoft.com/office/drawing/2014/main" id="{42F2C191-B981-47FB-D0CA-FA879D52B0BC}"/>
              </a:ext>
            </a:extLst>
          </p:cNvPr>
          <p:cNvSpPr txBox="1"/>
          <p:nvPr/>
        </p:nvSpPr>
        <p:spPr>
          <a:xfrm>
            <a:off x="1698171" y="2635073"/>
            <a:ext cx="6568751" cy="492443"/>
          </a:xfrm>
          <a:prstGeom prst="rect">
            <a:avLst/>
          </a:prstGeom>
          <a:noFill/>
        </p:spPr>
        <p:txBody>
          <a:bodyPr wrap="square" rtlCol="0">
            <a:spAutoFit/>
          </a:bodyPr>
          <a:lstStyle/>
          <a:p>
            <a:r>
              <a:rPr lang="en-US" sz="1300" b="1" dirty="0">
                <a:solidFill>
                  <a:schemeClr val="tx2">
                    <a:lumMod val="75000"/>
                  </a:schemeClr>
                </a:solidFill>
              </a:rPr>
              <a:t>Focus on High-Performing Hotels : </a:t>
            </a:r>
            <a:r>
              <a:rPr lang="en-US" sz="1300" dirty="0">
                <a:solidFill>
                  <a:schemeClr val="tx2">
                    <a:lumMod val="75000"/>
                  </a:schemeClr>
                </a:solidFill>
              </a:rPr>
              <a:t>Learn what successful hotels are doing and apply similar ideas to other hotels.</a:t>
            </a:r>
            <a:endParaRPr lang="en-IN" sz="1300" dirty="0">
              <a:solidFill>
                <a:schemeClr val="tx2">
                  <a:lumMod val="75000"/>
                </a:schemeClr>
              </a:solidFill>
            </a:endParaRPr>
          </a:p>
        </p:txBody>
      </p:sp>
      <p:sp>
        <p:nvSpPr>
          <p:cNvPr id="26" name="TextBox 25">
            <a:extLst>
              <a:ext uri="{FF2B5EF4-FFF2-40B4-BE49-F238E27FC236}">
                <a16:creationId xmlns:a16="http://schemas.microsoft.com/office/drawing/2014/main" id="{5B510309-5D37-B2EE-BE60-06CAD76D76D8}"/>
              </a:ext>
            </a:extLst>
          </p:cNvPr>
          <p:cNvSpPr txBox="1"/>
          <p:nvPr/>
        </p:nvSpPr>
        <p:spPr>
          <a:xfrm>
            <a:off x="1698171" y="3281032"/>
            <a:ext cx="6568751" cy="492443"/>
          </a:xfrm>
          <a:prstGeom prst="rect">
            <a:avLst/>
          </a:prstGeom>
          <a:noFill/>
        </p:spPr>
        <p:txBody>
          <a:bodyPr wrap="square" rtlCol="0">
            <a:spAutoFit/>
          </a:bodyPr>
          <a:lstStyle/>
          <a:p>
            <a:r>
              <a:rPr lang="en-US" sz="1300" b="1" dirty="0">
                <a:solidFill>
                  <a:schemeClr val="tx2">
                    <a:lumMod val="75000"/>
                  </a:schemeClr>
                </a:solidFill>
              </a:rPr>
              <a:t>Improve Low-Performing Hotels : </a:t>
            </a:r>
            <a:r>
              <a:rPr lang="en-US" sz="1300" dirty="0">
                <a:solidFill>
                  <a:schemeClr val="tx2">
                    <a:lumMod val="75000"/>
                  </a:schemeClr>
                </a:solidFill>
              </a:rPr>
              <a:t>Find out why some hotels have low revenue or occupancy and improve those areas.</a:t>
            </a:r>
            <a:endParaRPr lang="en-IN" sz="1300" dirty="0">
              <a:solidFill>
                <a:schemeClr val="tx2">
                  <a:lumMod val="75000"/>
                </a:schemeClr>
              </a:solidFill>
            </a:endParaRPr>
          </a:p>
        </p:txBody>
      </p:sp>
      <p:sp>
        <p:nvSpPr>
          <p:cNvPr id="30" name="TextBox 29">
            <a:extLst>
              <a:ext uri="{FF2B5EF4-FFF2-40B4-BE49-F238E27FC236}">
                <a16:creationId xmlns:a16="http://schemas.microsoft.com/office/drawing/2014/main" id="{8E992DDA-AF46-6156-1372-6198230E6004}"/>
              </a:ext>
            </a:extLst>
          </p:cNvPr>
          <p:cNvSpPr txBox="1"/>
          <p:nvPr/>
        </p:nvSpPr>
        <p:spPr>
          <a:xfrm>
            <a:off x="1698170" y="3926991"/>
            <a:ext cx="6568751" cy="292388"/>
          </a:xfrm>
          <a:prstGeom prst="rect">
            <a:avLst/>
          </a:prstGeom>
          <a:noFill/>
        </p:spPr>
        <p:txBody>
          <a:bodyPr wrap="square" rtlCol="0">
            <a:spAutoFit/>
          </a:bodyPr>
          <a:lstStyle/>
          <a:p>
            <a:r>
              <a:rPr lang="en-US" sz="1300" b="1" dirty="0">
                <a:solidFill>
                  <a:schemeClr val="tx2">
                    <a:lumMod val="75000"/>
                  </a:schemeClr>
                </a:solidFill>
              </a:rPr>
              <a:t>Reduce Cancellations : </a:t>
            </a:r>
            <a:r>
              <a:rPr lang="en-US" sz="1300" dirty="0">
                <a:solidFill>
                  <a:schemeClr val="tx2">
                    <a:lumMod val="75000"/>
                  </a:schemeClr>
                </a:solidFill>
              </a:rPr>
              <a:t>Use reminders and better booking policies to reduce cancellations.</a:t>
            </a:r>
            <a:endParaRPr lang="en-IN" sz="1300" dirty="0">
              <a:solidFill>
                <a:schemeClr val="tx2">
                  <a:lumMod val="75000"/>
                </a:schemeClr>
              </a:solidFill>
            </a:endParaRPr>
          </a:p>
        </p:txBody>
      </p:sp>
      <p:sp>
        <p:nvSpPr>
          <p:cNvPr id="32" name="TextBox 31">
            <a:extLst>
              <a:ext uri="{FF2B5EF4-FFF2-40B4-BE49-F238E27FC236}">
                <a16:creationId xmlns:a16="http://schemas.microsoft.com/office/drawing/2014/main" id="{4989DB54-D324-61E2-8CAA-73682519908E}"/>
              </a:ext>
            </a:extLst>
          </p:cNvPr>
          <p:cNvSpPr txBox="1"/>
          <p:nvPr/>
        </p:nvSpPr>
        <p:spPr>
          <a:xfrm>
            <a:off x="1698171" y="4571175"/>
            <a:ext cx="6568751" cy="292388"/>
          </a:xfrm>
          <a:prstGeom prst="rect">
            <a:avLst/>
          </a:prstGeom>
          <a:noFill/>
        </p:spPr>
        <p:txBody>
          <a:bodyPr wrap="square" rtlCol="0">
            <a:spAutoFit/>
          </a:bodyPr>
          <a:lstStyle/>
          <a:p>
            <a:r>
              <a:rPr lang="en-US" sz="1300" b="1" dirty="0">
                <a:solidFill>
                  <a:schemeClr val="tx2">
                    <a:lumMod val="75000"/>
                  </a:schemeClr>
                </a:solidFill>
              </a:rPr>
              <a:t>Optimize Booking Platforms : </a:t>
            </a:r>
            <a:r>
              <a:rPr lang="en-US" sz="1300" dirty="0">
                <a:solidFill>
                  <a:schemeClr val="tx2">
                    <a:lumMod val="75000"/>
                  </a:schemeClr>
                </a:solidFill>
              </a:rPr>
              <a:t>Focus more on platforms that bring good bookings.</a:t>
            </a:r>
            <a:endParaRPr lang="en-IN" sz="1300" dirty="0">
              <a:solidFill>
                <a:schemeClr val="tx2">
                  <a:lumMod val="75000"/>
                </a:schemeClr>
              </a:solidFill>
            </a:endParaRPr>
          </a:p>
        </p:txBody>
      </p:sp>
      <p:sp>
        <p:nvSpPr>
          <p:cNvPr id="34" name="TextBox 33">
            <a:extLst>
              <a:ext uri="{FF2B5EF4-FFF2-40B4-BE49-F238E27FC236}">
                <a16:creationId xmlns:a16="http://schemas.microsoft.com/office/drawing/2014/main" id="{95FA7086-C87D-94BD-54CD-FE53CA413112}"/>
              </a:ext>
            </a:extLst>
          </p:cNvPr>
          <p:cNvSpPr txBox="1"/>
          <p:nvPr/>
        </p:nvSpPr>
        <p:spPr>
          <a:xfrm>
            <a:off x="1698169" y="5218908"/>
            <a:ext cx="6568751" cy="492443"/>
          </a:xfrm>
          <a:prstGeom prst="rect">
            <a:avLst/>
          </a:prstGeom>
          <a:noFill/>
        </p:spPr>
        <p:txBody>
          <a:bodyPr wrap="square" rtlCol="0">
            <a:spAutoFit/>
          </a:bodyPr>
          <a:lstStyle/>
          <a:p>
            <a:r>
              <a:rPr lang="en-US" sz="1300" b="1" dirty="0">
                <a:solidFill>
                  <a:schemeClr val="tx2">
                    <a:lumMod val="75000"/>
                  </a:schemeClr>
                </a:solidFill>
              </a:rPr>
              <a:t>Weekday &amp; Weekend Strategy : </a:t>
            </a:r>
            <a:r>
              <a:rPr lang="en-US" sz="1300" dirty="0">
                <a:solidFill>
                  <a:schemeClr val="tx2">
                    <a:lumMod val="75000"/>
                  </a:schemeClr>
                </a:solidFill>
              </a:rPr>
              <a:t>Use different offers for weekdays and weekends based on demand.</a:t>
            </a:r>
            <a:endParaRPr lang="en-IN" sz="1300" dirty="0">
              <a:solidFill>
                <a:schemeClr val="tx2">
                  <a:lumMod val="75000"/>
                </a:schemeClr>
              </a:solidFill>
            </a:endParaRPr>
          </a:p>
        </p:txBody>
      </p:sp>
      <p:sp>
        <p:nvSpPr>
          <p:cNvPr id="36" name="TextBox 35">
            <a:extLst>
              <a:ext uri="{FF2B5EF4-FFF2-40B4-BE49-F238E27FC236}">
                <a16:creationId xmlns:a16="http://schemas.microsoft.com/office/drawing/2014/main" id="{E7545849-12AD-5743-2A54-E216DC43057F}"/>
              </a:ext>
            </a:extLst>
          </p:cNvPr>
          <p:cNvSpPr txBox="1"/>
          <p:nvPr/>
        </p:nvSpPr>
        <p:spPr>
          <a:xfrm>
            <a:off x="1698168" y="5859545"/>
            <a:ext cx="6568751" cy="292388"/>
          </a:xfrm>
          <a:prstGeom prst="rect">
            <a:avLst/>
          </a:prstGeom>
          <a:noFill/>
        </p:spPr>
        <p:txBody>
          <a:bodyPr wrap="square" rtlCol="0">
            <a:spAutoFit/>
          </a:bodyPr>
          <a:lstStyle/>
          <a:p>
            <a:r>
              <a:rPr lang="en-US" sz="1300" b="1" dirty="0">
                <a:solidFill>
                  <a:schemeClr val="tx2">
                    <a:lumMod val="75000"/>
                  </a:schemeClr>
                </a:solidFill>
              </a:rPr>
              <a:t>Promote High-Performing Rooms : </a:t>
            </a:r>
            <a:r>
              <a:rPr lang="en-US" sz="1300" dirty="0">
                <a:solidFill>
                  <a:schemeClr val="tx2">
                    <a:lumMod val="75000"/>
                  </a:schemeClr>
                </a:solidFill>
              </a:rPr>
              <a:t>Promote room types that get more bookings and revenue.</a:t>
            </a:r>
            <a:endParaRPr lang="en-IN" sz="1300" dirty="0">
              <a:solidFill>
                <a:schemeClr val="tx2">
                  <a:lumMod val="75000"/>
                </a:schemeClr>
              </a:solidFill>
            </a:endParaRPr>
          </a:p>
        </p:txBody>
      </p:sp>
      <p:sp>
        <p:nvSpPr>
          <p:cNvPr id="37" name="TextBox 36">
            <a:extLst>
              <a:ext uri="{FF2B5EF4-FFF2-40B4-BE49-F238E27FC236}">
                <a16:creationId xmlns:a16="http://schemas.microsoft.com/office/drawing/2014/main" id="{759A8D0D-17A6-64CC-C88F-4779D47AE3DD}"/>
              </a:ext>
            </a:extLst>
          </p:cNvPr>
          <p:cNvSpPr txBox="1"/>
          <p:nvPr/>
        </p:nvSpPr>
        <p:spPr>
          <a:xfrm>
            <a:off x="579120" y="595381"/>
            <a:ext cx="4581331" cy="292388"/>
          </a:xfrm>
          <a:prstGeom prst="rect">
            <a:avLst/>
          </a:prstGeom>
          <a:noFill/>
        </p:spPr>
        <p:txBody>
          <a:bodyPr wrap="square" rtlCol="0">
            <a:spAutoFit/>
          </a:bodyPr>
          <a:lstStyle/>
          <a:p>
            <a:r>
              <a:rPr lang="en-IN" sz="1300" i="1" dirty="0">
                <a:solidFill>
                  <a:schemeClr val="tx2">
                    <a:lumMod val="60000"/>
                    <a:lumOff val="40000"/>
                  </a:schemeClr>
                </a:solidFill>
              </a:rPr>
              <a:t>Suggestions for Better Performance</a:t>
            </a:r>
          </a:p>
        </p:txBody>
      </p:sp>
      <p:sp>
        <p:nvSpPr>
          <p:cNvPr id="39" name="Shape 0">
            <a:extLst>
              <a:ext uri="{FF2B5EF4-FFF2-40B4-BE49-F238E27FC236}">
                <a16:creationId xmlns:a16="http://schemas.microsoft.com/office/drawing/2014/main" id="{BAFF351A-2A31-0A0C-1DAA-FA39AE6CEA32}"/>
              </a:ext>
            </a:extLst>
          </p:cNvPr>
          <p:cNvSpPr/>
          <p:nvPr/>
        </p:nvSpPr>
        <p:spPr>
          <a:xfrm>
            <a:off x="9843135" y="-605276"/>
            <a:ext cx="3840480" cy="3840480"/>
          </a:xfrm>
          <a:prstGeom prst="ellipse">
            <a:avLst/>
          </a:prstGeom>
          <a:solidFill>
            <a:srgbClr val="0E7C86">
              <a:alpha val="22000"/>
            </a:srgbClr>
          </a:solidFill>
          <a:ln/>
        </p:spPr>
        <p:txBody>
          <a:bodyPr/>
          <a:lstStyle/>
          <a:p>
            <a:endParaRPr lang="en-IN"/>
          </a:p>
        </p:txBody>
      </p:sp>
      <p:sp>
        <p:nvSpPr>
          <p:cNvPr id="41" name="Shape 1">
            <a:extLst>
              <a:ext uri="{FF2B5EF4-FFF2-40B4-BE49-F238E27FC236}">
                <a16:creationId xmlns:a16="http://schemas.microsoft.com/office/drawing/2014/main" id="{F9F38470-32DE-5D08-38A6-34C0B3467FCA}"/>
              </a:ext>
            </a:extLst>
          </p:cNvPr>
          <p:cNvSpPr/>
          <p:nvPr/>
        </p:nvSpPr>
        <p:spPr>
          <a:xfrm>
            <a:off x="-1371600" y="4634139"/>
            <a:ext cx="2743200" cy="2743200"/>
          </a:xfrm>
          <a:prstGeom prst="ellipse">
            <a:avLst/>
          </a:prstGeom>
          <a:solidFill>
            <a:srgbClr val="E8871E">
              <a:alpha val="20000"/>
            </a:srgbClr>
          </a:solidFill>
          <a:ln/>
        </p:spPr>
        <p:txBody>
          <a:bodyPr/>
          <a:lstStyle/>
          <a:p>
            <a:endParaRPr lang="en-IN" dirty="0"/>
          </a:p>
        </p:txBody>
      </p:sp>
      <p:sp>
        <p:nvSpPr>
          <p:cNvPr id="43" name="Text 32">
            <a:extLst>
              <a:ext uri="{FF2B5EF4-FFF2-40B4-BE49-F238E27FC236}">
                <a16:creationId xmlns:a16="http://schemas.microsoft.com/office/drawing/2014/main" id="{2BFBD3D3-F932-7662-410B-792E2F8CC0BF}"/>
              </a:ext>
            </a:extLst>
          </p:cNvPr>
          <p:cNvSpPr/>
          <p:nvPr/>
        </p:nvSpPr>
        <p:spPr>
          <a:xfrm>
            <a:off x="457200" y="6616558"/>
            <a:ext cx="8229600" cy="274320"/>
          </a:xfrm>
          <a:prstGeom prst="rect">
            <a:avLst/>
          </a:prstGeom>
          <a:noFill/>
          <a:ln/>
        </p:spPr>
        <p:txBody>
          <a:bodyPr wrap="square" rtlCol="0" anchor="ctr"/>
          <a:lstStyle/>
          <a:p>
            <a:r>
              <a:rPr lang="en-IN" sz="900" dirty="0">
                <a:solidFill>
                  <a:schemeClr val="bg2">
                    <a:lumMod val="75000"/>
                  </a:schemeClr>
                </a:solidFill>
              </a:rPr>
              <a:t>Hospitality Analytics | Hotel Performance &amp; Revenue Analysis | Group 2</a:t>
            </a:r>
            <a:endParaRPr lang="en-US" sz="900" dirty="0">
              <a:solidFill>
                <a:schemeClr val="bg2">
                  <a:lumMod val="75000"/>
                </a:schemeClr>
              </a:solidFill>
            </a:endParaRPr>
          </a:p>
        </p:txBody>
      </p:sp>
    </p:spTree>
    <p:extLst>
      <p:ext uri="{BB962C8B-B14F-4D97-AF65-F5344CB8AC3E}">
        <p14:creationId xmlns:p14="http://schemas.microsoft.com/office/powerpoint/2010/main" val="3675850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42850"/>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E7C86">
              <a:alpha val="20000"/>
            </a:srgbClr>
          </a:solidFill>
          <a:ln/>
        </p:spPr>
        <p:txBody>
          <a:bodyPr/>
          <a:lstStyle/>
          <a:p>
            <a:endParaRPr lang="en-IN"/>
          </a:p>
        </p:txBody>
      </p:sp>
      <p:sp>
        <p:nvSpPr>
          <p:cNvPr id="3" name="Shape 1"/>
          <p:cNvSpPr/>
          <p:nvPr/>
        </p:nvSpPr>
        <p:spPr>
          <a:xfrm>
            <a:off x="9875520" y="4114800"/>
            <a:ext cx="4114800" cy="4114800"/>
          </a:xfrm>
          <a:prstGeom prst="ellipse">
            <a:avLst/>
          </a:prstGeom>
          <a:solidFill>
            <a:srgbClr val="E8871E">
              <a:alpha val="18000"/>
            </a:srgbClr>
          </a:solidFill>
          <a:ln/>
        </p:spPr>
        <p:txBody>
          <a:bodyPr/>
          <a:lstStyle/>
          <a:p>
            <a:endParaRPr lang="en-IN"/>
          </a:p>
        </p:txBody>
      </p:sp>
      <p:sp>
        <p:nvSpPr>
          <p:cNvPr id="4" name="Text 2"/>
          <p:cNvSpPr/>
          <p:nvPr/>
        </p:nvSpPr>
        <p:spPr>
          <a:xfrm>
            <a:off x="0" y="2651760"/>
            <a:ext cx="12161520"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0" y="3520440"/>
            <a:ext cx="12161520" cy="457200"/>
          </a:xfrm>
          <a:prstGeom prst="rect">
            <a:avLst/>
          </a:prstGeom>
          <a:noFill/>
          <a:ln/>
        </p:spPr>
        <p:txBody>
          <a:bodyPr wrap="square" rtlCol="0" anchor="ctr"/>
          <a:lstStyle/>
          <a:p>
            <a:pPr algn="ctr"/>
            <a:r>
              <a:rPr lang="en-IN" sz="1600" i="1" dirty="0">
                <a:solidFill>
                  <a:schemeClr val="accent5">
                    <a:lumMod val="60000"/>
                    <a:lumOff val="40000"/>
                  </a:schemeClr>
                </a:solidFill>
              </a:rPr>
              <a:t>Hospitality Analytics — Hotel Performance Analysis</a:t>
            </a:r>
            <a:endParaRPr lang="en-US" sz="1500" i="1" dirty="0">
              <a:solidFill>
                <a:schemeClr val="accent5">
                  <a:lumMod val="60000"/>
                  <a:lumOff val="40000"/>
                </a:schemeClr>
              </a:solidFill>
            </a:endParaRPr>
          </a:p>
        </p:txBody>
      </p:sp>
      <p:sp>
        <p:nvSpPr>
          <p:cNvPr id="6" name="Text 4"/>
          <p:cNvSpPr/>
          <p:nvPr/>
        </p:nvSpPr>
        <p:spPr>
          <a:xfrm>
            <a:off x="0" y="3977640"/>
            <a:ext cx="12161520" cy="365760"/>
          </a:xfrm>
          <a:prstGeom prst="rect">
            <a:avLst/>
          </a:prstGeom>
          <a:noFill/>
          <a:ln/>
        </p:spPr>
        <p:txBody>
          <a:bodyPr wrap="square" rtlCol="0" anchor="ctr"/>
          <a:lstStyle/>
          <a:p>
            <a:pPr marL="0" indent="0" algn="ctr">
              <a:buNone/>
            </a:pPr>
            <a:r>
              <a:rPr lang="en-US" sz="1200" b="1" kern="0" spc="200" dirty="0">
                <a:solidFill>
                  <a:srgbClr val="E8871E"/>
                </a:solidFill>
                <a:latin typeface="Calibri" pitchFamily="34" charset="0"/>
                <a:ea typeface="Calibri" pitchFamily="34" charset="-122"/>
                <a:cs typeface="Calibri" pitchFamily="34" charset="-120"/>
              </a:rPr>
              <a:t>Excel  •  SQL  •  Tableau  •  Power BI</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TotalTime>
  <Words>2075</Words>
  <Application>Microsoft Office PowerPoint</Application>
  <PresentationFormat>Widescreen</PresentationFormat>
  <Paragraphs>336</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Jayakumar Gupta</cp:lastModifiedBy>
  <cp:revision>17</cp:revision>
  <dcterms:created xsi:type="dcterms:W3CDTF">2026-08-22T08:47:55Z</dcterms:created>
  <dcterms:modified xsi:type="dcterms:W3CDTF">2026-09-15T05:19:05Z</dcterms:modified>
</cp:coreProperties>
</file>